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0933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C300"/>
        </a:solidFill>
        <a:effectLst/>
      </p:bgPr>
    </p:bg>
    <p:spTree>
      <p:nvGrpSpPr>
        <p:cNvPr id="1" name=""/>
        <p:cNvGrpSpPr/>
        <p:nvPr/>
      </p:nvGrpSpPr>
      <p:grpSpPr>
        <a:xfrm>
          <a:off x="0" y="0"/>
          <a:ext cx="0" cy="0"/>
          <a:chOff x="0" y="0"/>
          <a:chExt cx="0" cy="0"/>
        </a:xfrm>
      </p:grpSpPr>
      <p:sp>
        <p:nvSpPr>
          <p:cNvPr id="2" name="Text 0"/>
          <p:cNvSpPr/>
          <p:nvPr/>
        </p:nvSpPr>
        <p:spPr>
          <a:xfrm>
            <a:off x="548640" y="1325880"/>
            <a:ext cx="8046720" cy="1280160"/>
          </a:xfrm>
          <a:prstGeom prst="rect">
            <a:avLst/>
          </a:prstGeom>
          <a:noFill/>
          <a:ln/>
        </p:spPr>
        <p:txBody>
          <a:bodyPr wrap="square" rtlCol="0" anchor="ctr"/>
          <a:lstStyle/>
          <a:p>
            <a:pPr marL="0" indent="0" algn="ctr">
              <a:buNone/>
            </a:pPr>
            <a:r>
              <a:rPr lang="en-US" sz="3000" b="1" dirty="0">
                <a:solidFill>
                  <a:srgbClr val="000000"/>
                </a:solidFill>
                <a:latin typeface="Calibri" pitchFamily="34" charset="0"/>
                <a:ea typeface="Calibri" pitchFamily="34" charset="-122"/>
                <a:cs typeface="Calibri" pitchFamily="34" charset="-120"/>
              </a:rPr>
              <a:t>Persona-Aware Meeting Summarization</a:t>
            </a:r>
            <a:endParaRPr lang="en-US" sz="3000" dirty="0"/>
          </a:p>
          <a:p>
            <a:pPr marL="0" indent="0" algn="ctr">
              <a:buNone/>
            </a:pPr>
            <a:r>
              <a:rPr lang="en-US" sz="3000" b="1" dirty="0">
                <a:solidFill>
                  <a:srgbClr val="000000"/>
                </a:solidFill>
                <a:latin typeface="Calibri" pitchFamily="34" charset="0"/>
                <a:ea typeface="Calibri" pitchFamily="34" charset="-122"/>
                <a:cs typeface="Calibri" pitchFamily="34" charset="-120"/>
              </a:rPr>
              <a:t>with Recursive Memory</a:t>
            </a:r>
            <a:endParaRPr lang="en-US" sz="3000" dirty="0"/>
          </a:p>
        </p:txBody>
      </p:sp>
      <p:sp>
        <p:nvSpPr>
          <p:cNvPr id="3" name="Text 1"/>
          <p:cNvSpPr/>
          <p:nvPr/>
        </p:nvSpPr>
        <p:spPr>
          <a:xfrm>
            <a:off x="2103120" y="2743200"/>
            <a:ext cx="4937760" cy="1508760"/>
          </a:xfrm>
          <a:prstGeom prst="rect">
            <a:avLst/>
          </a:prstGeom>
          <a:noFill/>
          <a:ln/>
        </p:spPr>
        <p:txBody>
          <a:bodyPr wrap="square" rtlCol="0" anchor="ctr"/>
          <a:lstStyle/>
          <a:p>
            <a:pPr marL="0" indent="0" algn="ctr">
              <a:buNone/>
            </a:pPr>
            <a:r>
              <a:rPr lang="en-US" sz="1400" b="1" dirty="0">
                <a:solidFill>
                  <a:srgbClr val="000000"/>
                </a:solidFill>
                <a:latin typeface="Calibri" pitchFamily="34" charset="0"/>
                <a:ea typeface="Calibri" pitchFamily="34" charset="-122"/>
                <a:cs typeface="Calibri" pitchFamily="34" charset="-120"/>
              </a:rPr>
              <a:t>Presenters:
</a:t>
            </a:r>
            <a:endParaRPr lang="en-US" sz="1400" dirty="0"/>
          </a:p>
          <a:p>
            <a:pPr marL="0" indent="0" algn="ctr">
              <a:buNone/>
            </a:pPr>
            <a:r>
              <a:rPr lang="en-US" sz="1400" b="1" dirty="0">
                <a:solidFill>
                  <a:srgbClr val="000000"/>
                </a:solidFill>
                <a:latin typeface="Calibri" pitchFamily="34" charset="0"/>
                <a:ea typeface="Calibri" pitchFamily="34" charset="-122"/>
                <a:cs typeface="Calibri" pitchFamily="34" charset="-120"/>
              </a:rPr>
              <a:t>Long Ta (U354D279)
</a:t>
            </a:r>
            <a:endParaRPr lang="en-US" sz="1400" dirty="0"/>
          </a:p>
          <a:p>
            <a:pPr marL="0" indent="0" algn="ctr">
              <a:buNone/>
            </a:pPr>
            <a:r>
              <a:rPr lang="en-US" sz="1400" b="1" dirty="0">
                <a:solidFill>
                  <a:srgbClr val="000000"/>
                </a:solidFill>
                <a:latin typeface="Calibri" pitchFamily="34" charset="0"/>
                <a:ea typeface="Calibri" pitchFamily="34" charset="-122"/>
                <a:cs typeface="Calibri" pitchFamily="34" charset="-120"/>
              </a:rPr>
              <a:t>Sri Teja Muthangi (W862G253)
</a:t>
            </a:r>
            <a:endParaRPr lang="en-US" sz="1400" dirty="0"/>
          </a:p>
          <a:p>
            <a:pPr marL="0" indent="0" algn="ctr">
              <a:buNone/>
            </a:pPr>
            <a:r>
              <a:rPr lang="en-US" sz="1400" dirty="0">
                <a:solidFill>
                  <a:srgbClr val="000000"/>
                </a:solidFill>
                <a:latin typeface="Calibri" pitchFamily="34" charset="0"/>
                <a:ea typeface="Calibri" pitchFamily="34" charset="-122"/>
                <a:cs typeface="Calibri" pitchFamily="34" charset="-120"/>
              </a:rPr>
              <a:t>Wichita State University, Wichita, USA.</a:t>
            </a:r>
            <a:endParaRPr lang="en-US" sz="1400" dirty="0"/>
          </a:p>
        </p:txBody>
      </p:sp>
      <p:sp>
        <p:nvSpPr>
          <p:cNvPr id="4" name="Shape 2"/>
          <p:cNvSpPr/>
          <p:nvPr/>
        </p:nvSpPr>
        <p:spPr>
          <a:xfrm>
            <a:off x="2377440" y="4407408"/>
            <a:ext cx="4389120" cy="274320"/>
          </a:xfrm>
          <a:prstGeom prst="rect">
            <a:avLst/>
          </a:prstGeom>
          <a:solidFill>
            <a:srgbClr val="000000"/>
          </a:solidFill>
          <a:ln/>
        </p:spPr>
        <p:txBody>
          <a:bodyPr/>
          <a:lstStyle/>
          <a:p>
            <a:endParaRPr lang="en-IN"/>
          </a:p>
        </p:txBody>
      </p:sp>
      <p:sp>
        <p:nvSpPr>
          <p:cNvPr id="5" name="Text 3"/>
          <p:cNvSpPr/>
          <p:nvPr/>
        </p:nvSpPr>
        <p:spPr>
          <a:xfrm>
            <a:off x="2377440" y="4407408"/>
            <a:ext cx="4389120" cy="274320"/>
          </a:xfrm>
          <a:prstGeom prst="rect">
            <a:avLst/>
          </a:prstGeom>
          <a:noFill/>
          <a:ln/>
        </p:spPr>
        <p:txBody>
          <a:bodyPr wrap="square" rtlCol="0" anchor="ctr"/>
          <a:lstStyle/>
          <a:p>
            <a:pPr marL="0" indent="0" algn="ctr">
              <a:buNone/>
            </a:pPr>
            <a:r>
              <a:rPr lang="en-US" sz="1000" dirty="0">
                <a:solidFill>
                  <a:srgbClr val="F5C300"/>
                </a:solidFill>
                <a:latin typeface="Calibri" pitchFamily="34" charset="0"/>
                <a:ea typeface="Calibri" pitchFamily="34" charset="-122"/>
                <a:cs typeface="Calibri" pitchFamily="34" charset="-120"/>
              </a:rPr>
              <a:t>AMI Corpus  ·  15 Meetings  ·  3 Models  ·  3 Methods</a:t>
            </a:r>
            <a:endParaRPr lang="en-US" sz="1000" dirty="0"/>
          </a:p>
        </p:txBody>
      </p:sp>
      <p:sp>
        <p:nvSpPr>
          <p:cNvPr id="6" name="Text 4"/>
          <p:cNvSpPr/>
          <p:nvPr/>
        </p:nvSpPr>
        <p:spPr>
          <a:xfrm>
            <a:off x="137160" y="4864608"/>
            <a:ext cx="320040" cy="182880"/>
          </a:xfrm>
          <a:prstGeom prst="rect">
            <a:avLst/>
          </a:prstGeom>
          <a:noFill/>
          <a:ln/>
        </p:spPr>
        <p:txBody>
          <a:bodyPr wrap="square" rtlCol="0" anchor="ctr"/>
          <a:lstStyle/>
          <a:p>
            <a:pPr marL="0" indent="0">
              <a:buNone/>
            </a:pPr>
            <a:r>
              <a:rPr lang="en-US" sz="1000" dirty="0">
                <a:solidFill>
                  <a:srgbClr val="666666"/>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0040" y="82296"/>
            <a:ext cx="8503920" cy="475488"/>
          </a:xfrm>
          <a:prstGeom prst="rect">
            <a:avLst/>
          </a:prstGeom>
          <a:noFill/>
          <a:ln/>
        </p:spPr>
        <p:txBody>
          <a:bodyPr wrap="square" rtlCol="0" anchor="ctr"/>
          <a:lstStyle/>
          <a:p>
            <a:pPr marL="0" indent="0">
              <a:buNone/>
            </a:pPr>
            <a:r>
              <a:rPr lang="en-US" sz="2200" b="1" dirty="0">
                <a:solidFill>
                  <a:srgbClr val="000000"/>
                </a:solidFill>
                <a:latin typeface="Calibri" pitchFamily="34" charset="0"/>
                <a:ea typeface="Calibri" pitchFamily="34" charset="-122"/>
                <a:cs typeface="Calibri" pitchFamily="34" charset="-120"/>
              </a:rPr>
              <a:t>Research Question &amp; Methodology</a:t>
            </a:r>
            <a:endParaRPr lang="en-US" sz="2200" dirty="0"/>
          </a:p>
        </p:txBody>
      </p:sp>
      <p:sp>
        <p:nvSpPr>
          <p:cNvPr id="3" name="Text 1"/>
          <p:cNvSpPr/>
          <p:nvPr/>
        </p:nvSpPr>
        <p:spPr>
          <a:xfrm>
            <a:off x="137160" y="4864608"/>
            <a:ext cx="320040" cy="182880"/>
          </a:xfrm>
          <a:prstGeom prst="rect">
            <a:avLst/>
          </a:prstGeom>
          <a:noFill/>
          <a:ln/>
        </p:spPr>
        <p:txBody>
          <a:bodyPr wrap="square" rtlCol="0" anchor="ctr"/>
          <a:lstStyle/>
          <a:p>
            <a:pPr marL="0" indent="0">
              <a:buNone/>
            </a:pPr>
            <a:r>
              <a:rPr lang="en-US" sz="1000" dirty="0">
                <a:solidFill>
                  <a:srgbClr val="666666"/>
                </a:solidFill>
                <a:latin typeface="Calibri" pitchFamily="34" charset="0"/>
                <a:ea typeface="Calibri" pitchFamily="34" charset="-122"/>
                <a:cs typeface="Calibri" pitchFamily="34" charset="-120"/>
              </a:rPr>
              <a:t>2</a:t>
            </a:r>
            <a:endParaRPr lang="en-US" sz="1000" dirty="0"/>
          </a:p>
        </p:txBody>
      </p:sp>
      <p:sp>
        <p:nvSpPr>
          <p:cNvPr id="4" name="Shape 2"/>
          <p:cNvSpPr/>
          <p:nvPr/>
        </p:nvSpPr>
        <p:spPr>
          <a:xfrm>
            <a:off x="320040" y="676656"/>
            <a:ext cx="8503920" cy="749808"/>
          </a:xfrm>
          <a:prstGeom prst="rect">
            <a:avLst/>
          </a:prstGeom>
          <a:solidFill>
            <a:srgbClr val="F5C300"/>
          </a:solidFill>
          <a:ln w="12700">
            <a:solidFill>
              <a:srgbClr val="F5C300"/>
            </a:solidFill>
            <a:prstDash val="solid"/>
          </a:ln>
        </p:spPr>
        <p:txBody>
          <a:bodyPr/>
          <a:lstStyle/>
          <a:p>
            <a:endParaRPr lang="en-IN"/>
          </a:p>
        </p:txBody>
      </p:sp>
      <p:sp>
        <p:nvSpPr>
          <p:cNvPr id="5" name="Text 3"/>
          <p:cNvSpPr/>
          <p:nvPr/>
        </p:nvSpPr>
        <p:spPr>
          <a:xfrm>
            <a:off x="411480" y="676656"/>
            <a:ext cx="8321040" cy="749808"/>
          </a:xfrm>
          <a:prstGeom prst="rect">
            <a:avLst/>
          </a:prstGeom>
          <a:noFill/>
          <a:ln/>
        </p:spPr>
        <p:txBody>
          <a:bodyPr wrap="square" rtlCol="0" anchor="ctr"/>
          <a:lstStyle/>
          <a:p>
            <a:pPr marL="0" indent="0" algn="ctr">
              <a:buNone/>
            </a:pPr>
            <a:r>
              <a:rPr lang="en-US" sz="1300" i="1" dirty="0">
                <a:solidFill>
                  <a:srgbClr val="000000"/>
                </a:solidFill>
                <a:latin typeface="Calibri" pitchFamily="34" charset="0"/>
                <a:ea typeface="Calibri" pitchFamily="34" charset="-122"/>
                <a:cs typeface="Calibri" pitchFamily="34" charset="-120"/>
              </a:rPr>
              <a:t>"Does conditioning a summary on the reader's role produce measurably more relevant output than a generic recursive-memory summary?"</a:t>
            </a:r>
            <a:endParaRPr lang="en-US" sz="1300" dirty="0"/>
          </a:p>
        </p:txBody>
      </p:sp>
      <p:sp>
        <p:nvSpPr>
          <p:cNvPr id="6" name="Shape 4"/>
          <p:cNvSpPr/>
          <p:nvPr/>
        </p:nvSpPr>
        <p:spPr>
          <a:xfrm>
            <a:off x="320040" y="1536192"/>
            <a:ext cx="2743200" cy="347472"/>
          </a:xfrm>
          <a:prstGeom prst="rect">
            <a:avLst/>
          </a:prstGeom>
          <a:solidFill>
            <a:srgbClr val="777777"/>
          </a:solidFill>
          <a:ln/>
        </p:spPr>
        <p:txBody>
          <a:bodyPr/>
          <a:lstStyle/>
          <a:p>
            <a:endParaRPr lang="en-IN"/>
          </a:p>
        </p:txBody>
      </p:sp>
      <p:sp>
        <p:nvSpPr>
          <p:cNvPr id="7" name="Text 5"/>
          <p:cNvSpPr/>
          <p:nvPr/>
        </p:nvSpPr>
        <p:spPr>
          <a:xfrm>
            <a:off x="320040" y="1536192"/>
            <a:ext cx="274320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Baseline</a:t>
            </a:r>
            <a:endParaRPr lang="en-US" sz="1300" dirty="0"/>
          </a:p>
        </p:txBody>
      </p:sp>
      <p:sp>
        <p:nvSpPr>
          <p:cNvPr id="8" name="Shape 6"/>
          <p:cNvSpPr/>
          <p:nvPr/>
        </p:nvSpPr>
        <p:spPr>
          <a:xfrm>
            <a:off x="320040" y="1883664"/>
            <a:ext cx="2743200" cy="1572768"/>
          </a:xfrm>
          <a:prstGeom prst="rect">
            <a:avLst/>
          </a:prstGeom>
          <a:solidFill>
            <a:srgbClr val="FFFFFF"/>
          </a:solidFill>
          <a:ln w="6350">
            <a:solidFill>
              <a:srgbClr val="CCCCCC"/>
            </a:solidFill>
            <a:prstDash val="solid"/>
          </a:ln>
        </p:spPr>
        <p:txBody>
          <a:bodyPr/>
          <a:lstStyle/>
          <a:p>
            <a:endParaRPr lang="en-IN"/>
          </a:p>
        </p:txBody>
      </p:sp>
      <p:sp>
        <p:nvSpPr>
          <p:cNvPr id="9" name="Text 7"/>
          <p:cNvSpPr/>
          <p:nvPr/>
        </p:nvSpPr>
        <p:spPr>
          <a:xfrm>
            <a:off x="411480" y="1938528"/>
            <a:ext cx="2560320" cy="1097280"/>
          </a:xfrm>
          <a:prstGeom prst="rect">
            <a:avLst/>
          </a:prstGeom>
          <a:noFill/>
          <a:ln/>
        </p:spPr>
        <p:txBody>
          <a:bodyPr wrap="square" rtlCol="0" anchor="t"/>
          <a:lstStyle/>
          <a:p>
            <a:pPr marL="0" indent="0" algn="ctr">
              <a:buNone/>
            </a:pPr>
            <a:r>
              <a:rPr lang="en-US" sz="1200" dirty="0">
                <a:solidFill>
                  <a:srgbClr val="333333"/>
                </a:solidFill>
                <a:latin typeface="Calibri" pitchFamily="34" charset="0"/>
                <a:ea typeface="Calibri" pitchFamily="34" charset="-122"/>
                <a:cs typeface="Calibri" pitchFamily="34" charset="-120"/>
              </a:rPr>
              <a:t>Each chunk summarized independently</a:t>
            </a:r>
            <a:endParaRPr lang="en-US" sz="1200" dirty="0"/>
          </a:p>
          <a:p>
            <a:pPr marL="0" indent="0" algn="ctr">
              <a:buNone/>
            </a:pPr>
            <a:r>
              <a:rPr lang="en-US" sz="1200" dirty="0">
                <a:solidFill>
                  <a:srgbClr val="333333"/>
                </a:solidFill>
                <a:latin typeface="Calibri" pitchFamily="34" charset="0"/>
                <a:ea typeface="Calibri" pitchFamily="34" charset="-122"/>
                <a:cs typeface="Calibri" pitchFamily="34" charset="-120"/>
              </a:rPr>
              <a:t>No cross-chunk context or memory</a:t>
            </a:r>
            <a:endParaRPr lang="en-US" sz="1200" dirty="0"/>
          </a:p>
        </p:txBody>
      </p:sp>
      <p:sp>
        <p:nvSpPr>
          <p:cNvPr id="10" name="Shape 8"/>
          <p:cNvSpPr/>
          <p:nvPr/>
        </p:nvSpPr>
        <p:spPr>
          <a:xfrm>
            <a:off x="548640" y="3511296"/>
            <a:ext cx="2286000" cy="256032"/>
          </a:xfrm>
          <a:prstGeom prst="rect">
            <a:avLst/>
          </a:prstGeom>
          <a:solidFill>
            <a:srgbClr val="F5C300"/>
          </a:solidFill>
          <a:ln/>
        </p:spPr>
        <p:txBody>
          <a:bodyPr/>
          <a:lstStyle/>
          <a:p>
            <a:endParaRPr lang="en-IN"/>
          </a:p>
        </p:txBody>
      </p:sp>
      <p:sp>
        <p:nvSpPr>
          <p:cNvPr id="11" name="Text 9"/>
          <p:cNvSpPr/>
          <p:nvPr/>
        </p:nvSpPr>
        <p:spPr>
          <a:xfrm>
            <a:off x="548640" y="3511296"/>
            <a:ext cx="2286000" cy="256032"/>
          </a:xfrm>
          <a:prstGeom prst="rect">
            <a:avLst/>
          </a:prstGeom>
          <a:noFill/>
          <a:ln/>
        </p:spPr>
        <p:txBody>
          <a:bodyPr wrap="square" rtlCol="0" anchor="ctr"/>
          <a:lstStyle/>
          <a:p>
            <a:pPr marL="0" indent="0" algn="ctr">
              <a:buNone/>
            </a:pPr>
            <a:r>
              <a:rPr lang="en-US" sz="950" b="1" dirty="0">
                <a:solidFill>
                  <a:srgbClr val="000000"/>
                </a:solidFill>
                <a:latin typeface="Calibri" pitchFamily="34" charset="0"/>
                <a:ea typeface="Calibri" pitchFamily="34" charset="-122"/>
                <a:cs typeface="Calibri" pitchFamily="34" charset="-120"/>
              </a:rPr>
              <a:t>no memory</a:t>
            </a:r>
            <a:endParaRPr lang="en-US" sz="950" dirty="0"/>
          </a:p>
        </p:txBody>
      </p:sp>
      <p:sp>
        <p:nvSpPr>
          <p:cNvPr id="12" name="Shape 10"/>
          <p:cNvSpPr/>
          <p:nvPr/>
        </p:nvSpPr>
        <p:spPr>
          <a:xfrm>
            <a:off x="3227832" y="1536192"/>
            <a:ext cx="2743200" cy="347472"/>
          </a:xfrm>
          <a:prstGeom prst="rect">
            <a:avLst/>
          </a:prstGeom>
          <a:solidFill>
            <a:srgbClr val="1F5C99"/>
          </a:solidFill>
          <a:ln/>
        </p:spPr>
        <p:txBody>
          <a:bodyPr/>
          <a:lstStyle/>
          <a:p>
            <a:endParaRPr lang="en-IN"/>
          </a:p>
        </p:txBody>
      </p:sp>
      <p:sp>
        <p:nvSpPr>
          <p:cNvPr id="13" name="Text 11"/>
          <p:cNvSpPr/>
          <p:nvPr/>
        </p:nvSpPr>
        <p:spPr>
          <a:xfrm>
            <a:off x="3227832" y="1536192"/>
            <a:ext cx="274320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Method 1</a:t>
            </a:r>
            <a:endParaRPr lang="en-US" sz="1300" dirty="0"/>
          </a:p>
        </p:txBody>
      </p:sp>
      <p:sp>
        <p:nvSpPr>
          <p:cNvPr id="14" name="Shape 12"/>
          <p:cNvSpPr/>
          <p:nvPr/>
        </p:nvSpPr>
        <p:spPr>
          <a:xfrm>
            <a:off x="3227832" y="1883664"/>
            <a:ext cx="2743200" cy="1572768"/>
          </a:xfrm>
          <a:prstGeom prst="rect">
            <a:avLst/>
          </a:prstGeom>
          <a:solidFill>
            <a:srgbClr val="FFFFFF"/>
          </a:solidFill>
          <a:ln w="6350">
            <a:solidFill>
              <a:srgbClr val="CCCCCC"/>
            </a:solidFill>
            <a:prstDash val="solid"/>
          </a:ln>
        </p:spPr>
        <p:txBody>
          <a:bodyPr/>
          <a:lstStyle/>
          <a:p>
            <a:endParaRPr lang="en-IN"/>
          </a:p>
        </p:txBody>
      </p:sp>
      <p:sp>
        <p:nvSpPr>
          <p:cNvPr id="15" name="Text 13"/>
          <p:cNvSpPr/>
          <p:nvPr/>
        </p:nvSpPr>
        <p:spPr>
          <a:xfrm>
            <a:off x="3319272" y="1938528"/>
            <a:ext cx="2560320" cy="1097280"/>
          </a:xfrm>
          <a:prstGeom prst="rect">
            <a:avLst/>
          </a:prstGeom>
          <a:noFill/>
          <a:ln/>
        </p:spPr>
        <p:txBody>
          <a:bodyPr wrap="square" rtlCol="0" anchor="t"/>
          <a:lstStyle/>
          <a:p>
            <a:pPr marL="0" indent="0" algn="ctr">
              <a:buNone/>
            </a:pPr>
            <a:r>
              <a:rPr lang="en-US" sz="1200" dirty="0">
                <a:solidFill>
                  <a:srgbClr val="333333"/>
                </a:solidFill>
                <a:latin typeface="Calibri" pitchFamily="34" charset="0"/>
                <a:ea typeface="Calibri" pitchFamily="34" charset="-122"/>
                <a:cs typeface="Calibri" pitchFamily="34" charset="-120"/>
              </a:rPr>
              <a:t>Recursive memory:</a:t>
            </a:r>
            <a:endParaRPr lang="en-US" sz="1200" dirty="0"/>
          </a:p>
          <a:p>
            <a:pPr marL="0" indent="0" algn="ctr">
              <a:buNone/>
            </a:pPr>
            <a:r>
              <a:rPr lang="en-US" sz="1200" dirty="0">
                <a:solidFill>
                  <a:srgbClr val="333333"/>
                </a:solidFill>
                <a:latin typeface="Calibri" pitchFamily="34" charset="0"/>
                <a:ea typeface="Calibri" pitchFamily="34" charset="-122"/>
                <a:cs typeface="Calibri" pitchFamily="34" charset="-120"/>
              </a:rPr>
              <a:t>memory_t = summarize(prev + chunk)</a:t>
            </a:r>
            <a:endParaRPr lang="en-US" sz="1200" dirty="0"/>
          </a:p>
        </p:txBody>
      </p:sp>
      <p:sp>
        <p:nvSpPr>
          <p:cNvPr id="16" name="Shape 14"/>
          <p:cNvSpPr/>
          <p:nvPr/>
        </p:nvSpPr>
        <p:spPr>
          <a:xfrm>
            <a:off x="3456432" y="3511296"/>
            <a:ext cx="2286000" cy="256032"/>
          </a:xfrm>
          <a:prstGeom prst="rect">
            <a:avLst/>
          </a:prstGeom>
          <a:solidFill>
            <a:srgbClr val="F5C300"/>
          </a:solidFill>
          <a:ln/>
        </p:spPr>
        <p:txBody>
          <a:bodyPr/>
          <a:lstStyle/>
          <a:p>
            <a:endParaRPr lang="en-IN"/>
          </a:p>
        </p:txBody>
      </p:sp>
      <p:sp>
        <p:nvSpPr>
          <p:cNvPr id="17" name="Text 15"/>
          <p:cNvSpPr/>
          <p:nvPr/>
        </p:nvSpPr>
        <p:spPr>
          <a:xfrm>
            <a:off x="3456432" y="3511296"/>
            <a:ext cx="2286000" cy="256032"/>
          </a:xfrm>
          <a:prstGeom prst="rect">
            <a:avLst/>
          </a:prstGeom>
          <a:noFill/>
          <a:ln/>
        </p:spPr>
        <p:txBody>
          <a:bodyPr wrap="square" rtlCol="0" anchor="ctr"/>
          <a:lstStyle/>
          <a:p>
            <a:pPr marL="0" indent="0" algn="ctr">
              <a:buNone/>
            </a:pPr>
            <a:r>
              <a:rPr lang="en-US" sz="950" b="1" dirty="0">
                <a:solidFill>
                  <a:srgbClr val="000000"/>
                </a:solidFill>
                <a:latin typeface="Calibri" pitchFamily="34" charset="0"/>
                <a:ea typeface="Calibri" pitchFamily="34" charset="-122"/>
                <a:cs typeface="Calibri" pitchFamily="34" charset="-120"/>
              </a:rPr>
              <a:t>recursive memory</a:t>
            </a:r>
            <a:endParaRPr lang="en-US" sz="950" dirty="0"/>
          </a:p>
        </p:txBody>
      </p:sp>
      <p:sp>
        <p:nvSpPr>
          <p:cNvPr id="18" name="Shape 16"/>
          <p:cNvSpPr/>
          <p:nvPr/>
        </p:nvSpPr>
        <p:spPr>
          <a:xfrm>
            <a:off x="6135624" y="1536192"/>
            <a:ext cx="2743200" cy="347472"/>
          </a:xfrm>
          <a:prstGeom prst="rect">
            <a:avLst/>
          </a:prstGeom>
          <a:solidFill>
            <a:srgbClr val="1A7A5E"/>
          </a:solidFill>
          <a:ln/>
        </p:spPr>
        <p:txBody>
          <a:bodyPr/>
          <a:lstStyle/>
          <a:p>
            <a:endParaRPr lang="en-IN"/>
          </a:p>
        </p:txBody>
      </p:sp>
      <p:sp>
        <p:nvSpPr>
          <p:cNvPr id="19" name="Text 17"/>
          <p:cNvSpPr/>
          <p:nvPr/>
        </p:nvSpPr>
        <p:spPr>
          <a:xfrm>
            <a:off x="6135624" y="1536192"/>
            <a:ext cx="274320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Method 2  (Novel)</a:t>
            </a:r>
            <a:endParaRPr lang="en-US" sz="1300" dirty="0"/>
          </a:p>
        </p:txBody>
      </p:sp>
      <p:sp>
        <p:nvSpPr>
          <p:cNvPr id="20" name="Shape 18"/>
          <p:cNvSpPr/>
          <p:nvPr/>
        </p:nvSpPr>
        <p:spPr>
          <a:xfrm>
            <a:off x="6135624" y="1883664"/>
            <a:ext cx="2743200" cy="1572768"/>
          </a:xfrm>
          <a:prstGeom prst="rect">
            <a:avLst/>
          </a:prstGeom>
          <a:solidFill>
            <a:srgbClr val="FFFFFF"/>
          </a:solidFill>
          <a:ln w="6350">
            <a:solidFill>
              <a:srgbClr val="CCCCCC"/>
            </a:solidFill>
            <a:prstDash val="solid"/>
          </a:ln>
        </p:spPr>
        <p:txBody>
          <a:bodyPr/>
          <a:lstStyle/>
          <a:p>
            <a:endParaRPr lang="en-IN"/>
          </a:p>
        </p:txBody>
      </p:sp>
      <p:sp>
        <p:nvSpPr>
          <p:cNvPr id="21" name="Text 19"/>
          <p:cNvSpPr/>
          <p:nvPr/>
        </p:nvSpPr>
        <p:spPr>
          <a:xfrm>
            <a:off x="6227064" y="1938528"/>
            <a:ext cx="2560320" cy="1097280"/>
          </a:xfrm>
          <a:prstGeom prst="rect">
            <a:avLst/>
          </a:prstGeom>
          <a:noFill/>
          <a:ln/>
        </p:spPr>
        <p:txBody>
          <a:bodyPr wrap="square" rtlCol="0" anchor="t"/>
          <a:lstStyle/>
          <a:p>
            <a:pPr marL="0" indent="0" algn="ctr">
              <a:buNone/>
            </a:pPr>
            <a:r>
              <a:rPr lang="en-US" sz="1200" dirty="0">
                <a:solidFill>
                  <a:srgbClr val="333333"/>
                </a:solidFill>
                <a:latin typeface="Calibri" pitchFamily="34" charset="0"/>
                <a:ea typeface="Calibri" pitchFamily="34" charset="-122"/>
                <a:cs typeface="Calibri" pitchFamily="34" charset="-120"/>
              </a:rPr>
              <a:t>Two-step persona extraction:</a:t>
            </a:r>
            <a:endParaRPr lang="en-US" sz="1200" dirty="0"/>
          </a:p>
          <a:p>
            <a:pPr marL="0" indent="0" algn="ctr">
              <a:buNone/>
            </a:pPr>
            <a:r>
              <a:rPr lang="en-US" sz="1200" dirty="0">
                <a:solidFill>
                  <a:srgbClr val="333333"/>
                </a:solidFill>
                <a:latin typeface="Calibri" pitchFamily="34" charset="0"/>
                <a:ea typeface="Calibri" pitchFamily="34" charset="-122"/>
                <a:cs typeface="Calibri" pitchFamily="34" charset="-120"/>
              </a:rPr>
              <a:t>Extract facts  →  Synthesize per role</a:t>
            </a:r>
            <a:endParaRPr lang="en-US" sz="1200" dirty="0"/>
          </a:p>
        </p:txBody>
      </p:sp>
      <p:sp>
        <p:nvSpPr>
          <p:cNvPr id="22" name="Shape 20"/>
          <p:cNvSpPr/>
          <p:nvPr/>
        </p:nvSpPr>
        <p:spPr>
          <a:xfrm>
            <a:off x="6364224" y="3511296"/>
            <a:ext cx="2286000" cy="256032"/>
          </a:xfrm>
          <a:prstGeom prst="rect">
            <a:avLst/>
          </a:prstGeom>
          <a:solidFill>
            <a:srgbClr val="F5C300"/>
          </a:solidFill>
          <a:ln/>
        </p:spPr>
        <p:txBody>
          <a:bodyPr/>
          <a:lstStyle/>
          <a:p>
            <a:endParaRPr lang="en-IN"/>
          </a:p>
        </p:txBody>
      </p:sp>
      <p:sp>
        <p:nvSpPr>
          <p:cNvPr id="23" name="Text 21"/>
          <p:cNvSpPr/>
          <p:nvPr/>
        </p:nvSpPr>
        <p:spPr>
          <a:xfrm>
            <a:off x="6364224" y="3511296"/>
            <a:ext cx="2286000" cy="256032"/>
          </a:xfrm>
          <a:prstGeom prst="rect">
            <a:avLst/>
          </a:prstGeom>
          <a:noFill/>
          <a:ln/>
        </p:spPr>
        <p:txBody>
          <a:bodyPr wrap="square" rtlCol="0" anchor="ctr"/>
          <a:lstStyle/>
          <a:p>
            <a:pPr marL="0" indent="0" algn="ctr">
              <a:buNone/>
            </a:pPr>
            <a:r>
              <a:rPr lang="en-US" sz="950" b="1" dirty="0">
                <a:solidFill>
                  <a:srgbClr val="000000"/>
                </a:solidFill>
                <a:latin typeface="Calibri" pitchFamily="34" charset="0"/>
                <a:ea typeface="Calibri" pitchFamily="34" charset="-122"/>
                <a:cs typeface="Calibri" pitchFamily="34" charset="-120"/>
              </a:rPr>
              <a:t>novel contribution</a:t>
            </a:r>
            <a:endParaRPr lang="en-US" sz="950" dirty="0"/>
          </a:p>
        </p:txBody>
      </p:sp>
      <p:sp>
        <p:nvSpPr>
          <p:cNvPr id="24" name="Text 22"/>
          <p:cNvSpPr/>
          <p:nvPr/>
        </p:nvSpPr>
        <p:spPr>
          <a:xfrm>
            <a:off x="320040" y="3931920"/>
            <a:ext cx="8503920" cy="274320"/>
          </a:xfrm>
          <a:prstGeom prst="rect">
            <a:avLst/>
          </a:prstGeom>
          <a:noFill/>
          <a:ln/>
        </p:spPr>
        <p:txBody>
          <a:bodyPr wrap="square" rtlCol="0" anchor="ctr"/>
          <a:lstStyle/>
          <a:p>
            <a:pPr marL="0" indent="0" algn="ctr">
              <a:buNone/>
            </a:pPr>
            <a:r>
              <a:rPr lang="en-US" sz="1050" dirty="0">
                <a:solidFill>
                  <a:srgbClr val="666666"/>
                </a:solidFill>
                <a:latin typeface="Calibri" pitchFamily="34" charset="0"/>
                <a:ea typeface="Calibri" pitchFamily="34" charset="-122"/>
                <a:cs typeface="Calibri" pitchFamily="34" charset="-120"/>
              </a:rPr>
              <a:t>Dataset: AMI Meeting Corpus  ·  15 meetings  ·  3 models (Flan-T5-base, DistilBART-CNN, PEGASUS-XSum)  ·  Google Colab CPU</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0040" y="82296"/>
            <a:ext cx="8503920" cy="475488"/>
          </a:xfrm>
          <a:prstGeom prst="rect">
            <a:avLst/>
          </a:prstGeom>
          <a:noFill/>
          <a:ln/>
        </p:spPr>
        <p:txBody>
          <a:bodyPr wrap="square" rtlCol="0" anchor="ctr"/>
          <a:lstStyle/>
          <a:p>
            <a:pPr marL="0" indent="0">
              <a:buNone/>
            </a:pPr>
            <a:r>
              <a:rPr lang="en-US" sz="2200" b="1" dirty="0">
                <a:solidFill>
                  <a:srgbClr val="000000"/>
                </a:solidFill>
                <a:latin typeface="Calibri" pitchFamily="34" charset="0"/>
                <a:ea typeface="Calibri" pitchFamily="34" charset="-122"/>
                <a:cs typeface="Calibri" pitchFamily="34" charset="-120"/>
              </a:rPr>
              <a:t>Dataset &amp; Experimental Setup</a:t>
            </a:r>
            <a:endParaRPr lang="en-US" sz="2200" dirty="0"/>
          </a:p>
        </p:txBody>
      </p:sp>
      <p:sp>
        <p:nvSpPr>
          <p:cNvPr id="3" name="Text 1"/>
          <p:cNvSpPr/>
          <p:nvPr/>
        </p:nvSpPr>
        <p:spPr>
          <a:xfrm>
            <a:off x="137160" y="4864608"/>
            <a:ext cx="320040" cy="182880"/>
          </a:xfrm>
          <a:prstGeom prst="rect">
            <a:avLst/>
          </a:prstGeom>
          <a:noFill/>
          <a:ln/>
        </p:spPr>
        <p:txBody>
          <a:bodyPr wrap="square" rtlCol="0" anchor="ctr"/>
          <a:lstStyle/>
          <a:p>
            <a:pPr marL="0" indent="0">
              <a:buNone/>
            </a:pPr>
            <a:r>
              <a:rPr lang="en-US" sz="1000" dirty="0">
                <a:solidFill>
                  <a:srgbClr val="666666"/>
                </a:solidFill>
                <a:latin typeface="Calibri" pitchFamily="34" charset="0"/>
                <a:ea typeface="Calibri" pitchFamily="34" charset="-122"/>
                <a:cs typeface="Calibri" pitchFamily="34" charset="-120"/>
              </a:rPr>
              <a:t>3</a:t>
            </a:r>
            <a:endParaRPr lang="en-US" sz="1000" dirty="0"/>
          </a:p>
        </p:txBody>
      </p:sp>
      <p:sp>
        <p:nvSpPr>
          <p:cNvPr id="4" name="Shape 2"/>
          <p:cNvSpPr/>
          <p:nvPr/>
        </p:nvSpPr>
        <p:spPr>
          <a:xfrm>
            <a:off x="320040" y="676656"/>
            <a:ext cx="4023360" cy="310896"/>
          </a:xfrm>
          <a:prstGeom prst="rect">
            <a:avLst/>
          </a:prstGeom>
          <a:solidFill>
            <a:srgbClr val="F5C300"/>
          </a:solidFill>
          <a:ln w="12700">
            <a:solidFill>
              <a:srgbClr val="F5C300"/>
            </a:solidFill>
            <a:prstDash val="solid"/>
          </a:ln>
        </p:spPr>
        <p:txBody>
          <a:bodyPr/>
          <a:lstStyle/>
          <a:p>
            <a:endParaRPr lang="en-IN"/>
          </a:p>
        </p:txBody>
      </p:sp>
      <p:sp>
        <p:nvSpPr>
          <p:cNvPr id="5" name="Text 3"/>
          <p:cNvSpPr/>
          <p:nvPr/>
        </p:nvSpPr>
        <p:spPr>
          <a:xfrm>
            <a:off x="320040" y="676656"/>
            <a:ext cx="4023360" cy="310896"/>
          </a:xfrm>
          <a:prstGeom prst="rect">
            <a:avLst/>
          </a:prstGeom>
          <a:noFill/>
          <a:ln/>
        </p:spPr>
        <p:txBody>
          <a:bodyPr wrap="square" rtlCol="0" anchor="ctr"/>
          <a:lstStyle/>
          <a:p>
            <a:pPr marL="0" indent="0" algn="ctr">
              <a:buNone/>
            </a:pPr>
            <a:r>
              <a:rPr lang="en-US" sz="1200" b="1" dirty="0">
                <a:solidFill>
                  <a:srgbClr val="000000"/>
                </a:solidFill>
                <a:latin typeface="Calibri" pitchFamily="34" charset="0"/>
                <a:ea typeface="Calibri" pitchFamily="34" charset="-122"/>
                <a:cs typeface="Calibri" pitchFamily="34" charset="-120"/>
              </a:rPr>
              <a:t>AMI Meeting Corpus</a:t>
            </a:r>
            <a:endParaRPr lang="en-US" sz="1200" dirty="0"/>
          </a:p>
        </p:txBody>
      </p:sp>
      <p:sp>
        <p:nvSpPr>
          <p:cNvPr id="6" name="Shape 4"/>
          <p:cNvSpPr/>
          <p:nvPr/>
        </p:nvSpPr>
        <p:spPr>
          <a:xfrm>
            <a:off x="320040" y="987552"/>
            <a:ext cx="4023360" cy="530352"/>
          </a:xfrm>
          <a:prstGeom prst="rect">
            <a:avLst/>
          </a:prstGeom>
          <a:solidFill>
            <a:srgbClr val="FFFFFF"/>
          </a:solidFill>
          <a:ln w="6350">
            <a:solidFill>
              <a:srgbClr val="CCCCCC"/>
            </a:solidFill>
            <a:prstDash val="solid"/>
          </a:ln>
        </p:spPr>
        <p:txBody>
          <a:bodyPr/>
          <a:lstStyle/>
          <a:p>
            <a:endParaRPr lang="en-IN"/>
          </a:p>
        </p:txBody>
      </p:sp>
      <p:sp>
        <p:nvSpPr>
          <p:cNvPr id="7" name="Text 5"/>
          <p:cNvSpPr/>
          <p:nvPr/>
        </p:nvSpPr>
        <p:spPr>
          <a:xfrm>
            <a:off x="365760" y="987552"/>
            <a:ext cx="822960" cy="530352"/>
          </a:xfrm>
          <a:prstGeom prst="rect">
            <a:avLst/>
          </a:prstGeom>
          <a:noFill/>
          <a:ln/>
        </p:spPr>
        <p:txBody>
          <a:bodyPr wrap="square" rtlCol="0" anchor="ctr"/>
          <a:lstStyle/>
          <a:p>
            <a:pPr marL="0" indent="0" algn="ctr">
              <a:buNone/>
            </a:pPr>
            <a:r>
              <a:rPr lang="en-US" sz="1800" b="1" dirty="0">
                <a:solidFill>
                  <a:srgbClr val="1F5C99"/>
                </a:solidFill>
                <a:latin typeface="Calibri" pitchFamily="34" charset="0"/>
                <a:ea typeface="Calibri" pitchFamily="34" charset="-122"/>
                <a:cs typeface="Calibri" pitchFamily="34" charset="-120"/>
              </a:rPr>
              <a:t>171</a:t>
            </a:r>
            <a:endParaRPr lang="en-US" sz="1800" dirty="0"/>
          </a:p>
        </p:txBody>
      </p:sp>
      <p:sp>
        <p:nvSpPr>
          <p:cNvPr id="8" name="Text 6"/>
          <p:cNvSpPr/>
          <p:nvPr/>
        </p:nvSpPr>
        <p:spPr>
          <a:xfrm>
            <a:off x="1234440" y="987552"/>
            <a:ext cx="3017520" cy="530352"/>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meetings in full corpus</a:t>
            </a:r>
            <a:endParaRPr lang="en-US" sz="1150" dirty="0"/>
          </a:p>
        </p:txBody>
      </p:sp>
      <p:sp>
        <p:nvSpPr>
          <p:cNvPr id="9" name="Shape 7"/>
          <p:cNvSpPr/>
          <p:nvPr/>
        </p:nvSpPr>
        <p:spPr>
          <a:xfrm>
            <a:off x="320040" y="1572768"/>
            <a:ext cx="4023360" cy="530352"/>
          </a:xfrm>
          <a:prstGeom prst="rect">
            <a:avLst/>
          </a:prstGeom>
          <a:solidFill>
            <a:srgbClr val="F2F2F2"/>
          </a:solidFill>
          <a:ln w="6350">
            <a:solidFill>
              <a:srgbClr val="CCCCCC"/>
            </a:solidFill>
            <a:prstDash val="solid"/>
          </a:ln>
        </p:spPr>
        <p:txBody>
          <a:bodyPr/>
          <a:lstStyle/>
          <a:p>
            <a:endParaRPr lang="en-IN"/>
          </a:p>
        </p:txBody>
      </p:sp>
      <p:sp>
        <p:nvSpPr>
          <p:cNvPr id="10" name="Text 8"/>
          <p:cNvSpPr/>
          <p:nvPr/>
        </p:nvSpPr>
        <p:spPr>
          <a:xfrm>
            <a:off x="365760" y="1572768"/>
            <a:ext cx="822960" cy="530352"/>
          </a:xfrm>
          <a:prstGeom prst="rect">
            <a:avLst/>
          </a:prstGeom>
          <a:noFill/>
          <a:ln/>
        </p:spPr>
        <p:txBody>
          <a:bodyPr wrap="square" rtlCol="0" anchor="ctr"/>
          <a:lstStyle/>
          <a:p>
            <a:pPr marL="0" indent="0" algn="ctr">
              <a:buNone/>
            </a:pPr>
            <a:r>
              <a:rPr lang="en-US" sz="1800" b="1" dirty="0">
                <a:solidFill>
                  <a:srgbClr val="1F5C99"/>
                </a:solidFill>
                <a:latin typeface="Calibri" pitchFamily="34" charset="0"/>
                <a:ea typeface="Calibri" pitchFamily="34" charset="-122"/>
                <a:cs typeface="Calibri" pitchFamily="34" charset="-120"/>
              </a:rPr>
              <a:t>15</a:t>
            </a:r>
            <a:endParaRPr lang="en-US" sz="1800" dirty="0"/>
          </a:p>
        </p:txBody>
      </p:sp>
      <p:sp>
        <p:nvSpPr>
          <p:cNvPr id="11" name="Text 9"/>
          <p:cNvSpPr/>
          <p:nvPr/>
        </p:nvSpPr>
        <p:spPr>
          <a:xfrm>
            <a:off x="1234440" y="1572768"/>
            <a:ext cx="3017520" cy="530352"/>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meetings used in this study</a:t>
            </a:r>
            <a:endParaRPr lang="en-US" sz="1150" dirty="0"/>
          </a:p>
        </p:txBody>
      </p:sp>
      <p:sp>
        <p:nvSpPr>
          <p:cNvPr id="12" name="Shape 10"/>
          <p:cNvSpPr/>
          <p:nvPr/>
        </p:nvSpPr>
        <p:spPr>
          <a:xfrm>
            <a:off x="320040" y="2157984"/>
            <a:ext cx="4023360" cy="530352"/>
          </a:xfrm>
          <a:prstGeom prst="rect">
            <a:avLst/>
          </a:prstGeom>
          <a:solidFill>
            <a:srgbClr val="FFFFFF"/>
          </a:solidFill>
          <a:ln w="6350">
            <a:solidFill>
              <a:srgbClr val="CCCCCC"/>
            </a:solidFill>
            <a:prstDash val="solid"/>
          </a:ln>
        </p:spPr>
        <p:txBody>
          <a:bodyPr/>
          <a:lstStyle/>
          <a:p>
            <a:endParaRPr lang="en-IN"/>
          </a:p>
        </p:txBody>
      </p:sp>
      <p:sp>
        <p:nvSpPr>
          <p:cNvPr id="13" name="Text 11"/>
          <p:cNvSpPr/>
          <p:nvPr/>
        </p:nvSpPr>
        <p:spPr>
          <a:xfrm>
            <a:off x="365760" y="2157984"/>
            <a:ext cx="822960" cy="530352"/>
          </a:xfrm>
          <a:prstGeom prst="rect">
            <a:avLst/>
          </a:prstGeom>
          <a:noFill/>
          <a:ln/>
        </p:spPr>
        <p:txBody>
          <a:bodyPr wrap="square" rtlCol="0" anchor="ctr"/>
          <a:lstStyle/>
          <a:p>
            <a:pPr marL="0" indent="0" algn="ctr">
              <a:buNone/>
            </a:pPr>
            <a:r>
              <a:rPr lang="en-US" sz="1800" b="1" dirty="0">
                <a:solidFill>
                  <a:srgbClr val="1F5C99"/>
                </a:solidFill>
                <a:latin typeface="Calibri" pitchFamily="34" charset="0"/>
                <a:ea typeface="Calibri" pitchFamily="34" charset="-122"/>
                <a:cs typeface="Calibri" pitchFamily="34" charset="-120"/>
              </a:rPr>
              <a:t>120</a:t>
            </a:r>
            <a:endParaRPr lang="en-US" sz="1800" dirty="0"/>
          </a:p>
        </p:txBody>
      </p:sp>
      <p:sp>
        <p:nvSpPr>
          <p:cNvPr id="14" name="Text 12"/>
          <p:cNvSpPr/>
          <p:nvPr/>
        </p:nvSpPr>
        <p:spPr>
          <a:xfrm>
            <a:off x="1234440" y="2157984"/>
            <a:ext cx="3017520" cy="530352"/>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words per chunk (max)</a:t>
            </a:r>
            <a:endParaRPr lang="en-US" sz="1150" dirty="0"/>
          </a:p>
        </p:txBody>
      </p:sp>
      <p:sp>
        <p:nvSpPr>
          <p:cNvPr id="15" name="Shape 13"/>
          <p:cNvSpPr/>
          <p:nvPr/>
        </p:nvSpPr>
        <p:spPr>
          <a:xfrm>
            <a:off x="320040" y="2743200"/>
            <a:ext cx="4023360" cy="530352"/>
          </a:xfrm>
          <a:prstGeom prst="rect">
            <a:avLst/>
          </a:prstGeom>
          <a:solidFill>
            <a:srgbClr val="F2F2F2"/>
          </a:solidFill>
          <a:ln w="6350">
            <a:solidFill>
              <a:srgbClr val="CCCCCC"/>
            </a:solidFill>
            <a:prstDash val="solid"/>
          </a:ln>
        </p:spPr>
        <p:txBody>
          <a:bodyPr/>
          <a:lstStyle/>
          <a:p>
            <a:endParaRPr lang="en-IN"/>
          </a:p>
        </p:txBody>
      </p:sp>
      <p:sp>
        <p:nvSpPr>
          <p:cNvPr id="16" name="Text 14"/>
          <p:cNvSpPr/>
          <p:nvPr/>
        </p:nvSpPr>
        <p:spPr>
          <a:xfrm>
            <a:off x="365760" y="2743200"/>
            <a:ext cx="822960" cy="530352"/>
          </a:xfrm>
          <a:prstGeom prst="rect">
            <a:avLst/>
          </a:prstGeom>
          <a:noFill/>
          <a:ln/>
        </p:spPr>
        <p:txBody>
          <a:bodyPr wrap="square" rtlCol="0" anchor="ctr"/>
          <a:lstStyle/>
          <a:p>
            <a:pPr marL="0" indent="0" algn="ctr">
              <a:buNone/>
            </a:pPr>
            <a:r>
              <a:rPr lang="en-US" sz="1800" b="1" dirty="0">
                <a:solidFill>
                  <a:srgbClr val="1F5C99"/>
                </a:solidFill>
                <a:latin typeface="Calibri" pitchFamily="34" charset="0"/>
                <a:ea typeface="Calibri" pitchFamily="34" charset="-122"/>
                <a:cs typeface="Calibri" pitchFamily="34" charset="-120"/>
              </a:rPr>
              <a:t>3–5</a:t>
            </a:r>
            <a:endParaRPr lang="en-US" sz="1800" dirty="0"/>
          </a:p>
        </p:txBody>
      </p:sp>
      <p:sp>
        <p:nvSpPr>
          <p:cNvPr id="17" name="Text 15"/>
          <p:cNvSpPr/>
          <p:nvPr/>
        </p:nvSpPr>
        <p:spPr>
          <a:xfrm>
            <a:off x="1234440" y="2743200"/>
            <a:ext cx="3017520" cy="530352"/>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chunks per meeting</a:t>
            </a:r>
            <a:endParaRPr lang="en-US" sz="1150" dirty="0"/>
          </a:p>
        </p:txBody>
      </p:sp>
      <p:sp>
        <p:nvSpPr>
          <p:cNvPr id="18" name="Shape 16"/>
          <p:cNvSpPr/>
          <p:nvPr/>
        </p:nvSpPr>
        <p:spPr>
          <a:xfrm>
            <a:off x="320040" y="3328416"/>
            <a:ext cx="4023360" cy="530352"/>
          </a:xfrm>
          <a:prstGeom prst="rect">
            <a:avLst/>
          </a:prstGeom>
          <a:solidFill>
            <a:srgbClr val="FFFFFF"/>
          </a:solidFill>
          <a:ln w="6350">
            <a:solidFill>
              <a:srgbClr val="CCCCCC"/>
            </a:solidFill>
            <a:prstDash val="solid"/>
          </a:ln>
        </p:spPr>
        <p:txBody>
          <a:bodyPr/>
          <a:lstStyle/>
          <a:p>
            <a:endParaRPr lang="en-IN"/>
          </a:p>
        </p:txBody>
      </p:sp>
      <p:sp>
        <p:nvSpPr>
          <p:cNvPr id="19" name="Text 17"/>
          <p:cNvSpPr/>
          <p:nvPr/>
        </p:nvSpPr>
        <p:spPr>
          <a:xfrm>
            <a:off x="365760" y="3328416"/>
            <a:ext cx="822960" cy="530352"/>
          </a:xfrm>
          <a:prstGeom prst="rect">
            <a:avLst/>
          </a:prstGeom>
          <a:noFill/>
          <a:ln/>
        </p:spPr>
        <p:txBody>
          <a:bodyPr wrap="square" rtlCol="0" anchor="ctr"/>
          <a:lstStyle/>
          <a:p>
            <a:pPr marL="0" indent="0" algn="ctr">
              <a:buNone/>
            </a:pPr>
            <a:r>
              <a:rPr lang="en-US" sz="1800" b="1" dirty="0">
                <a:solidFill>
                  <a:srgbClr val="1F5C99"/>
                </a:solidFill>
                <a:latin typeface="Calibri" pitchFamily="34" charset="0"/>
                <a:ea typeface="Calibri" pitchFamily="34" charset="-122"/>
                <a:cs typeface="Calibri" pitchFamily="34" charset="-120"/>
              </a:rPr>
              <a:t>4</a:t>
            </a:r>
            <a:endParaRPr lang="en-US" sz="1800" dirty="0"/>
          </a:p>
        </p:txBody>
      </p:sp>
      <p:sp>
        <p:nvSpPr>
          <p:cNvPr id="20" name="Text 18"/>
          <p:cNvSpPr/>
          <p:nvPr/>
        </p:nvSpPr>
        <p:spPr>
          <a:xfrm>
            <a:off x="1234440" y="3328416"/>
            <a:ext cx="3017520" cy="530352"/>
          </a:xfrm>
          <a:prstGeom prst="rect">
            <a:avLst/>
          </a:prstGeom>
          <a:noFill/>
          <a:ln/>
        </p:spPr>
        <p:txBody>
          <a:bodyPr wrap="square" rtlCol="0" anchor="ctr"/>
          <a:lstStyle/>
          <a:p>
            <a:pPr marL="0" indent="0">
              <a:buNone/>
            </a:pPr>
            <a:r>
              <a:rPr lang="en-US" sz="1150" dirty="0">
                <a:solidFill>
                  <a:srgbClr val="333333"/>
                </a:solidFill>
                <a:latin typeface="Calibri" pitchFamily="34" charset="0"/>
                <a:ea typeface="Calibri" pitchFamily="34" charset="-122"/>
                <a:cs typeface="Calibri" pitchFamily="34" charset="-120"/>
              </a:rPr>
              <a:t>speakers per meeting avg.</a:t>
            </a:r>
            <a:endParaRPr lang="en-US" sz="1150" dirty="0"/>
          </a:p>
        </p:txBody>
      </p:sp>
      <p:sp>
        <p:nvSpPr>
          <p:cNvPr id="21" name="Shape 19"/>
          <p:cNvSpPr/>
          <p:nvPr/>
        </p:nvSpPr>
        <p:spPr>
          <a:xfrm>
            <a:off x="4617720" y="676656"/>
            <a:ext cx="4206240" cy="310896"/>
          </a:xfrm>
          <a:prstGeom prst="rect">
            <a:avLst/>
          </a:prstGeom>
          <a:solidFill>
            <a:srgbClr val="F5C300"/>
          </a:solidFill>
          <a:ln w="12700">
            <a:solidFill>
              <a:srgbClr val="F5C300"/>
            </a:solidFill>
            <a:prstDash val="solid"/>
          </a:ln>
        </p:spPr>
        <p:txBody>
          <a:bodyPr/>
          <a:lstStyle/>
          <a:p>
            <a:endParaRPr lang="en-IN"/>
          </a:p>
        </p:txBody>
      </p:sp>
      <p:sp>
        <p:nvSpPr>
          <p:cNvPr id="22" name="Text 20"/>
          <p:cNvSpPr/>
          <p:nvPr/>
        </p:nvSpPr>
        <p:spPr>
          <a:xfrm>
            <a:off x="4617720" y="676656"/>
            <a:ext cx="4206240" cy="310896"/>
          </a:xfrm>
          <a:prstGeom prst="rect">
            <a:avLst/>
          </a:prstGeom>
          <a:noFill/>
          <a:ln/>
        </p:spPr>
        <p:txBody>
          <a:bodyPr wrap="square" rtlCol="0" anchor="ctr"/>
          <a:lstStyle/>
          <a:p>
            <a:pPr marL="0" indent="0" algn="ctr">
              <a:buNone/>
            </a:pPr>
            <a:r>
              <a:rPr lang="en-US" sz="1200" b="1" dirty="0">
                <a:solidFill>
                  <a:srgbClr val="000000"/>
                </a:solidFill>
                <a:latin typeface="Calibri" pitchFamily="34" charset="0"/>
                <a:ea typeface="Calibri" pitchFamily="34" charset="-122"/>
                <a:cs typeface="Calibri" pitchFamily="34" charset="-120"/>
              </a:rPr>
              <a:t>3 Models Compared</a:t>
            </a:r>
            <a:endParaRPr lang="en-US" sz="1200" dirty="0"/>
          </a:p>
        </p:txBody>
      </p:sp>
      <p:sp>
        <p:nvSpPr>
          <p:cNvPr id="23" name="Shape 21"/>
          <p:cNvSpPr/>
          <p:nvPr/>
        </p:nvSpPr>
        <p:spPr>
          <a:xfrm>
            <a:off x="4617720" y="987552"/>
            <a:ext cx="822960" cy="512064"/>
          </a:xfrm>
          <a:prstGeom prst="rect">
            <a:avLst/>
          </a:prstGeom>
          <a:solidFill>
            <a:srgbClr val="1F5C99"/>
          </a:solidFill>
          <a:ln/>
        </p:spPr>
        <p:txBody>
          <a:bodyPr/>
          <a:lstStyle/>
          <a:p>
            <a:endParaRPr lang="en-IN"/>
          </a:p>
        </p:txBody>
      </p:sp>
      <p:sp>
        <p:nvSpPr>
          <p:cNvPr id="24" name="Text 22"/>
          <p:cNvSpPr/>
          <p:nvPr/>
        </p:nvSpPr>
        <p:spPr>
          <a:xfrm>
            <a:off x="4617720" y="987552"/>
            <a:ext cx="822960" cy="512064"/>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M1</a:t>
            </a:r>
            <a:endParaRPr lang="en-US" sz="1500" dirty="0"/>
          </a:p>
        </p:txBody>
      </p:sp>
      <p:sp>
        <p:nvSpPr>
          <p:cNvPr id="25" name="Shape 23"/>
          <p:cNvSpPr/>
          <p:nvPr/>
        </p:nvSpPr>
        <p:spPr>
          <a:xfrm>
            <a:off x="5440680" y="987552"/>
            <a:ext cx="3383280" cy="512064"/>
          </a:xfrm>
          <a:prstGeom prst="rect">
            <a:avLst/>
          </a:prstGeom>
          <a:solidFill>
            <a:srgbClr val="FFFFFF"/>
          </a:solidFill>
          <a:ln w="6350">
            <a:solidFill>
              <a:srgbClr val="CCCCCC"/>
            </a:solidFill>
            <a:prstDash val="solid"/>
          </a:ln>
        </p:spPr>
        <p:txBody>
          <a:bodyPr/>
          <a:lstStyle/>
          <a:p>
            <a:endParaRPr lang="en-IN"/>
          </a:p>
        </p:txBody>
      </p:sp>
      <p:sp>
        <p:nvSpPr>
          <p:cNvPr id="26" name="Text 24"/>
          <p:cNvSpPr/>
          <p:nvPr/>
        </p:nvSpPr>
        <p:spPr>
          <a:xfrm>
            <a:off x="5532120" y="1024128"/>
            <a:ext cx="3200400" cy="219456"/>
          </a:xfrm>
          <a:prstGeom prst="rect">
            <a:avLst/>
          </a:prstGeom>
          <a:noFill/>
          <a:ln/>
        </p:spPr>
        <p:txBody>
          <a:bodyPr wrap="square" rtlCol="0" anchor="ctr"/>
          <a:lstStyle/>
          <a:p>
            <a:pPr marL="0" indent="0">
              <a:buNone/>
            </a:pPr>
            <a:r>
              <a:rPr lang="en-US" sz="1150" b="1" dirty="0">
                <a:solidFill>
                  <a:srgbClr val="333333"/>
                </a:solidFill>
                <a:latin typeface="Calibri" pitchFamily="34" charset="0"/>
                <a:ea typeface="Calibri" pitchFamily="34" charset="-122"/>
                <a:cs typeface="Calibri" pitchFamily="34" charset="-120"/>
              </a:rPr>
              <a:t>Flan-T5-base</a:t>
            </a:r>
            <a:endParaRPr lang="en-US" sz="1150" dirty="0"/>
          </a:p>
        </p:txBody>
      </p:sp>
      <p:sp>
        <p:nvSpPr>
          <p:cNvPr id="27" name="Text 25"/>
          <p:cNvSpPr/>
          <p:nvPr/>
        </p:nvSpPr>
        <p:spPr>
          <a:xfrm>
            <a:off x="5532120" y="1261872"/>
            <a:ext cx="3200400" cy="182880"/>
          </a:xfrm>
          <a:prstGeom prst="rect">
            <a:avLst/>
          </a:prstGeom>
          <a:noFill/>
          <a:ln/>
        </p:spPr>
        <p:txBody>
          <a:bodyPr wrap="square" rtlCol="0" anchor="ctr"/>
          <a:lstStyle/>
          <a:p>
            <a:pPr marL="0" indent="0">
              <a:buNone/>
            </a:pPr>
            <a:r>
              <a:rPr lang="en-US" sz="950" dirty="0">
                <a:solidFill>
                  <a:srgbClr val="666666"/>
                </a:solidFill>
                <a:latin typeface="Calibri" pitchFamily="34" charset="0"/>
                <a:ea typeface="Calibri" pitchFamily="34" charset="-122"/>
                <a:cs typeface="Calibri" pitchFamily="34" charset="-120"/>
              </a:rPr>
              <a:t>google/flan-t5-base · ~250 MB · instruction-tuned</a:t>
            </a:r>
            <a:endParaRPr lang="en-US" sz="950" dirty="0"/>
          </a:p>
        </p:txBody>
      </p:sp>
      <p:sp>
        <p:nvSpPr>
          <p:cNvPr id="28" name="Shape 26"/>
          <p:cNvSpPr/>
          <p:nvPr/>
        </p:nvSpPr>
        <p:spPr>
          <a:xfrm>
            <a:off x="4617720" y="1627632"/>
            <a:ext cx="822960" cy="512064"/>
          </a:xfrm>
          <a:prstGeom prst="rect">
            <a:avLst/>
          </a:prstGeom>
          <a:solidFill>
            <a:srgbClr val="1A7A5E"/>
          </a:solidFill>
          <a:ln/>
        </p:spPr>
        <p:txBody>
          <a:bodyPr/>
          <a:lstStyle/>
          <a:p>
            <a:endParaRPr lang="en-IN"/>
          </a:p>
        </p:txBody>
      </p:sp>
      <p:sp>
        <p:nvSpPr>
          <p:cNvPr id="29" name="Text 27"/>
          <p:cNvSpPr/>
          <p:nvPr/>
        </p:nvSpPr>
        <p:spPr>
          <a:xfrm>
            <a:off x="4617720" y="1627632"/>
            <a:ext cx="822960" cy="512064"/>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M2</a:t>
            </a:r>
            <a:endParaRPr lang="en-US" sz="1500" dirty="0"/>
          </a:p>
        </p:txBody>
      </p:sp>
      <p:sp>
        <p:nvSpPr>
          <p:cNvPr id="30" name="Shape 28"/>
          <p:cNvSpPr/>
          <p:nvPr/>
        </p:nvSpPr>
        <p:spPr>
          <a:xfrm>
            <a:off x="5440680" y="1627632"/>
            <a:ext cx="3383280" cy="512064"/>
          </a:xfrm>
          <a:prstGeom prst="rect">
            <a:avLst/>
          </a:prstGeom>
          <a:solidFill>
            <a:srgbClr val="FFFFFF"/>
          </a:solidFill>
          <a:ln w="6350">
            <a:solidFill>
              <a:srgbClr val="CCCCCC"/>
            </a:solidFill>
            <a:prstDash val="solid"/>
          </a:ln>
        </p:spPr>
        <p:txBody>
          <a:bodyPr/>
          <a:lstStyle/>
          <a:p>
            <a:endParaRPr lang="en-IN"/>
          </a:p>
        </p:txBody>
      </p:sp>
      <p:sp>
        <p:nvSpPr>
          <p:cNvPr id="31" name="Text 29"/>
          <p:cNvSpPr/>
          <p:nvPr/>
        </p:nvSpPr>
        <p:spPr>
          <a:xfrm>
            <a:off x="5532120" y="1664208"/>
            <a:ext cx="3200400" cy="219456"/>
          </a:xfrm>
          <a:prstGeom prst="rect">
            <a:avLst/>
          </a:prstGeom>
          <a:noFill/>
          <a:ln/>
        </p:spPr>
        <p:txBody>
          <a:bodyPr wrap="square" rtlCol="0" anchor="ctr"/>
          <a:lstStyle/>
          <a:p>
            <a:pPr marL="0" indent="0">
              <a:buNone/>
            </a:pPr>
            <a:r>
              <a:rPr lang="en-US" sz="1150" b="1" dirty="0">
                <a:solidFill>
                  <a:srgbClr val="333333"/>
                </a:solidFill>
                <a:latin typeface="Calibri" pitchFamily="34" charset="0"/>
                <a:ea typeface="Calibri" pitchFamily="34" charset="-122"/>
                <a:cs typeface="Calibri" pitchFamily="34" charset="-120"/>
              </a:rPr>
              <a:t>DistilBART-CNN</a:t>
            </a:r>
            <a:endParaRPr lang="en-US" sz="1150" dirty="0"/>
          </a:p>
        </p:txBody>
      </p:sp>
      <p:sp>
        <p:nvSpPr>
          <p:cNvPr id="32" name="Text 30"/>
          <p:cNvSpPr/>
          <p:nvPr/>
        </p:nvSpPr>
        <p:spPr>
          <a:xfrm>
            <a:off x="5532120" y="1901952"/>
            <a:ext cx="3200400" cy="182880"/>
          </a:xfrm>
          <a:prstGeom prst="rect">
            <a:avLst/>
          </a:prstGeom>
          <a:noFill/>
          <a:ln/>
        </p:spPr>
        <p:txBody>
          <a:bodyPr wrap="square" rtlCol="0" anchor="ctr"/>
          <a:lstStyle/>
          <a:p>
            <a:pPr marL="0" indent="0">
              <a:buNone/>
            </a:pPr>
            <a:r>
              <a:rPr lang="en-US" sz="950" dirty="0">
                <a:solidFill>
                  <a:srgbClr val="666666"/>
                </a:solidFill>
                <a:latin typeface="Calibri" pitchFamily="34" charset="0"/>
                <a:ea typeface="Calibri" pitchFamily="34" charset="-122"/>
                <a:cs typeface="Calibri" pitchFamily="34" charset="-120"/>
              </a:rPr>
              <a:t>sshleifer/distilbart-cnn-6-6 · ~460 MB · CNN-trained</a:t>
            </a:r>
            <a:endParaRPr lang="en-US" sz="950" dirty="0"/>
          </a:p>
        </p:txBody>
      </p:sp>
      <p:sp>
        <p:nvSpPr>
          <p:cNvPr id="33" name="Shape 31"/>
          <p:cNvSpPr/>
          <p:nvPr/>
        </p:nvSpPr>
        <p:spPr>
          <a:xfrm>
            <a:off x="4617720" y="2267712"/>
            <a:ext cx="822960" cy="512064"/>
          </a:xfrm>
          <a:prstGeom prst="rect">
            <a:avLst/>
          </a:prstGeom>
          <a:solidFill>
            <a:srgbClr val="6B3A8C"/>
          </a:solidFill>
          <a:ln/>
        </p:spPr>
        <p:txBody>
          <a:bodyPr/>
          <a:lstStyle/>
          <a:p>
            <a:endParaRPr lang="en-IN"/>
          </a:p>
        </p:txBody>
      </p:sp>
      <p:sp>
        <p:nvSpPr>
          <p:cNvPr id="34" name="Text 32"/>
          <p:cNvSpPr/>
          <p:nvPr/>
        </p:nvSpPr>
        <p:spPr>
          <a:xfrm>
            <a:off x="4617720" y="2267712"/>
            <a:ext cx="822960" cy="512064"/>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M3</a:t>
            </a:r>
            <a:endParaRPr lang="en-US" sz="1500" dirty="0"/>
          </a:p>
        </p:txBody>
      </p:sp>
      <p:sp>
        <p:nvSpPr>
          <p:cNvPr id="35" name="Shape 33"/>
          <p:cNvSpPr/>
          <p:nvPr/>
        </p:nvSpPr>
        <p:spPr>
          <a:xfrm>
            <a:off x="5440680" y="2267712"/>
            <a:ext cx="3383280" cy="512064"/>
          </a:xfrm>
          <a:prstGeom prst="rect">
            <a:avLst/>
          </a:prstGeom>
          <a:solidFill>
            <a:srgbClr val="FFFFFF"/>
          </a:solidFill>
          <a:ln w="6350">
            <a:solidFill>
              <a:srgbClr val="CCCCCC"/>
            </a:solidFill>
            <a:prstDash val="solid"/>
          </a:ln>
        </p:spPr>
        <p:txBody>
          <a:bodyPr/>
          <a:lstStyle/>
          <a:p>
            <a:endParaRPr lang="en-IN"/>
          </a:p>
        </p:txBody>
      </p:sp>
      <p:sp>
        <p:nvSpPr>
          <p:cNvPr id="36" name="Text 34"/>
          <p:cNvSpPr/>
          <p:nvPr/>
        </p:nvSpPr>
        <p:spPr>
          <a:xfrm>
            <a:off x="5532120" y="2304288"/>
            <a:ext cx="3200400" cy="219456"/>
          </a:xfrm>
          <a:prstGeom prst="rect">
            <a:avLst/>
          </a:prstGeom>
          <a:noFill/>
          <a:ln/>
        </p:spPr>
        <p:txBody>
          <a:bodyPr wrap="square" rtlCol="0" anchor="ctr"/>
          <a:lstStyle/>
          <a:p>
            <a:pPr marL="0" indent="0">
              <a:buNone/>
            </a:pPr>
            <a:r>
              <a:rPr lang="en-US" sz="1150" b="1" dirty="0">
                <a:solidFill>
                  <a:srgbClr val="333333"/>
                </a:solidFill>
                <a:latin typeface="Calibri" pitchFamily="34" charset="0"/>
                <a:ea typeface="Calibri" pitchFamily="34" charset="-122"/>
                <a:cs typeface="Calibri" pitchFamily="34" charset="-120"/>
              </a:rPr>
              <a:t>PEGASUS-XSum</a:t>
            </a:r>
            <a:endParaRPr lang="en-US" sz="1150" dirty="0"/>
          </a:p>
        </p:txBody>
      </p:sp>
      <p:sp>
        <p:nvSpPr>
          <p:cNvPr id="37" name="Text 35"/>
          <p:cNvSpPr/>
          <p:nvPr/>
        </p:nvSpPr>
        <p:spPr>
          <a:xfrm>
            <a:off x="5532120" y="2542032"/>
            <a:ext cx="3200400" cy="182880"/>
          </a:xfrm>
          <a:prstGeom prst="rect">
            <a:avLst/>
          </a:prstGeom>
          <a:noFill/>
          <a:ln/>
        </p:spPr>
        <p:txBody>
          <a:bodyPr wrap="square" rtlCol="0" anchor="ctr"/>
          <a:lstStyle/>
          <a:p>
            <a:pPr marL="0" indent="0">
              <a:buNone/>
            </a:pPr>
            <a:r>
              <a:rPr lang="en-US" sz="950" dirty="0">
                <a:solidFill>
                  <a:srgbClr val="666666"/>
                </a:solidFill>
                <a:latin typeface="Calibri" pitchFamily="34" charset="0"/>
                <a:ea typeface="Calibri" pitchFamily="34" charset="-122"/>
                <a:cs typeface="Calibri" pitchFamily="34" charset="-120"/>
              </a:rPr>
              <a:t>google/pegasus-xsum · ~2.28 GB · extreme summ.</a:t>
            </a:r>
            <a:endParaRPr lang="en-US" sz="950" dirty="0"/>
          </a:p>
        </p:txBody>
      </p:sp>
      <p:sp>
        <p:nvSpPr>
          <p:cNvPr id="38" name="Shape 36"/>
          <p:cNvSpPr/>
          <p:nvPr/>
        </p:nvSpPr>
        <p:spPr>
          <a:xfrm>
            <a:off x="4617720" y="2944368"/>
            <a:ext cx="4206240" cy="256032"/>
          </a:xfrm>
          <a:prstGeom prst="rect">
            <a:avLst/>
          </a:prstGeom>
          <a:solidFill>
            <a:srgbClr val="F5C300"/>
          </a:solidFill>
          <a:ln w="12700">
            <a:solidFill>
              <a:srgbClr val="F5C300"/>
            </a:solidFill>
            <a:prstDash val="solid"/>
          </a:ln>
        </p:spPr>
        <p:txBody>
          <a:bodyPr/>
          <a:lstStyle/>
          <a:p>
            <a:endParaRPr lang="en-IN"/>
          </a:p>
        </p:txBody>
      </p:sp>
      <p:sp>
        <p:nvSpPr>
          <p:cNvPr id="39" name="Text 37"/>
          <p:cNvSpPr/>
          <p:nvPr/>
        </p:nvSpPr>
        <p:spPr>
          <a:xfrm>
            <a:off x="4617720" y="2944368"/>
            <a:ext cx="4206240" cy="256032"/>
          </a:xfrm>
          <a:prstGeom prst="rect">
            <a:avLst/>
          </a:prstGeom>
          <a:noFill/>
          <a:ln/>
        </p:spPr>
        <p:txBody>
          <a:bodyPr wrap="square" rtlCol="0" anchor="ctr"/>
          <a:lstStyle/>
          <a:p>
            <a:pPr marL="0" indent="0" algn="ctr">
              <a:buNone/>
            </a:pPr>
            <a:r>
              <a:rPr lang="en-US" sz="1000" b="1" dirty="0">
                <a:solidFill>
                  <a:srgbClr val="000000"/>
                </a:solidFill>
                <a:latin typeface="Calibri" pitchFamily="34" charset="0"/>
                <a:ea typeface="Calibri" pitchFamily="34" charset="-122"/>
                <a:cs typeface="Calibri" pitchFamily="34" charset="-120"/>
              </a:rPr>
              <a:t>Key Parameters</a:t>
            </a:r>
            <a:endParaRPr lang="en-US" sz="1000" dirty="0"/>
          </a:p>
        </p:txBody>
      </p:sp>
      <p:sp>
        <p:nvSpPr>
          <p:cNvPr id="40" name="Text 38"/>
          <p:cNvSpPr/>
          <p:nvPr/>
        </p:nvSpPr>
        <p:spPr>
          <a:xfrm>
            <a:off x="4663440" y="3236976"/>
            <a:ext cx="2103120" cy="219456"/>
          </a:xfrm>
          <a:prstGeom prst="rect">
            <a:avLst/>
          </a:prstGeom>
          <a:noFill/>
          <a:ln/>
        </p:spPr>
        <p:txBody>
          <a:bodyPr wrap="square" rtlCol="0" anchor="ctr"/>
          <a:lstStyle/>
          <a:p>
            <a:pPr marL="0" indent="0">
              <a:buNone/>
            </a:pPr>
            <a:r>
              <a:rPr lang="en-US" sz="1000" b="1" dirty="0">
                <a:solidFill>
                  <a:srgbClr val="333333"/>
                </a:solidFill>
                <a:latin typeface="Courier New" pitchFamily="34" charset="0"/>
                <a:ea typeface="Courier New" pitchFamily="34" charset="-122"/>
                <a:cs typeface="Courier New" pitchFamily="34" charset="-120"/>
              </a:rPr>
              <a:t>num_beams:</a:t>
            </a:r>
            <a:endParaRPr lang="en-US" sz="1000" dirty="0"/>
          </a:p>
        </p:txBody>
      </p:sp>
      <p:sp>
        <p:nvSpPr>
          <p:cNvPr id="41" name="Text 39"/>
          <p:cNvSpPr/>
          <p:nvPr/>
        </p:nvSpPr>
        <p:spPr>
          <a:xfrm>
            <a:off x="6766560" y="3236976"/>
            <a:ext cx="2011680" cy="219456"/>
          </a:xfrm>
          <a:prstGeom prst="rect">
            <a:avLst/>
          </a:prstGeom>
          <a:noFill/>
          <a:ln/>
        </p:spPr>
        <p:txBody>
          <a:bodyPr wrap="square" rtlCol="0" anchor="ctr"/>
          <a:lstStyle/>
          <a:p>
            <a:pPr marL="0" indent="0">
              <a:buNone/>
            </a:pPr>
            <a:r>
              <a:rPr lang="en-US" sz="1000" dirty="0">
                <a:solidFill>
                  <a:srgbClr val="1F5C99"/>
                </a:solidFill>
                <a:latin typeface="Courier New" pitchFamily="34" charset="0"/>
                <a:ea typeface="Courier New" pitchFamily="34" charset="-122"/>
                <a:cs typeface="Courier New" pitchFamily="34" charset="-120"/>
              </a:rPr>
              <a:t>4</a:t>
            </a:r>
            <a:endParaRPr lang="en-US" sz="1000" dirty="0"/>
          </a:p>
        </p:txBody>
      </p:sp>
      <p:sp>
        <p:nvSpPr>
          <p:cNvPr id="42" name="Text 40"/>
          <p:cNvSpPr/>
          <p:nvPr/>
        </p:nvSpPr>
        <p:spPr>
          <a:xfrm>
            <a:off x="4663440" y="3483864"/>
            <a:ext cx="2103120" cy="219456"/>
          </a:xfrm>
          <a:prstGeom prst="rect">
            <a:avLst/>
          </a:prstGeom>
          <a:noFill/>
          <a:ln/>
        </p:spPr>
        <p:txBody>
          <a:bodyPr wrap="square" rtlCol="0" anchor="ctr"/>
          <a:lstStyle/>
          <a:p>
            <a:pPr marL="0" indent="0">
              <a:buNone/>
            </a:pPr>
            <a:r>
              <a:rPr lang="en-US" sz="1000" b="1" dirty="0">
                <a:solidFill>
                  <a:srgbClr val="333333"/>
                </a:solidFill>
                <a:latin typeface="Courier New" pitchFamily="34" charset="0"/>
                <a:ea typeface="Courier New" pitchFamily="34" charset="-122"/>
                <a:cs typeface="Courier New" pitchFamily="34" charset="-120"/>
              </a:rPr>
              <a:t>max_new_tokens:</a:t>
            </a:r>
            <a:endParaRPr lang="en-US" sz="1000" dirty="0"/>
          </a:p>
        </p:txBody>
      </p:sp>
      <p:sp>
        <p:nvSpPr>
          <p:cNvPr id="43" name="Text 41"/>
          <p:cNvSpPr/>
          <p:nvPr/>
        </p:nvSpPr>
        <p:spPr>
          <a:xfrm>
            <a:off x="6766560" y="3483864"/>
            <a:ext cx="2011680" cy="219456"/>
          </a:xfrm>
          <a:prstGeom prst="rect">
            <a:avLst/>
          </a:prstGeom>
          <a:noFill/>
          <a:ln/>
        </p:spPr>
        <p:txBody>
          <a:bodyPr wrap="square" rtlCol="0" anchor="ctr"/>
          <a:lstStyle/>
          <a:p>
            <a:pPr marL="0" indent="0">
              <a:buNone/>
            </a:pPr>
            <a:r>
              <a:rPr lang="en-US" sz="1000" dirty="0">
                <a:solidFill>
                  <a:srgbClr val="1F5C99"/>
                </a:solidFill>
                <a:latin typeface="Courier New" pitchFamily="34" charset="0"/>
                <a:ea typeface="Courier New" pitchFamily="34" charset="-122"/>
                <a:cs typeface="Courier New" pitchFamily="34" charset="-120"/>
              </a:rPr>
              <a:t>150–200</a:t>
            </a:r>
            <a:endParaRPr lang="en-US" sz="1000" dirty="0"/>
          </a:p>
        </p:txBody>
      </p:sp>
      <p:sp>
        <p:nvSpPr>
          <p:cNvPr id="44" name="Text 42"/>
          <p:cNvSpPr/>
          <p:nvPr/>
        </p:nvSpPr>
        <p:spPr>
          <a:xfrm>
            <a:off x="4663440" y="3730752"/>
            <a:ext cx="2103120" cy="219456"/>
          </a:xfrm>
          <a:prstGeom prst="rect">
            <a:avLst/>
          </a:prstGeom>
          <a:noFill/>
          <a:ln/>
        </p:spPr>
        <p:txBody>
          <a:bodyPr wrap="square" rtlCol="0" anchor="ctr"/>
          <a:lstStyle/>
          <a:p>
            <a:pPr marL="0" indent="0">
              <a:buNone/>
            </a:pPr>
            <a:r>
              <a:rPr lang="en-US" sz="1000" b="1" dirty="0">
                <a:solidFill>
                  <a:srgbClr val="333333"/>
                </a:solidFill>
                <a:latin typeface="Courier New" pitchFamily="34" charset="0"/>
                <a:ea typeface="Courier New" pitchFamily="34" charset="-122"/>
                <a:cs typeface="Courier New" pitchFamily="34" charset="-120"/>
              </a:rPr>
              <a:t>no_repeat_ngram_size:</a:t>
            </a:r>
            <a:endParaRPr lang="en-US" sz="1000" dirty="0"/>
          </a:p>
        </p:txBody>
      </p:sp>
      <p:sp>
        <p:nvSpPr>
          <p:cNvPr id="45" name="Text 43"/>
          <p:cNvSpPr/>
          <p:nvPr/>
        </p:nvSpPr>
        <p:spPr>
          <a:xfrm>
            <a:off x="6766560" y="3730752"/>
            <a:ext cx="2011680" cy="219456"/>
          </a:xfrm>
          <a:prstGeom prst="rect">
            <a:avLst/>
          </a:prstGeom>
          <a:noFill/>
          <a:ln/>
        </p:spPr>
        <p:txBody>
          <a:bodyPr wrap="square" rtlCol="0" anchor="ctr"/>
          <a:lstStyle/>
          <a:p>
            <a:pPr marL="0" indent="0">
              <a:buNone/>
            </a:pPr>
            <a:r>
              <a:rPr lang="en-US" sz="1000" dirty="0">
                <a:solidFill>
                  <a:srgbClr val="1F5C99"/>
                </a:solidFill>
                <a:latin typeface="Courier New" pitchFamily="34" charset="0"/>
                <a:ea typeface="Courier New" pitchFamily="34" charset="-122"/>
                <a:cs typeface="Courier New" pitchFamily="34" charset="-120"/>
              </a:rPr>
              <a:t>3</a:t>
            </a:r>
            <a:endParaRPr lang="en-US" sz="1000" dirty="0"/>
          </a:p>
        </p:txBody>
      </p:sp>
      <p:sp>
        <p:nvSpPr>
          <p:cNvPr id="46" name="Text 44"/>
          <p:cNvSpPr/>
          <p:nvPr/>
        </p:nvSpPr>
        <p:spPr>
          <a:xfrm>
            <a:off x="4663440" y="3977640"/>
            <a:ext cx="2103120" cy="219456"/>
          </a:xfrm>
          <a:prstGeom prst="rect">
            <a:avLst/>
          </a:prstGeom>
          <a:noFill/>
          <a:ln/>
        </p:spPr>
        <p:txBody>
          <a:bodyPr wrap="square" rtlCol="0" anchor="ctr"/>
          <a:lstStyle/>
          <a:p>
            <a:pPr marL="0" indent="0">
              <a:buNone/>
            </a:pPr>
            <a:r>
              <a:rPr lang="en-US" sz="1000" b="1" dirty="0">
                <a:solidFill>
                  <a:srgbClr val="333333"/>
                </a:solidFill>
                <a:latin typeface="Courier New" pitchFamily="34" charset="0"/>
                <a:ea typeface="Courier New" pitchFamily="34" charset="-122"/>
                <a:cs typeface="Courier New" pitchFamily="34" charset="-120"/>
              </a:rPr>
              <a:t>memory_cap:</a:t>
            </a:r>
            <a:endParaRPr lang="en-US" sz="1000" dirty="0"/>
          </a:p>
        </p:txBody>
      </p:sp>
      <p:sp>
        <p:nvSpPr>
          <p:cNvPr id="47" name="Text 45"/>
          <p:cNvSpPr/>
          <p:nvPr/>
        </p:nvSpPr>
        <p:spPr>
          <a:xfrm>
            <a:off x="6766560" y="3977640"/>
            <a:ext cx="2011680" cy="219456"/>
          </a:xfrm>
          <a:prstGeom prst="rect">
            <a:avLst/>
          </a:prstGeom>
          <a:noFill/>
          <a:ln/>
        </p:spPr>
        <p:txBody>
          <a:bodyPr wrap="square" rtlCol="0" anchor="ctr"/>
          <a:lstStyle/>
          <a:p>
            <a:pPr marL="0" indent="0">
              <a:buNone/>
            </a:pPr>
            <a:r>
              <a:rPr lang="en-US" sz="1000" dirty="0">
                <a:solidFill>
                  <a:srgbClr val="1F5C99"/>
                </a:solidFill>
                <a:latin typeface="Courier New" pitchFamily="34" charset="0"/>
                <a:ea typeface="Courier New" pitchFamily="34" charset="-122"/>
                <a:cs typeface="Courier New" pitchFamily="34" charset="-120"/>
              </a:rPr>
              <a:t>150 words</a:t>
            </a:r>
            <a:endParaRPr lang="en-US" sz="1000" dirty="0"/>
          </a:p>
        </p:txBody>
      </p:sp>
      <p:sp>
        <p:nvSpPr>
          <p:cNvPr id="48" name="Text 46"/>
          <p:cNvSpPr/>
          <p:nvPr/>
        </p:nvSpPr>
        <p:spPr>
          <a:xfrm>
            <a:off x="4663440" y="4224528"/>
            <a:ext cx="2103120" cy="219456"/>
          </a:xfrm>
          <a:prstGeom prst="rect">
            <a:avLst/>
          </a:prstGeom>
          <a:noFill/>
          <a:ln/>
        </p:spPr>
        <p:txBody>
          <a:bodyPr wrap="square" rtlCol="0" anchor="ctr"/>
          <a:lstStyle/>
          <a:p>
            <a:pPr marL="0" indent="0">
              <a:buNone/>
            </a:pPr>
            <a:r>
              <a:rPr lang="en-US" sz="1000" b="1" dirty="0">
                <a:solidFill>
                  <a:srgbClr val="333333"/>
                </a:solidFill>
                <a:latin typeface="Courier New" pitchFamily="34" charset="0"/>
                <a:ea typeface="Courier New" pitchFamily="34" charset="-122"/>
                <a:cs typeface="Courier New" pitchFamily="34" charset="-120"/>
              </a:rPr>
              <a:t>tokenizer_max:</a:t>
            </a:r>
            <a:endParaRPr lang="en-US" sz="1000" dirty="0"/>
          </a:p>
        </p:txBody>
      </p:sp>
      <p:sp>
        <p:nvSpPr>
          <p:cNvPr id="49" name="Text 47"/>
          <p:cNvSpPr/>
          <p:nvPr/>
        </p:nvSpPr>
        <p:spPr>
          <a:xfrm>
            <a:off x="6766560" y="4224528"/>
            <a:ext cx="2011680" cy="219456"/>
          </a:xfrm>
          <a:prstGeom prst="rect">
            <a:avLst/>
          </a:prstGeom>
          <a:noFill/>
          <a:ln/>
        </p:spPr>
        <p:txBody>
          <a:bodyPr wrap="square" rtlCol="0" anchor="ctr"/>
          <a:lstStyle/>
          <a:p>
            <a:pPr marL="0" indent="0">
              <a:buNone/>
            </a:pPr>
            <a:r>
              <a:rPr lang="en-US" sz="1000" dirty="0">
                <a:solidFill>
                  <a:srgbClr val="1F5C99"/>
                </a:solidFill>
                <a:latin typeface="Courier New" pitchFamily="34" charset="0"/>
                <a:ea typeface="Courier New" pitchFamily="34" charset="-122"/>
                <a:cs typeface="Courier New" pitchFamily="34" charset="-120"/>
              </a:rPr>
              <a:t>512 tokens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0040" y="82296"/>
            <a:ext cx="8503920" cy="475488"/>
          </a:xfrm>
          <a:prstGeom prst="rect">
            <a:avLst/>
          </a:prstGeom>
          <a:noFill/>
          <a:ln/>
        </p:spPr>
        <p:txBody>
          <a:bodyPr wrap="square" rtlCol="0" anchor="ctr"/>
          <a:lstStyle/>
          <a:p>
            <a:pPr marL="0" indent="0">
              <a:buNone/>
            </a:pPr>
            <a:r>
              <a:rPr lang="en-US" sz="2200" b="1" dirty="0">
                <a:solidFill>
                  <a:srgbClr val="000000"/>
                </a:solidFill>
                <a:latin typeface="Calibri" pitchFamily="34" charset="0"/>
                <a:ea typeface="Calibri" pitchFamily="34" charset="-122"/>
                <a:cs typeface="Calibri" pitchFamily="34" charset="-120"/>
              </a:rPr>
              <a:t>System Architecture &amp; Pipeline</a:t>
            </a:r>
            <a:endParaRPr lang="en-US" sz="2200" dirty="0"/>
          </a:p>
        </p:txBody>
      </p:sp>
      <p:sp>
        <p:nvSpPr>
          <p:cNvPr id="3" name="Text 1"/>
          <p:cNvSpPr/>
          <p:nvPr/>
        </p:nvSpPr>
        <p:spPr>
          <a:xfrm>
            <a:off x="137160" y="4864608"/>
            <a:ext cx="320040" cy="182880"/>
          </a:xfrm>
          <a:prstGeom prst="rect">
            <a:avLst/>
          </a:prstGeom>
          <a:noFill/>
          <a:ln/>
        </p:spPr>
        <p:txBody>
          <a:bodyPr wrap="square" rtlCol="0" anchor="ctr"/>
          <a:lstStyle/>
          <a:p>
            <a:pPr marL="0" indent="0">
              <a:buNone/>
            </a:pPr>
            <a:r>
              <a:rPr lang="en-US" sz="1000" dirty="0">
                <a:solidFill>
                  <a:srgbClr val="666666"/>
                </a:solidFill>
                <a:latin typeface="Calibri" pitchFamily="34" charset="0"/>
                <a:ea typeface="Calibri" pitchFamily="34" charset="-122"/>
                <a:cs typeface="Calibri" pitchFamily="34" charset="-120"/>
              </a:rPr>
              <a:t>4</a:t>
            </a:r>
            <a:endParaRPr lang="en-US" sz="1000" dirty="0"/>
          </a:p>
        </p:txBody>
      </p:sp>
      <p:sp>
        <p:nvSpPr>
          <p:cNvPr id="4" name="Shape 2"/>
          <p:cNvSpPr/>
          <p:nvPr/>
        </p:nvSpPr>
        <p:spPr>
          <a:xfrm>
            <a:off x="320040" y="713232"/>
            <a:ext cx="1463040" cy="658368"/>
          </a:xfrm>
          <a:prstGeom prst="rect">
            <a:avLst/>
          </a:prstGeom>
          <a:solidFill>
            <a:srgbClr val="555555"/>
          </a:solidFill>
          <a:ln/>
        </p:spPr>
        <p:txBody>
          <a:bodyPr/>
          <a:lstStyle/>
          <a:p>
            <a:endParaRPr lang="en-IN"/>
          </a:p>
        </p:txBody>
      </p:sp>
      <p:sp>
        <p:nvSpPr>
          <p:cNvPr id="5" name="Text 3"/>
          <p:cNvSpPr/>
          <p:nvPr/>
        </p:nvSpPr>
        <p:spPr>
          <a:xfrm>
            <a:off x="320040" y="713232"/>
            <a:ext cx="1463040"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Meeting</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Transcript</a:t>
            </a:r>
            <a:endParaRPr lang="en-US" sz="1000" dirty="0"/>
          </a:p>
        </p:txBody>
      </p:sp>
      <p:sp>
        <p:nvSpPr>
          <p:cNvPr id="6" name="Shape 4"/>
          <p:cNvSpPr/>
          <p:nvPr/>
        </p:nvSpPr>
        <p:spPr>
          <a:xfrm>
            <a:off x="1837944" y="1005840"/>
            <a:ext cx="73152" cy="54864"/>
          </a:xfrm>
          <a:prstGeom prst="rect">
            <a:avLst/>
          </a:prstGeom>
          <a:solidFill>
            <a:srgbClr val="000000"/>
          </a:solidFill>
          <a:ln/>
        </p:spPr>
        <p:txBody>
          <a:bodyPr/>
          <a:lstStyle/>
          <a:p>
            <a:endParaRPr lang="en-IN"/>
          </a:p>
        </p:txBody>
      </p:sp>
      <p:sp>
        <p:nvSpPr>
          <p:cNvPr id="7" name="Shape 5"/>
          <p:cNvSpPr/>
          <p:nvPr/>
        </p:nvSpPr>
        <p:spPr>
          <a:xfrm>
            <a:off x="1911096" y="713232"/>
            <a:ext cx="1463040" cy="658368"/>
          </a:xfrm>
          <a:prstGeom prst="rect">
            <a:avLst/>
          </a:prstGeom>
          <a:solidFill>
            <a:srgbClr val="1F5C99"/>
          </a:solidFill>
          <a:ln/>
        </p:spPr>
        <p:txBody>
          <a:bodyPr/>
          <a:lstStyle/>
          <a:p>
            <a:endParaRPr lang="en-IN"/>
          </a:p>
        </p:txBody>
      </p:sp>
      <p:sp>
        <p:nvSpPr>
          <p:cNvPr id="8" name="Text 6"/>
          <p:cNvSpPr/>
          <p:nvPr/>
        </p:nvSpPr>
        <p:spPr>
          <a:xfrm>
            <a:off x="1911096" y="713232"/>
            <a:ext cx="1463040"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Speaker</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Parsing</a:t>
            </a:r>
            <a:endParaRPr lang="en-US" sz="1000" dirty="0"/>
          </a:p>
        </p:txBody>
      </p:sp>
      <p:sp>
        <p:nvSpPr>
          <p:cNvPr id="9" name="Shape 7"/>
          <p:cNvSpPr/>
          <p:nvPr/>
        </p:nvSpPr>
        <p:spPr>
          <a:xfrm>
            <a:off x="3429000" y="1005840"/>
            <a:ext cx="73152" cy="54864"/>
          </a:xfrm>
          <a:prstGeom prst="rect">
            <a:avLst/>
          </a:prstGeom>
          <a:solidFill>
            <a:srgbClr val="000000"/>
          </a:solidFill>
          <a:ln/>
        </p:spPr>
        <p:txBody>
          <a:bodyPr/>
          <a:lstStyle/>
          <a:p>
            <a:endParaRPr lang="en-IN"/>
          </a:p>
        </p:txBody>
      </p:sp>
      <p:sp>
        <p:nvSpPr>
          <p:cNvPr id="10" name="Shape 8"/>
          <p:cNvSpPr/>
          <p:nvPr/>
        </p:nvSpPr>
        <p:spPr>
          <a:xfrm>
            <a:off x="3502152" y="713232"/>
            <a:ext cx="1463040" cy="658368"/>
          </a:xfrm>
          <a:prstGeom prst="rect">
            <a:avLst/>
          </a:prstGeom>
          <a:solidFill>
            <a:srgbClr val="1F5C99"/>
          </a:solidFill>
          <a:ln/>
        </p:spPr>
        <p:txBody>
          <a:bodyPr/>
          <a:lstStyle/>
          <a:p>
            <a:endParaRPr lang="en-IN"/>
          </a:p>
        </p:txBody>
      </p:sp>
      <p:sp>
        <p:nvSpPr>
          <p:cNvPr id="11" name="Text 9"/>
          <p:cNvSpPr/>
          <p:nvPr/>
        </p:nvSpPr>
        <p:spPr>
          <a:xfrm>
            <a:off x="3502152" y="713232"/>
            <a:ext cx="1463040"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Chunking</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(120 words)</a:t>
            </a:r>
            <a:endParaRPr lang="en-US" sz="1000" dirty="0"/>
          </a:p>
        </p:txBody>
      </p:sp>
      <p:sp>
        <p:nvSpPr>
          <p:cNvPr id="12" name="Shape 10"/>
          <p:cNvSpPr/>
          <p:nvPr/>
        </p:nvSpPr>
        <p:spPr>
          <a:xfrm>
            <a:off x="5020056" y="1005840"/>
            <a:ext cx="73152" cy="54864"/>
          </a:xfrm>
          <a:prstGeom prst="rect">
            <a:avLst/>
          </a:prstGeom>
          <a:solidFill>
            <a:srgbClr val="000000"/>
          </a:solidFill>
          <a:ln/>
        </p:spPr>
        <p:txBody>
          <a:bodyPr/>
          <a:lstStyle/>
          <a:p>
            <a:endParaRPr lang="en-IN"/>
          </a:p>
        </p:txBody>
      </p:sp>
      <p:sp>
        <p:nvSpPr>
          <p:cNvPr id="13" name="Shape 11"/>
          <p:cNvSpPr/>
          <p:nvPr/>
        </p:nvSpPr>
        <p:spPr>
          <a:xfrm>
            <a:off x="5093208" y="713232"/>
            <a:ext cx="1463040" cy="658368"/>
          </a:xfrm>
          <a:prstGeom prst="rect">
            <a:avLst/>
          </a:prstGeom>
          <a:solidFill>
            <a:srgbClr val="1A7A5E"/>
          </a:solidFill>
          <a:ln/>
        </p:spPr>
        <p:txBody>
          <a:bodyPr/>
          <a:lstStyle/>
          <a:p>
            <a:endParaRPr lang="en-IN"/>
          </a:p>
        </p:txBody>
      </p:sp>
      <p:sp>
        <p:nvSpPr>
          <p:cNvPr id="14" name="Text 12"/>
          <p:cNvSpPr/>
          <p:nvPr/>
        </p:nvSpPr>
        <p:spPr>
          <a:xfrm>
            <a:off x="5093208" y="713232"/>
            <a:ext cx="1463040"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Recursive</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Memory M1</a:t>
            </a:r>
            <a:endParaRPr lang="en-US" sz="1000" dirty="0"/>
          </a:p>
        </p:txBody>
      </p:sp>
      <p:sp>
        <p:nvSpPr>
          <p:cNvPr id="15" name="Shape 13"/>
          <p:cNvSpPr/>
          <p:nvPr/>
        </p:nvSpPr>
        <p:spPr>
          <a:xfrm>
            <a:off x="6611112" y="1005840"/>
            <a:ext cx="73152" cy="54864"/>
          </a:xfrm>
          <a:prstGeom prst="rect">
            <a:avLst/>
          </a:prstGeom>
          <a:solidFill>
            <a:srgbClr val="000000"/>
          </a:solidFill>
          <a:ln/>
        </p:spPr>
        <p:txBody>
          <a:bodyPr/>
          <a:lstStyle/>
          <a:p>
            <a:endParaRPr lang="en-IN"/>
          </a:p>
        </p:txBody>
      </p:sp>
      <p:sp>
        <p:nvSpPr>
          <p:cNvPr id="16" name="Shape 14"/>
          <p:cNvSpPr/>
          <p:nvPr/>
        </p:nvSpPr>
        <p:spPr>
          <a:xfrm>
            <a:off x="6684264" y="713232"/>
            <a:ext cx="1463040" cy="658368"/>
          </a:xfrm>
          <a:prstGeom prst="rect">
            <a:avLst/>
          </a:prstGeom>
          <a:solidFill>
            <a:srgbClr val="B8860B"/>
          </a:solidFill>
          <a:ln/>
        </p:spPr>
        <p:txBody>
          <a:bodyPr/>
          <a:lstStyle/>
          <a:p>
            <a:endParaRPr lang="en-IN"/>
          </a:p>
        </p:txBody>
      </p:sp>
      <p:sp>
        <p:nvSpPr>
          <p:cNvPr id="17" name="Text 15"/>
          <p:cNvSpPr/>
          <p:nvPr/>
        </p:nvSpPr>
        <p:spPr>
          <a:xfrm>
            <a:off x="6684264" y="713232"/>
            <a:ext cx="1463040"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Persona</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Layer M2</a:t>
            </a:r>
            <a:endParaRPr lang="en-US" sz="1000" dirty="0"/>
          </a:p>
        </p:txBody>
      </p:sp>
      <p:sp>
        <p:nvSpPr>
          <p:cNvPr id="18" name="Shape 16"/>
          <p:cNvSpPr/>
          <p:nvPr/>
        </p:nvSpPr>
        <p:spPr>
          <a:xfrm>
            <a:off x="7397496" y="1645920"/>
            <a:ext cx="320040" cy="36576"/>
          </a:xfrm>
          <a:prstGeom prst="rect">
            <a:avLst/>
          </a:prstGeom>
          <a:solidFill>
            <a:srgbClr val="B8860B"/>
          </a:solidFill>
          <a:ln/>
        </p:spPr>
        <p:txBody>
          <a:bodyPr/>
          <a:lstStyle/>
          <a:p>
            <a:endParaRPr lang="en-IN"/>
          </a:p>
        </p:txBody>
      </p:sp>
      <p:sp>
        <p:nvSpPr>
          <p:cNvPr id="19" name="Shape 17"/>
          <p:cNvSpPr/>
          <p:nvPr/>
        </p:nvSpPr>
        <p:spPr>
          <a:xfrm>
            <a:off x="7717536" y="1426464"/>
            <a:ext cx="1188720" cy="475488"/>
          </a:xfrm>
          <a:prstGeom prst="rect">
            <a:avLst/>
          </a:prstGeom>
          <a:solidFill>
            <a:srgbClr val="1A7A5E"/>
          </a:solidFill>
          <a:ln/>
        </p:spPr>
        <p:txBody>
          <a:bodyPr/>
          <a:lstStyle/>
          <a:p>
            <a:endParaRPr lang="en-IN"/>
          </a:p>
        </p:txBody>
      </p:sp>
      <p:sp>
        <p:nvSpPr>
          <p:cNvPr id="20" name="Text 18"/>
          <p:cNvSpPr/>
          <p:nvPr/>
        </p:nvSpPr>
        <p:spPr>
          <a:xfrm>
            <a:off x="7717536" y="1426464"/>
            <a:ext cx="1188720" cy="475488"/>
          </a:xfrm>
          <a:prstGeom prst="rect">
            <a:avLst/>
          </a:prstGeom>
          <a:noFill/>
          <a:ln/>
        </p:spPr>
        <p:txBody>
          <a:bodyPr wrap="square"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[Manager]  Decisions · Owners · Deadlines</a:t>
            </a:r>
            <a:endParaRPr lang="en-US" sz="750" dirty="0"/>
          </a:p>
        </p:txBody>
      </p:sp>
      <p:sp>
        <p:nvSpPr>
          <p:cNvPr id="21" name="Shape 19"/>
          <p:cNvSpPr/>
          <p:nvPr/>
        </p:nvSpPr>
        <p:spPr>
          <a:xfrm>
            <a:off x="7397496" y="2359152"/>
            <a:ext cx="320040" cy="36576"/>
          </a:xfrm>
          <a:prstGeom prst="rect">
            <a:avLst/>
          </a:prstGeom>
          <a:solidFill>
            <a:srgbClr val="B8860B"/>
          </a:solidFill>
          <a:ln/>
        </p:spPr>
        <p:txBody>
          <a:bodyPr/>
          <a:lstStyle/>
          <a:p>
            <a:endParaRPr lang="en-IN"/>
          </a:p>
        </p:txBody>
      </p:sp>
      <p:sp>
        <p:nvSpPr>
          <p:cNvPr id="22" name="Shape 20"/>
          <p:cNvSpPr/>
          <p:nvPr/>
        </p:nvSpPr>
        <p:spPr>
          <a:xfrm>
            <a:off x="7717536" y="2139696"/>
            <a:ext cx="1188720" cy="475488"/>
          </a:xfrm>
          <a:prstGeom prst="rect">
            <a:avLst/>
          </a:prstGeom>
          <a:solidFill>
            <a:srgbClr val="1F5C99"/>
          </a:solidFill>
          <a:ln/>
        </p:spPr>
        <p:txBody>
          <a:bodyPr/>
          <a:lstStyle/>
          <a:p>
            <a:endParaRPr lang="en-IN"/>
          </a:p>
        </p:txBody>
      </p:sp>
      <p:sp>
        <p:nvSpPr>
          <p:cNvPr id="23" name="Text 21"/>
          <p:cNvSpPr/>
          <p:nvPr/>
        </p:nvSpPr>
        <p:spPr>
          <a:xfrm>
            <a:off x="7717536" y="2139696"/>
            <a:ext cx="1188720" cy="475488"/>
          </a:xfrm>
          <a:prstGeom prst="rect">
            <a:avLst/>
          </a:prstGeom>
          <a:noFill/>
          <a:ln/>
        </p:spPr>
        <p:txBody>
          <a:bodyPr wrap="square"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[Engineer]  Tasks · Tech · Blockers</a:t>
            </a:r>
            <a:endParaRPr lang="en-US" sz="750" dirty="0"/>
          </a:p>
        </p:txBody>
      </p:sp>
      <p:sp>
        <p:nvSpPr>
          <p:cNvPr id="24" name="Shape 22"/>
          <p:cNvSpPr/>
          <p:nvPr/>
        </p:nvSpPr>
        <p:spPr>
          <a:xfrm>
            <a:off x="7397496" y="3072384"/>
            <a:ext cx="320040" cy="36576"/>
          </a:xfrm>
          <a:prstGeom prst="rect">
            <a:avLst/>
          </a:prstGeom>
          <a:solidFill>
            <a:srgbClr val="B8860B"/>
          </a:solidFill>
          <a:ln/>
        </p:spPr>
        <p:txBody>
          <a:bodyPr/>
          <a:lstStyle/>
          <a:p>
            <a:endParaRPr lang="en-IN"/>
          </a:p>
        </p:txBody>
      </p:sp>
      <p:sp>
        <p:nvSpPr>
          <p:cNvPr id="25" name="Shape 23"/>
          <p:cNvSpPr/>
          <p:nvPr/>
        </p:nvSpPr>
        <p:spPr>
          <a:xfrm>
            <a:off x="7717536" y="2852928"/>
            <a:ext cx="1188720" cy="475488"/>
          </a:xfrm>
          <a:prstGeom prst="rect">
            <a:avLst/>
          </a:prstGeom>
          <a:solidFill>
            <a:srgbClr val="6B3A8C"/>
          </a:solidFill>
          <a:ln/>
        </p:spPr>
        <p:txBody>
          <a:bodyPr/>
          <a:lstStyle/>
          <a:p>
            <a:endParaRPr lang="en-IN"/>
          </a:p>
        </p:txBody>
      </p:sp>
      <p:sp>
        <p:nvSpPr>
          <p:cNvPr id="26" name="Text 24"/>
          <p:cNvSpPr/>
          <p:nvPr/>
        </p:nvSpPr>
        <p:spPr>
          <a:xfrm>
            <a:off x="7717536" y="2852928"/>
            <a:ext cx="1188720" cy="475488"/>
          </a:xfrm>
          <a:prstGeom prst="rect">
            <a:avLst/>
          </a:prstGeom>
          <a:noFill/>
          <a:ln/>
        </p:spPr>
        <p:txBody>
          <a:bodyPr wrap="square"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[Stakeholder]  Outcomes · Timeline · Client</a:t>
            </a:r>
            <a:endParaRPr lang="en-US" sz="750" dirty="0"/>
          </a:p>
        </p:txBody>
      </p:sp>
      <p:sp>
        <p:nvSpPr>
          <p:cNvPr id="27" name="Shape 25"/>
          <p:cNvSpPr/>
          <p:nvPr/>
        </p:nvSpPr>
        <p:spPr>
          <a:xfrm>
            <a:off x="320040" y="1481328"/>
            <a:ext cx="6858000" cy="749808"/>
          </a:xfrm>
          <a:prstGeom prst="rect">
            <a:avLst/>
          </a:prstGeom>
          <a:solidFill>
            <a:srgbClr val="FFF9E6"/>
          </a:solidFill>
          <a:ln w="19050">
            <a:solidFill>
              <a:srgbClr val="F5C300"/>
            </a:solidFill>
            <a:prstDash val="solid"/>
          </a:ln>
        </p:spPr>
        <p:txBody>
          <a:bodyPr/>
          <a:lstStyle/>
          <a:p>
            <a:endParaRPr lang="en-IN"/>
          </a:p>
        </p:txBody>
      </p:sp>
      <p:sp>
        <p:nvSpPr>
          <p:cNvPr id="28" name="Text 26"/>
          <p:cNvSpPr/>
          <p:nvPr/>
        </p:nvSpPr>
        <p:spPr>
          <a:xfrm>
            <a:off x="411480" y="1517904"/>
            <a:ext cx="6675120" cy="676656"/>
          </a:xfrm>
          <a:prstGeom prst="rect">
            <a:avLst/>
          </a:prstGeom>
          <a:noFill/>
          <a:ln/>
        </p:spPr>
        <p:txBody>
          <a:bodyPr wrap="square" rtlCol="0" anchor="ctr"/>
          <a:lstStyle/>
          <a:p>
            <a:pPr marL="0" indent="0">
              <a:buNone/>
            </a:pPr>
            <a:r>
              <a:rPr lang="en-US" sz="1100" b="1" dirty="0">
                <a:solidFill>
                  <a:srgbClr val="7A5C00"/>
                </a:solidFill>
                <a:latin typeface="Calibri" pitchFamily="34" charset="0"/>
                <a:ea typeface="Calibri" pitchFamily="34" charset="-122"/>
                <a:cs typeface="Calibri" pitchFamily="34" charset="-120"/>
              </a:rPr>
              <a:t>Key Fix (Method 2): </a:t>
            </a:r>
            <a:r>
              <a:rPr lang="en-US" sz="1100" dirty="0">
                <a:solidFill>
                  <a:srgbClr val="333333"/>
                </a:solidFill>
                <a:latin typeface="Calibri" pitchFamily="34" charset="0"/>
                <a:ea typeface="Calibri" pitchFamily="34" charset="-122"/>
                <a:cs typeface="Calibri" pitchFamily="34" charset="-120"/>
              </a:rPr>
              <a:t>v1 bug — passed generic Method 1 output to persona prompts → all 3 personas got identical summaries.</a:t>
            </a:r>
            <a:endParaRPr lang="en-US" sz="1100" dirty="0"/>
          </a:p>
          <a:p>
            <a:pPr marL="0" indent="0">
              <a:buNone/>
            </a:pPr>
            <a:r>
              <a:rPr lang="en-US" sz="1100" b="1" dirty="0">
                <a:solidFill>
                  <a:srgbClr val="1A7A5E"/>
                </a:solidFill>
                <a:latin typeface="Calibri" pitchFamily="34" charset="0"/>
                <a:ea typeface="Calibri" pitchFamily="34" charset="-122"/>
                <a:cs typeface="Calibri" pitchFamily="34" charset="-120"/>
              </a:rPr>
              <a:t>Fixed: </a:t>
            </a:r>
            <a:endParaRPr lang="en-US" sz="1100" dirty="0"/>
          </a:p>
          <a:p>
            <a:pPr marL="0" indent="0">
              <a:buNone/>
            </a:pPr>
            <a:r>
              <a:rPr lang="en-US" sz="1100" dirty="0">
                <a:solidFill>
                  <a:srgbClr val="333333"/>
                </a:solidFill>
                <a:latin typeface="Calibri" pitchFamily="34" charset="0"/>
                <a:ea typeface="Calibri" pitchFamily="34" charset="-122"/>
                <a:cs typeface="Calibri" pitchFamily="34" charset="-120"/>
              </a:rPr>
              <a:t>Two-step extraction runs directly on the FULL transcript. Each persona gets genuinely different facts.</a:t>
            </a:r>
            <a:endParaRPr lang="en-US" sz="1100" dirty="0"/>
          </a:p>
        </p:txBody>
      </p:sp>
      <p:sp>
        <p:nvSpPr>
          <p:cNvPr id="29" name="Shape 27"/>
          <p:cNvSpPr/>
          <p:nvPr/>
        </p:nvSpPr>
        <p:spPr>
          <a:xfrm>
            <a:off x="320040" y="2340864"/>
            <a:ext cx="6858000" cy="1207008"/>
          </a:xfrm>
          <a:prstGeom prst="rect">
            <a:avLst/>
          </a:prstGeom>
          <a:solidFill>
            <a:srgbClr val="2B2B2B"/>
          </a:solidFill>
          <a:ln w="6350">
            <a:solidFill>
              <a:srgbClr val="444444"/>
            </a:solidFill>
            <a:prstDash val="solid"/>
          </a:ln>
        </p:spPr>
        <p:txBody>
          <a:bodyPr/>
          <a:lstStyle/>
          <a:p>
            <a:endParaRPr lang="en-IN"/>
          </a:p>
        </p:txBody>
      </p:sp>
      <p:sp>
        <p:nvSpPr>
          <p:cNvPr id="30" name="Text 28"/>
          <p:cNvSpPr/>
          <p:nvPr/>
        </p:nvSpPr>
        <p:spPr>
          <a:xfrm>
            <a:off x="411480" y="2414016"/>
            <a:ext cx="6675120" cy="182880"/>
          </a:xfrm>
          <a:prstGeom prst="rect">
            <a:avLst/>
          </a:prstGeom>
          <a:noFill/>
          <a:ln/>
        </p:spPr>
        <p:txBody>
          <a:bodyPr wrap="square" rtlCol="0" anchor="ctr"/>
          <a:lstStyle/>
          <a:p>
            <a:pPr marL="0" indent="0">
              <a:buNone/>
            </a:pPr>
            <a:r>
              <a:rPr lang="en-US" sz="950" dirty="0">
                <a:solidFill>
                  <a:srgbClr val="6A9955"/>
                </a:solidFill>
                <a:latin typeface="Courier New" pitchFamily="34" charset="0"/>
                <a:ea typeface="Courier New" pitchFamily="34" charset="-122"/>
                <a:cs typeface="Courier New" pitchFamily="34" charset="-120"/>
              </a:rPr>
              <a:t># Step 1: Role-targeted fact extraction from FULL transcript</a:t>
            </a:r>
            <a:endParaRPr lang="en-US" sz="950" dirty="0"/>
          </a:p>
        </p:txBody>
      </p:sp>
      <p:sp>
        <p:nvSpPr>
          <p:cNvPr id="31" name="Text 29"/>
          <p:cNvSpPr/>
          <p:nvPr/>
        </p:nvSpPr>
        <p:spPr>
          <a:xfrm>
            <a:off x="411480" y="2615184"/>
            <a:ext cx="6675120" cy="182880"/>
          </a:xfrm>
          <a:prstGeom prst="rect">
            <a:avLst/>
          </a:prstGeom>
          <a:noFill/>
          <a:ln/>
        </p:spPr>
        <p:txBody>
          <a:bodyPr wrap="square" rtlCol="0" anchor="ctr"/>
          <a:lstStyle/>
          <a:p>
            <a:pPr marL="0" indent="0">
              <a:buNone/>
            </a:pPr>
            <a:r>
              <a:rPr lang="en-US" sz="950" dirty="0">
                <a:solidFill>
                  <a:srgbClr val="B0C4D8"/>
                </a:solidFill>
                <a:latin typeface="Courier New" pitchFamily="34" charset="0"/>
                <a:ea typeface="Courier New" pitchFamily="34" charset="-122"/>
                <a:cs typeface="Courier New" pitchFamily="34" charset="-120"/>
              </a:rPr>
              <a:t>extract_prompt = persona_extract_instruction + full_transcript</a:t>
            </a:r>
            <a:endParaRPr lang="en-US" sz="950" dirty="0"/>
          </a:p>
        </p:txBody>
      </p:sp>
      <p:sp>
        <p:nvSpPr>
          <p:cNvPr id="32" name="Text 30"/>
          <p:cNvSpPr/>
          <p:nvPr/>
        </p:nvSpPr>
        <p:spPr>
          <a:xfrm>
            <a:off x="411480" y="2816352"/>
            <a:ext cx="6675120" cy="182880"/>
          </a:xfrm>
          <a:prstGeom prst="rect">
            <a:avLst/>
          </a:prstGeom>
          <a:noFill/>
          <a:ln/>
        </p:spPr>
        <p:txBody>
          <a:bodyPr wrap="square" rtlCol="0" anchor="ctr"/>
          <a:lstStyle/>
          <a:p>
            <a:pPr marL="0" indent="0">
              <a:buNone/>
            </a:pPr>
            <a:r>
              <a:rPr lang="en-US" sz="950" dirty="0">
                <a:solidFill>
                  <a:srgbClr val="B0C4D8"/>
                </a:solidFill>
                <a:latin typeface="Courier New" pitchFamily="34" charset="0"/>
                <a:ea typeface="Courier New" pitchFamily="34" charset="-122"/>
                <a:cs typeface="Courier New" pitchFamily="34" charset="-120"/>
              </a:rPr>
              <a:t>extracted_facts = generate(extract_prompt, model, max_new_tokens=150)</a:t>
            </a:r>
            <a:endParaRPr lang="en-US" sz="950" dirty="0"/>
          </a:p>
        </p:txBody>
      </p:sp>
      <p:sp>
        <p:nvSpPr>
          <p:cNvPr id="33" name="Text 31"/>
          <p:cNvSpPr/>
          <p:nvPr/>
        </p:nvSpPr>
        <p:spPr>
          <a:xfrm>
            <a:off x="411480" y="3017520"/>
            <a:ext cx="6675120" cy="182880"/>
          </a:xfrm>
          <a:prstGeom prst="rect">
            <a:avLst/>
          </a:prstGeom>
          <a:noFill/>
          <a:ln/>
        </p:spPr>
        <p:txBody>
          <a:bodyPr wrap="square" rtlCol="0" anchor="ctr"/>
          <a:lstStyle/>
          <a:p>
            <a:pPr marL="0" indent="0">
              <a:buNone/>
            </a:pPr>
            <a:endParaRPr lang="en-US" sz="950" dirty="0"/>
          </a:p>
        </p:txBody>
      </p:sp>
      <p:sp>
        <p:nvSpPr>
          <p:cNvPr id="34" name="Text 32"/>
          <p:cNvSpPr/>
          <p:nvPr/>
        </p:nvSpPr>
        <p:spPr>
          <a:xfrm>
            <a:off x="411480" y="3218688"/>
            <a:ext cx="6675120" cy="182880"/>
          </a:xfrm>
          <a:prstGeom prst="rect">
            <a:avLst/>
          </a:prstGeom>
          <a:noFill/>
          <a:ln/>
        </p:spPr>
        <p:txBody>
          <a:bodyPr wrap="square" rtlCol="0" anchor="ctr"/>
          <a:lstStyle/>
          <a:p>
            <a:pPr marL="0" indent="0">
              <a:buNone/>
            </a:pPr>
            <a:r>
              <a:rPr lang="en-US" sz="950" dirty="0">
                <a:solidFill>
                  <a:srgbClr val="6A9955"/>
                </a:solidFill>
                <a:latin typeface="Courier New" pitchFamily="34" charset="0"/>
                <a:ea typeface="Courier New" pitchFamily="34" charset="-122"/>
                <a:cs typeface="Courier New" pitchFamily="34" charset="-120"/>
              </a:rPr>
              <a:t># Step 2: Synthesize clean role-targeted summary from extracted facts</a:t>
            </a:r>
            <a:endParaRPr lang="en-US" sz="950" dirty="0"/>
          </a:p>
        </p:txBody>
      </p:sp>
      <p:sp>
        <p:nvSpPr>
          <p:cNvPr id="35" name="Text 33"/>
          <p:cNvSpPr/>
          <p:nvPr/>
        </p:nvSpPr>
        <p:spPr>
          <a:xfrm>
            <a:off x="411480" y="3419856"/>
            <a:ext cx="6675120" cy="182880"/>
          </a:xfrm>
          <a:prstGeom prst="rect">
            <a:avLst/>
          </a:prstGeom>
          <a:noFill/>
          <a:ln/>
        </p:spPr>
        <p:txBody>
          <a:bodyPr wrap="square" rtlCol="0" anchor="ctr"/>
          <a:lstStyle/>
          <a:p>
            <a:pPr marL="0" indent="0">
              <a:buNone/>
            </a:pPr>
            <a:r>
              <a:rPr lang="en-US" sz="950" dirty="0">
                <a:solidFill>
                  <a:srgbClr val="B0C4D8"/>
                </a:solidFill>
                <a:latin typeface="Courier New" pitchFamily="34" charset="0"/>
                <a:ea typeface="Courier New" pitchFamily="34" charset="-122"/>
                <a:cs typeface="Courier New" pitchFamily="34" charset="-120"/>
              </a:rPr>
              <a:t>synth_prompt  = persona_synth_instruction + extracted_facts</a:t>
            </a:r>
            <a:endParaRPr lang="en-US" sz="950" dirty="0"/>
          </a:p>
        </p:txBody>
      </p:sp>
      <p:sp>
        <p:nvSpPr>
          <p:cNvPr id="36" name="Text 34"/>
          <p:cNvSpPr/>
          <p:nvPr/>
        </p:nvSpPr>
        <p:spPr>
          <a:xfrm>
            <a:off x="411480" y="3621024"/>
            <a:ext cx="6675120" cy="182880"/>
          </a:xfrm>
          <a:prstGeom prst="rect">
            <a:avLst/>
          </a:prstGeom>
          <a:noFill/>
          <a:ln/>
        </p:spPr>
        <p:txBody>
          <a:bodyPr wrap="square" rtlCol="0" anchor="ctr"/>
          <a:lstStyle/>
          <a:p>
            <a:pPr marL="0" indent="0">
              <a:buNone/>
            </a:pPr>
            <a:r>
              <a:rPr lang="en-US" sz="950" dirty="0">
                <a:solidFill>
                  <a:srgbClr val="B0C4D8"/>
                </a:solidFill>
                <a:latin typeface="Courier New" pitchFamily="34" charset="0"/>
                <a:ea typeface="Courier New" pitchFamily="34" charset="-122"/>
                <a:cs typeface="Courier New" pitchFamily="34" charset="-120"/>
              </a:rPr>
              <a:t>final_summary = generate(synth_prompt, model, max_new_tokens=120)</a:t>
            </a:r>
            <a:endParaRPr lang="en-US" sz="950" dirty="0"/>
          </a:p>
        </p:txBody>
      </p:sp>
      <p:sp>
        <p:nvSpPr>
          <p:cNvPr id="37" name="Shape 35"/>
          <p:cNvSpPr/>
          <p:nvPr/>
        </p:nvSpPr>
        <p:spPr>
          <a:xfrm>
            <a:off x="320040" y="3657600"/>
            <a:ext cx="8503920" cy="256032"/>
          </a:xfrm>
          <a:prstGeom prst="rect">
            <a:avLst/>
          </a:prstGeom>
          <a:solidFill>
            <a:srgbClr val="F5C300"/>
          </a:solidFill>
          <a:ln w="12700">
            <a:solidFill>
              <a:srgbClr val="F5C300"/>
            </a:solidFill>
            <a:prstDash val="solid"/>
          </a:ln>
        </p:spPr>
        <p:txBody>
          <a:bodyPr/>
          <a:lstStyle/>
          <a:p>
            <a:endParaRPr lang="en-IN"/>
          </a:p>
        </p:txBody>
      </p:sp>
      <p:sp>
        <p:nvSpPr>
          <p:cNvPr id="38" name="Text 36"/>
          <p:cNvSpPr/>
          <p:nvPr/>
        </p:nvSpPr>
        <p:spPr>
          <a:xfrm>
            <a:off x="320040" y="3657600"/>
            <a:ext cx="8503920" cy="256032"/>
          </a:xfrm>
          <a:prstGeom prst="rect">
            <a:avLst/>
          </a:prstGeom>
          <a:noFill/>
          <a:ln/>
        </p:spPr>
        <p:txBody>
          <a:bodyPr wrap="square" rtlCol="0" anchor="ctr"/>
          <a:lstStyle/>
          <a:p>
            <a:pPr marL="0" indent="0" algn="ctr">
              <a:buNone/>
            </a:pPr>
            <a:r>
              <a:rPr lang="en-US" sz="1000" b="1" dirty="0">
                <a:solidFill>
                  <a:srgbClr val="000000"/>
                </a:solidFill>
                <a:latin typeface="Calibri" pitchFamily="34" charset="0"/>
                <a:ea typeface="Calibri" pitchFamily="34" charset="-122"/>
                <a:cs typeface="Calibri" pitchFamily="34" charset="-120"/>
              </a:rPr>
              <a:t>Evaluation: ROUGE-1 / ROUGE-2 / ROUGE-L  ·  BERTScore F1 (distilbert-base-uncased)  ·  Human Rubric (3 raters, 4 dims, 1–5 Likert)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0040" y="82296"/>
            <a:ext cx="8503920" cy="475488"/>
          </a:xfrm>
          <a:prstGeom prst="rect">
            <a:avLst/>
          </a:prstGeom>
          <a:noFill/>
          <a:ln/>
        </p:spPr>
        <p:txBody>
          <a:bodyPr wrap="square" rtlCol="0" anchor="ctr"/>
          <a:lstStyle/>
          <a:p>
            <a:pPr marL="0" indent="0">
              <a:buNone/>
            </a:pPr>
            <a:r>
              <a:rPr lang="en-US" sz="2200" b="1" dirty="0">
                <a:solidFill>
                  <a:srgbClr val="000000"/>
                </a:solidFill>
                <a:latin typeface="Calibri" pitchFamily="34" charset="0"/>
                <a:ea typeface="Calibri" pitchFamily="34" charset="-122"/>
                <a:cs typeface="Calibri" pitchFamily="34" charset="-120"/>
              </a:rPr>
              <a:t>Baseline — Independent Chunk Summaries (No Memory)</a:t>
            </a:r>
            <a:endParaRPr lang="en-US" sz="2200" dirty="0"/>
          </a:p>
        </p:txBody>
      </p:sp>
      <p:sp>
        <p:nvSpPr>
          <p:cNvPr id="3" name="Text 1"/>
          <p:cNvSpPr/>
          <p:nvPr/>
        </p:nvSpPr>
        <p:spPr>
          <a:xfrm>
            <a:off x="137160" y="4864608"/>
            <a:ext cx="320040" cy="182880"/>
          </a:xfrm>
          <a:prstGeom prst="rect">
            <a:avLst/>
          </a:prstGeom>
          <a:noFill/>
          <a:ln/>
        </p:spPr>
        <p:txBody>
          <a:bodyPr wrap="square" rtlCol="0" anchor="ctr"/>
          <a:lstStyle/>
          <a:p>
            <a:pPr marL="0" indent="0">
              <a:buNone/>
            </a:pPr>
            <a:r>
              <a:rPr lang="en-US" sz="1000" dirty="0">
                <a:solidFill>
                  <a:srgbClr val="666666"/>
                </a:solidFill>
                <a:latin typeface="Calibri" pitchFamily="34" charset="0"/>
                <a:ea typeface="Calibri" pitchFamily="34" charset="-122"/>
                <a:cs typeface="Calibri" pitchFamily="34" charset="-120"/>
              </a:rPr>
              <a:t>5</a:t>
            </a:r>
            <a:endParaRPr lang="en-US" sz="1000" dirty="0"/>
          </a:p>
        </p:txBody>
      </p:sp>
      <p:sp>
        <p:nvSpPr>
          <p:cNvPr id="4" name="Shape 2"/>
          <p:cNvSpPr/>
          <p:nvPr/>
        </p:nvSpPr>
        <p:spPr>
          <a:xfrm>
            <a:off x="320040" y="676656"/>
            <a:ext cx="8503920" cy="329184"/>
          </a:xfrm>
          <a:prstGeom prst="rect">
            <a:avLst/>
          </a:prstGeom>
          <a:solidFill>
            <a:srgbClr val="FFF9E6"/>
          </a:solidFill>
          <a:ln w="12700">
            <a:solidFill>
              <a:srgbClr val="F5C300"/>
            </a:solidFill>
            <a:prstDash val="solid"/>
          </a:ln>
        </p:spPr>
        <p:txBody>
          <a:bodyPr/>
          <a:lstStyle/>
          <a:p>
            <a:endParaRPr lang="en-IN"/>
          </a:p>
        </p:txBody>
      </p:sp>
      <p:sp>
        <p:nvSpPr>
          <p:cNvPr id="5" name="Text 3"/>
          <p:cNvSpPr/>
          <p:nvPr/>
        </p:nvSpPr>
        <p:spPr>
          <a:xfrm>
            <a:off x="411480" y="676656"/>
            <a:ext cx="8321040" cy="329184"/>
          </a:xfrm>
          <a:prstGeom prst="rect">
            <a:avLst/>
          </a:prstGeom>
          <a:noFill/>
          <a:ln/>
        </p:spPr>
        <p:txBody>
          <a:bodyPr wrap="square" rtlCol="0" anchor="ctr"/>
          <a:lstStyle/>
          <a:p>
            <a:pPr marL="0" indent="0">
              <a:buNone/>
            </a:pPr>
            <a:r>
              <a:rPr lang="en-US" sz="1100" b="1" dirty="0">
                <a:solidFill>
                  <a:srgbClr val="333333"/>
                </a:solidFill>
                <a:latin typeface="Calibri" pitchFamily="34" charset="0"/>
                <a:ea typeface="Calibri" pitchFamily="34" charset="-122"/>
                <a:cs typeface="Calibri" pitchFamily="34" charset="-120"/>
              </a:rPr>
              <a:t>Approach: </a:t>
            </a:r>
            <a:r>
              <a:rPr lang="en-US" sz="1100" dirty="0">
                <a:solidFill>
                  <a:srgbClr val="333333"/>
                </a:solidFill>
                <a:latin typeface="Calibri" pitchFamily="34" charset="0"/>
                <a:ea typeface="Calibri" pitchFamily="34" charset="-122"/>
                <a:cs typeface="Calibri" pitchFamily="34" charset="-120"/>
              </a:rPr>
              <a:t>Prompt: "Summarize this meeting transcript in 2 sentences." — each chunk independent, no cross-chunk context passed.</a:t>
            </a:r>
            <a:endParaRPr lang="en-US" sz="1100" dirty="0"/>
          </a:p>
        </p:txBody>
      </p:sp>
      <p:sp>
        <p:nvSpPr>
          <p:cNvPr id="6" name="Shape 4"/>
          <p:cNvSpPr/>
          <p:nvPr/>
        </p:nvSpPr>
        <p:spPr>
          <a:xfrm>
            <a:off x="320040" y="1078992"/>
            <a:ext cx="2743200" cy="310896"/>
          </a:xfrm>
          <a:prstGeom prst="rect">
            <a:avLst/>
          </a:prstGeom>
          <a:solidFill>
            <a:srgbClr val="555555"/>
          </a:solidFill>
          <a:ln/>
        </p:spPr>
        <p:txBody>
          <a:bodyPr/>
          <a:lstStyle/>
          <a:p>
            <a:endParaRPr lang="en-IN"/>
          </a:p>
        </p:txBody>
      </p:sp>
      <p:sp>
        <p:nvSpPr>
          <p:cNvPr id="7" name="Text 5"/>
          <p:cNvSpPr/>
          <p:nvPr/>
        </p:nvSpPr>
        <p:spPr>
          <a:xfrm>
            <a:off x="320040" y="1078992"/>
            <a:ext cx="2743200" cy="31089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Chunk 1</a:t>
            </a:r>
            <a:endParaRPr lang="en-US" sz="1200" dirty="0"/>
          </a:p>
        </p:txBody>
      </p:sp>
      <p:sp>
        <p:nvSpPr>
          <p:cNvPr id="8" name="Shape 6"/>
          <p:cNvSpPr/>
          <p:nvPr/>
        </p:nvSpPr>
        <p:spPr>
          <a:xfrm>
            <a:off x="320040" y="1389888"/>
            <a:ext cx="2743200" cy="1243584"/>
          </a:xfrm>
          <a:prstGeom prst="rect">
            <a:avLst/>
          </a:prstGeom>
          <a:solidFill>
            <a:srgbClr val="F2F2F2"/>
          </a:solidFill>
          <a:ln w="6350">
            <a:solidFill>
              <a:srgbClr val="CCCCCC"/>
            </a:solidFill>
            <a:prstDash val="solid"/>
          </a:ln>
        </p:spPr>
        <p:txBody>
          <a:bodyPr/>
          <a:lstStyle/>
          <a:p>
            <a:endParaRPr lang="en-IN"/>
          </a:p>
        </p:txBody>
      </p:sp>
      <p:sp>
        <p:nvSpPr>
          <p:cNvPr id="9" name="Text 7"/>
          <p:cNvSpPr/>
          <p:nvPr/>
        </p:nvSpPr>
        <p:spPr>
          <a:xfrm>
            <a:off x="411480" y="1426464"/>
            <a:ext cx="2560320" cy="1170432"/>
          </a:xfrm>
          <a:prstGeom prst="rect">
            <a:avLst/>
          </a:prstGeom>
          <a:noFill/>
          <a:ln/>
        </p:spPr>
        <p:txBody>
          <a:bodyPr wrap="square" rtlCol="0" anchor="t"/>
          <a:lstStyle/>
          <a:p>
            <a:pPr marL="0" indent="0">
              <a:buNone/>
            </a:pPr>
            <a:r>
              <a:rPr lang="en-US" sz="1050" i="1" dirty="0">
                <a:solidFill>
                  <a:srgbClr val="333333"/>
                </a:solidFill>
                <a:latin typeface="Calibri" pitchFamily="34" charset="0"/>
                <a:ea typeface="Calibri" pitchFamily="34" charset="-122"/>
                <a:cs typeface="Calibri" pitchFamily="34" charset="-120"/>
              </a:rPr>
              <a:t>"Engineer A: We have a major bottleneck in the database layer. It'll take about two weeks to fix properly. The client is getting impatient."</a:t>
            </a:r>
            <a:endParaRPr lang="en-US" sz="1050" dirty="0"/>
          </a:p>
        </p:txBody>
      </p:sp>
      <p:sp>
        <p:nvSpPr>
          <p:cNvPr id="10" name="Shape 8"/>
          <p:cNvSpPr/>
          <p:nvPr/>
        </p:nvSpPr>
        <p:spPr>
          <a:xfrm>
            <a:off x="320040" y="2651760"/>
            <a:ext cx="2743200" cy="530352"/>
          </a:xfrm>
          <a:prstGeom prst="rect">
            <a:avLst/>
          </a:prstGeom>
          <a:solidFill>
            <a:srgbClr val="FFF0F0"/>
          </a:solidFill>
          <a:ln w="6350">
            <a:solidFill>
              <a:srgbClr val="FFAAAA"/>
            </a:solidFill>
            <a:prstDash val="solid"/>
          </a:ln>
        </p:spPr>
        <p:txBody>
          <a:bodyPr/>
          <a:lstStyle/>
          <a:p>
            <a:endParaRPr lang="en-IN"/>
          </a:p>
        </p:txBody>
      </p:sp>
      <p:sp>
        <p:nvSpPr>
          <p:cNvPr id="11" name="Text 9"/>
          <p:cNvSpPr/>
          <p:nvPr/>
        </p:nvSpPr>
        <p:spPr>
          <a:xfrm>
            <a:off x="411480" y="2670048"/>
            <a:ext cx="2560320" cy="493776"/>
          </a:xfrm>
          <a:prstGeom prst="rect">
            <a:avLst/>
          </a:prstGeom>
          <a:noFill/>
          <a:ln/>
        </p:spPr>
        <p:txBody>
          <a:bodyPr wrap="square" rtlCol="0" anchor="ctr"/>
          <a:lstStyle/>
          <a:p>
            <a:pPr marL="0" indent="0">
              <a:buNone/>
            </a:pPr>
            <a:r>
              <a:rPr lang="en-US" sz="1000" b="1" dirty="0">
                <a:solidFill>
                  <a:srgbClr val="CC0000"/>
                </a:solidFill>
                <a:latin typeface="Calibri" pitchFamily="34" charset="0"/>
                <a:ea typeface="Calibri" pitchFamily="34" charset="-122"/>
                <a:cs typeface="Calibri" pitchFamily="34" charset="-120"/>
              </a:rPr>
              <a:t>Issue: </a:t>
            </a:r>
            <a:r>
              <a:rPr lang="en-US" sz="1000" dirty="0">
                <a:solidFill>
                  <a:srgbClr val="333333"/>
                </a:solidFill>
                <a:latin typeface="Calibri" pitchFamily="34" charset="0"/>
                <a:ea typeface="Calibri" pitchFamily="34" charset="-122"/>
                <a:cs typeface="Calibri" pitchFamily="34" charset="-120"/>
              </a:rPr>
              <a:t>Missing: who owns it, no decision captured, no timeline context</a:t>
            </a:r>
            <a:endParaRPr lang="en-US" sz="1000" dirty="0"/>
          </a:p>
        </p:txBody>
      </p:sp>
      <p:sp>
        <p:nvSpPr>
          <p:cNvPr id="12" name="Shape 10"/>
          <p:cNvSpPr/>
          <p:nvPr/>
        </p:nvSpPr>
        <p:spPr>
          <a:xfrm>
            <a:off x="3227832" y="1078992"/>
            <a:ext cx="2743200" cy="310896"/>
          </a:xfrm>
          <a:prstGeom prst="rect">
            <a:avLst/>
          </a:prstGeom>
          <a:solidFill>
            <a:srgbClr val="555555"/>
          </a:solidFill>
          <a:ln/>
        </p:spPr>
        <p:txBody>
          <a:bodyPr/>
          <a:lstStyle/>
          <a:p>
            <a:endParaRPr lang="en-IN"/>
          </a:p>
        </p:txBody>
      </p:sp>
      <p:sp>
        <p:nvSpPr>
          <p:cNvPr id="13" name="Text 11"/>
          <p:cNvSpPr/>
          <p:nvPr/>
        </p:nvSpPr>
        <p:spPr>
          <a:xfrm>
            <a:off x="3227832" y="1078992"/>
            <a:ext cx="2743200" cy="31089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Chunk 2</a:t>
            </a:r>
            <a:endParaRPr lang="en-US" sz="1200" dirty="0"/>
          </a:p>
        </p:txBody>
      </p:sp>
      <p:sp>
        <p:nvSpPr>
          <p:cNvPr id="14" name="Shape 12"/>
          <p:cNvSpPr/>
          <p:nvPr/>
        </p:nvSpPr>
        <p:spPr>
          <a:xfrm>
            <a:off x="3227832" y="1389888"/>
            <a:ext cx="2743200" cy="1243584"/>
          </a:xfrm>
          <a:prstGeom prst="rect">
            <a:avLst/>
          </a:prstGeom>
          <a:solidFill>
            <a:srgbClr val="F2F2F2"/>
          </a:solidFill>
          <a:ln w="6350">
            <a:solidFill>
              <a:srgbClr val="CCCCCC"/>
            </a:solidFill>
            <a:prstDash val="solid"/>
          </a:ln>
        </p:spPr>
        <p:txBody>
          <a:bodyPr/>
          <a:lstStyle/>
          <a:p>
            <a:endParaRPr lang="en-IN"/>
          </a:p>
        </p:txBody>
      </p:sp>
      <p:sp>
        <p:nvSpPr>
          <p:cNvPr id="15" name="Text 13"/>
          <p:cNvSpPr/>
          <p:nvPr/>
        </p:nvSpPr>
        <p:spPr>
          <a:xfrm>
            <a:off x="3319272" y="1426464"/>
            <a:ext cx="2560320" cy="1170432"/>
          </a:xfrm>
          <a:prstGeom prst="rect">
            <a:avLst/>
          </a:prstGeom>
          <a:noFill/>
          <a:ln/>
        </p:spPr>
        <p:txBody>
          <a:bodyPr wrap="square" rtlCol="0" anchor="t"/>
          <a:lstStyle/>
          <a:p>
            <a:pPr marL="0" indent="0">
              <a:buNone/>
            </a:pPr>
            <a:r>
              <a:rPr lang="en-US" sz="1050" i="1" dirty="0">
                <a:solidFill>
                  <a:srgbClr val="333333"/>
                </a:solidFill>
                <a:latin typeface="Calibri" pitchFamily="34" charset="0"/>
                <a:ea typeface="Calibri" pitchFamily="34" charset="-122"/>
                <a:cs typeface="Calibri" pitchFamily="34" charset="-120"/>
              </a:rPr>
              <a:t>"Engineer A fixes the database bottleneck, Engineer B supports testing and prepares code review for Friday, Stakeholder emails the client."</a:t>
            </a:r>
            <a:endParaRPr lang="en-US" sz="1050" dirty="0"/>
          </a:p>
        </p:txBody>
      </p:sp>
      <p:sp>
        <p:nvSpPr>
          <p:cNvPr id="16" name="Shape 14"/>
          <p:cNvSpPr/>
          <p:nvPr/>
        </p:nvSpPr>
        <p:spPr>
          <a:xfrm>
            <a:off x="3227832" y="2651760"/>
            <a:ext cx="2743200" cy="530352"/>
          </a:xfrm>
          <a:prstGeom prst="rect">
            <a:avLst/>
          </a:prstGeom>
          <a:solidFill>
            <a:srgbClr val="FFF0F0"/>
          </a:solidFill>
          <a:ln w="6350">
            <a:solidFill>
              <a:srgbClr val="FFAAAA"/>
            </a:solidFill>
            <a:prstDash val="solid"/>
          </a:ln>
        </p:spPr>
        <p:txBody>
          <a:bodyPr/>
          <a:lstStyle/>
          <a:p>
            <a:endParaRPr lang="en-IN"/>
          </a:p>
        </p:txBody>
      </p:sp>
      <p:sp>
        <p:nvSpPr>
          <p:cNvPr id="17" name="Text 15"/>
          <p:cNvSpPr/>
          <p:nvPr/>
        </p:nvSpPr>
        <p:spPr>
          <a:xfrm>
            <a:off x="3319272" y="2670048"/>
            <a:ext cx="2560320" cy="493776"/>
          </a:xfrm>
          <a:prstGeom prst="rect">
            <a:avLst/>
          </a:prstGeom>
          <a:noFill/>
          <a:ln/>
        </p:spPr>
        <p:txBody>
          <a:bodyPr wrap="square" rtlCol="0" anchor="ctr"/>
          <a:lstStyle/>
          <a:p>
            <a:pPr marL="0" indent="0">
              <a:buNone/>
            </a:pPr>
            <a:r>
              <a:rPr lang="en-US" sz="1000" b="1" dirty="0">
                <a:solidFill>
                  <a:srgbClr val="CC0000"/>
                </a:solidFill>
                <a:latin typeface="Calibri" pitchFamily="34" charset="0"/>
                <a:ea typeface="Calibri" pitchFamily="34" charset="-122"/>
                <a:cs typeface="Calibri" pitchFamily="34" charset="-120"/>
              </a:rPr>
              <a:t>Issue: </a:t>
            </a:r>
            <a:r>
              <a:rPr lang="en-US" sz="1000" dirty="0">
                <a:solidFill>
                  <a:srgbClr val="333333"/>
                </a:solidFill>
                <a:latin typeface="Calibri" pitchFamily="34" charset="0"/>
                <a:ea typeface="Calibri" pitchFamily="34" charset="-122"/>
                <a:cs typeface="Calibri" pitchFamily="34" charset="-120"/>
              </a:rPr>
              <a:t>Raw action list — no causal link, no rationale, no deadline</a:t>
            </a:r>
            <a:endParaRPr lang="en-US" sz="1000" dirty="0"/>
          </a:p>
        </p:txBody>
      </p:sp>
      <p:sp>
        <p:nvSpPr>
          <p:cNvPr id="18" name="Shape 16"/>
          <p:cNvSpPr/>
          <p:nvPr/>
        </p:nvSpPr>
        <p:spPr>
          <a:xfrm>
            <a:off x="6135624" y="1078992"/>
            <a:ext cx="2743200" cy="310896"/>
          </a:xfrm>
          <a:prstGeom prst="rect">
            <a:avLst/>
          </a:prstGeom>
          <a:solidFill>
            <a:srgbClr val="555555"/>
          </a:solidFill>
          <a:ln/>
        </p:spPr>
        <p:txBody>
          <a:bodyPr/>
          <a:lstStyle/>
          <a:p>
            <a:endParaRPr lang="en-IN"/>
          </a:p>
        </p:txBody>
      </p:sp>
      <p:sp>
        <p:nvSpPr>
          <p:cNvPr id="19" name="Text 17"/>
          <p:cNvSpPr/>
          <p:nvPr/>
        </p:nvSpPr>
        <p:spPr>
          <a:xfrm>
            <a:off x="6135624" y="1078992"/>
            <a:ext cx="2743200" cy="31089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Chunk 3</a:t>
            </a:r>
            <a:endParaRPr lang="en-US" sz="1200" dirty="0"/>
          </a:p>
        </p:txBody>
      </p:sp>
      <p:sp>
        <p:nvSpPr>
          <p:cNvPr id="20" name="Shape 18"/>
          <p:cNvSpPr/>
          <p:nvPr/>
        </p:nvSpPr>
        <p:spPr>
          <a:xfrm>
            <a:off x="6135624" y="1389888"/>
            <a:ext cx="2743200" cy="1243584"/>
          </a:xfrm>
          <a:prstGeom prst="rect">
            <a:avLst/>
          </a:prstGeom>
          <a:solidFill>
            <a:srgbClr val="F2F2F2"/>
          </a:solidFill>
          <a:ln w="6350">
            <a:solidFill>
              <a:srgbClr val="CCCCCC"/>
            </a:solidFill>
            <a:prstDash val="solid"/>
          </a:ln>
        </p:spPr>
        <p:txBody>
          <a:bodyPr/>
          <a:lstStyle/>
          <a:p>
            <a:endParaRPr lang="en-IN"/>
          </a:p>
        </p:txBody>
      </p:sp>
      <p:sp>
        <p:nvSpPr>
          <p:cNvPr id="21" name="Text 19"/>
          <p:cNvSpPr/>
          <p:nvPr/>
        </p:nvSpPr>
        <p:spPr>
          <a:xfrm>
            <a:off x="6227064" y="1426464"/>
            <a:ext cx="2560320" cy="1170432"/>
          </a:xfrm>
          <a:prstGeom prst="rect">
            <a:avLst/>
          </a:prstGeom>
          <a:noFill/>
          <a:ln/>
        </p:spPr>
        <p:txBody>
          <a:bodyPr wrap="square" rtlCol="0" anchor="t"/>
          <a:lstStyle/>
          <a:p>
            <a:pPr marL="0" indent="0">
              <a:buNone/>
            </a:pPr>
            <a:r>
              <a:rPr lang="en-US" sz="1050" i="1" dirty="0">
                <a:solidFill>
                  <a:srgbClr val="333333"/>
                </a:solidFill>
                <a:latin typeface="Calibri" pitchFamily="34" charset="0"/>
                <a:ea typeface="Calibri" pitchFamily="34" charset="-122"/>
                <a:cs typeface="Calibri" pitchFamily="34" charset="-120"/>
              </a:rPr>
              <a:t>"A fixes the database bottleneck, Engineer B supports testing and prepares code review for Friday. OAuth2 or custom JWT?"</a:t>
            </a:r>
            <a:endParaRPr lang="en-US" sz="1050" dirty="0"/>
          </a:p>
        </p:txBody>
      </p:sp>
      <p:sp>
        <p:nvSpPr>
          <p:cNvPr id="22" name="Shape 20"/>
          <p:cNvSpPr/>
          <p:nvPr/>
        </p:nvSpPr>
        <p:spPr>
          <a:xfrm>
            <a:off x="6135624" y="2651760"/>
            <a:ext cx="2743200" cy="530352"/>
          </a:xfrm>
          <a:prstGeom prst="rect">
            <a:avLst/>
          </a:prstGeom>
          <a:solidFill>
            <a:srgbClr val="FFF0F0"/>
          </a:solidFill>
          <a:ln w="6350">
            <a:solidFill>
              <a:srgbClr val="FFAAAA"/>
            </a:solidFill>
            <a:prstDash val="solid"/>
          </a:ln>
        </p:spPr>
        <p:txBody>
          <a:bodyPr/>
          <a:lstStyle/>
          <a:p>
            <a:endParaRPr lang="en-IN"/>
          </a:p>
        </p:txBody>
      </p:sp>
      <p:sp>
        <p:nvSpPr>
          <p:cNvPr id="23" name="Text 21"/>
          <p:cNvSpPr/>
          <p:nvPr/>
        </p:nvSpPr>
        <p:spPr>
          <a:xfrm>
            <a:off x="6227064" y="2670048"/>
            <a:ext cx="2560320" cy="493776"/>
          </a:xfrm>
          <a:prstGeom prst="rect">
            <a:avLst/>
          </a:prstGeom>
          <a:noFill/>
          <a:ln/>
        </p:spPr>
        <p:txBody>
          <a:bodyPr wrap="square" rtlCol="0" anchor="ctr"/>
          <a:lstStyle/>
          <a:p>
            <a:pPr marL="0" indent="0">
              <a:buNone/>
            </a:pPr>
            <a:r>
              <a:rPr lang="en-US" sz="1000" b="1" dirty="0">
                <a:solidFill>
                  <a:srgbClr val="CC0000"/>
                </a:solidFill>
                <a:latin typeface="Calibri" pitchFamily="34" charset="0"/>
                <a:ea typeface="Calibri" pitchFamily="34" charset="-122"/>
                <a:cs typeface="Calibri" pitchFamily="34" charset="-120"/>
              </a:rPr>
              <a:t>Issue: </a:t>
            </a:r>
            <a:r>
              <a:rPr lang="en-US" sz="1000" dirty="0">
                <a:solidFill>
                  <a:srgbClr val="333333"/>
                </a:solidFill>
                <a:latin typeface="Calibri" pitchFamily="34" charset="0"/>
                <a:ea typeface="Calibri" pitchFamily="34" charset="-122"/>
                <a:cs typeface="Calibri" pitchFamily="34" charset="-120"/>
              </a:rPr>
              <a:t>Duplicate of chunk 2 + verbatim fragment — no actual summary</a:t>
            </a:r>
            <a:endParaRPr lang="en-US" sz="1000" dirty="0"/>
          </a:p>
        </p:txBody>
      </p:sp>
      <p:sp>
        <p:nvSpPr>
          <p:cNvPr id="24" name="Shape 22"/>
          <p:cNvSpPr/>
          <p:nvPr/>
        </p:nvSpPr>
        <p:spPr>
          <a:xfrm>
            <a:off x="320040" y="3273552"/>
            <a:ext cx="8503920" cy="694944"/>
          </a:xfrm>
          <a:prstGeom prst="rect">
            <a:avLst/>
          </a:prstGeom>
          <a:solidFill>
            <a:srgbClr val="F2F2F2"/>
          </a:solidFill>
          <a:ln w="6350">
            <a:solidFill>
              <a:srgbClr val="CCCCCC"/>
            </a:solidFill>
            <a:prstDash val="solid"/>
          </a:ln>
        </p:spPr>
        <p:txBody>
          <a:bodyPr/>
          <a:lstStyle/>
          <a:p>
            <a:endParaRPr lang="en-IN"/>
          </a:p>
        </p:txBody>
      </p:sp>
      <p:sp>
        <p:nvSpPr>
          <p:cNvPr id="25" name="Text 23"/>
          <p:cNvSpPr/>
          <p:nvPr/>
        </p:nvSpPr>
        <p:spPr>
          <a:xfrm>
            <a:off x="411480" y="3328416"/>
            <a:ext cx="2560320" cy="219456"/>
          </a:xfrm>
          <a:prstGeom prst="rect">
            <a:avLst/>
          </a:prstGeom>
          <a:noFill/>
          <a:ln/>
        </p:spPr>
        <p:txBody>
          <a:bodyPr wrap="square" rtlCol="0" anchor="ctr"/>
          <a:lstStyle/>
          <a:p>
            <a:pPr marL="0" indent="0">
              <a:buNone/>
            </a:pPr>
            <a:r>
              <a:rPr lang="en-US" sz="1100" b="1" dirty="0">
                <a:solidFill>
                  <a:srgbClr val="000000"/>
                </a:solidFill>
                <a:latin typeface="Calibri" pitchFamily="34" charset="0"/>
                <a:ea typeface="Calibri" pitchFamily="34" charset="-122"/>
                <a:cs typeface="Calibri" pitchFamily="34" charset="-120"/>
              </a:rPr>
              <a:t>Avg ROUGE (15 meetings, 3 models):</a:t>
            </a:r>
            <a:endParaRPr lang="en-US" sz="1100" dirty="0"/>
          </a:p>
        </p:txBody>
      </p:sp>
      <p:sp>
        <p:nvSpPr>
          <p:cNvPr id="26" name="Text 24"/>
          <p:cNvSpPr/>
          <p:nvPr/>
        </p:nvSpPr>
        <p:spPr>
          <a:xfrm>
            <a:off x="411480" y="3566160"/>
            <a:ext cx="8229600" cy="182880"/>
          </a:xfrm>
          <a:prstGeom prst="rect">
            <a:avLst/>
          </a:prstGeom>
          <a:noFill/>
          <a:ln/>
        </p:spPr>
        <p:txBody>
          <a:bodyPr wrap="square" rtlCol="0" anchor="ctr"/>
          <a:lstStyle/>
          <a:p>
            <a:pPr marL="0" indent="0">
              <a:buNone/>
            </a:pPr>
            <a:r>
              <a:rPr lang="en-US" sz="1050" dirty="0">
                <a:solidFill>
                  <a:srgbClr val="1F5C99"/>
                </a:solidFill>
                <a:latin typeface="Calibri" pitchFamily="34" charset="0"/>
                <a:ea typeface="Calibri" pitchFamily="34" charset="-122"/>
                <a:cs typeface="Calibri" pitchFamily="34" charset="-120"/>
              </a:rPr>
              <a:t>DistilBART  R1:0.227  R2:0.072  RL:0.160  BERTScore:0.774</a:t>
            </a:r>
            <a:endParaRPr lang="en-US" sz="1050" dirty="0"/>
          </a:p>
        </p:txBody>
      </p:sp>
      <p:sp>
        <p:nvSpPr>
          <p:cNvPr id="27" name="Text 25"/>
          <p:cNvSpPr/>
          <p:nvPr/>
        </p:nvSpPr>
        <p:spPr>
          <a:xfrm>
            <a:off x="411480" y="3767328"/>
            <a:ext cx="8229600" cy="182880"/>
          </a:xfrm>
          <a:prstGeom prst="rect">
            <a:avLst/>
          </a:prstGeom>
          <a:noFill/>
          <a:ln/>
        </p:spPr>
        <p:txBody>
          <a:bodyPr wrap="square" rtlCol="0" anchor="ctr"/>
          <a:lstStyle/>
          <a:p>
            <a:pPr marL="0" indent="0">
              <a:buNone/>
            </a:pPr>
            <a:r>
              <a:rPr lang="en-US" sz="1000" dirty="0">
                <a:solidFill>
                  <a:srgbClr val="666666"/>
                </a:solidFill>
                <a:latin typeface="Calibri" pitchFamily="34" charset="0"/>
                <a:ea typeface="Calibri" pitchFamily="34" charset="-122"/>
                <a:cs typeface="Calibri" pitchFamily="34" charset="-120"/>
              </a:rPr>
              <a:t>Flan-T5  R1:0.247  R2:0.057  RL:0.168  BS:0.763     |     PEGASUS  R1:0.159  R2:0.013  RL:0.107  BS:0.715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0040" y="82296"/>
            <a:ext cx="8503920" cy="475488"/>
          </a:xfrm>
          <a:prstGeom prst="rect">
            <a:avLst/>
          </a:prstGeom>
          <a:noFill/>
          <a:ln/>
        </p:spPr>
        <p:txBody>
          <a:bodyPr wrap="square" rtlCol="0" anchor="ctr"/>
          <a:lstStyle/>
          <a:p>
            <a:pPr marL="0" indent="0">
              <a:buNone/>
            </a:pPr>
            <a:r>
              <a:rPr lang="en-US" sz="2200" b="1" dirty="0">
                <a:solidFill>
                  <a:srgbClr val="000000"/>
                </a:solidFill>
                <a:latin typeface="Calibri" pitchFamily="34" charset="0"/>
                <a:ea typeface="Calibri" pitchFamily="34" charset="-122"/>
                <a:cs typeface="Calibri" pitchFamily="34" charset="-120"/>
              </a:rPr>
              <a:t>Method 1 — Recursive Memory Summarization</a:t>
            </a:r>
            <a:endParaRPr lang="en-US" sz="2200" dirty="0"/>
          </a:p>
        </p:txBody>
      </p:sp>
      <p:sp>
        <p:nvSpPr>
          <p:cNvPr id="3" name="Text 1"/>
          <p:cNvSpPr/>
          <p:nvPr/>
        </p:nvSpPr>
        <p:spPr>
          <a:xfrm>
            <a:off x="137160" y="4864608"/>
            <a:ext cx="320040" cy="182880"/>
          </a:xfrm>
          <a:prstGeom prst="rect">
            <a:avLst/>
          </a:prstGeom>
          <a:noFill/>
          <a:ln/>
        </p:spPr>
        <p:txBody>
          <a:bodyPr wrap="square" rtlCol="0" anchor="ctr"/>
          <a:lstStyle/>
          <a:p>
            <a:pPr marL="0" indent="0">
              <a:buNone/>
            </a:pPr>
            <a:r>
              <a:rPr lang="en-US" sz="1000" dirty="0">
                <a:solidFill>
                  <a:srgbClr val="666666"/>
                </a:solidFill>
                <a:latin typeface="Calibri" pitchFamily="34" charset="0"/>
                <a:ea typeface="Calibri" pitchFamily="34" charset="-122"/>
                <a:cs typeface="Calibri" pitchFamily="34" charset="-120"/>
              </a:rPr>
              <a:t>6</a:t>
            </a:r>
            <a:endParaRPr lang="en-US" sz="1000" dirty="0"/>
          </a:p>
        </p:txBody>
      </p:sp>
      <p:sp>
        <p:nvSpPr>
          <p:cNvPr id="4" name="Shape 2"/>
          <p:cNvSpPr/>
          <p:nvPr/>
        </p:nvSpPr>
        <p:spPr>
          <a:xfrm>
            <a:off x="1371600" y="676656"/>
            <a:ext cx="6400800" cy="438912"/>
          </a:xfrm>
          <a:prstGeom prst="rect">
            <a:avLst/>
          </a:prstGeom>
          <a:solidFill>
            <a:srgbClr val="2B2B2B"/>
          </a:solidFill>
          <a:ln/>
        </p:spPr>
        <p:txBody>
          <a:bodyPr/>
          <a:lstStyle/>
          <a:p>
            <a:endParaRPr lang="en-IN"/>
          </a:p>
        </p:txBody>
      </p:sp>
      <p:sp>
        <p:nvSpPr>
          <p:cNvPr id="5" name="Text 3"/>
          <p:cNvSpPr/>
          <p:nvPr/>
        </p:nvSpPr>
        <p:spPr>
          <a:xfrm>
            <a:off x="1371600" y="676656"/>
            <a:ext cx="6400800" cy="438912"/>
          </a:xfrm>
          <a:prstGeom prst="rect">
            <a:avLst/>
          </a:prstGeom>
          <a:noFill/>
          <a:ln/>
        </p:spPr>
        <p:txBody>
          <a:bodyPr wrap="square" rtlCol="0" anchor="ctr"/>
          <a:lstStyle/>
          <a:p>
            <a:pPr marL="0" indent="0" algn="ctr">
              <a:buNone/>
            </a:pPr>
            <a:r>
              <a:rPr lang="en-US" sz="1300" b="1" dirty="0">
                <a:solidFill>
                  <a:srgbClr val="F5C300"/>
                </a:solidFill>
                <a:latin typeface="Courier New" pitchFamily="34" charset="0"/>
                <a:ea typeface="Courier New" pitchFamily="34" charset="-122"/>
                <a:cs typeface="Courier New" pitchFamily="34" charset="-120"/>
              </a:rPr>
              <a:t>memory_t  =  summarize( memory_{t-1}  +  chunk_t )    |    cap: 150 words</a:t>
            </a:r>
            <a:endParaRPr lang="en-US" sz="1300" dirty="0"/>
          </a:p>
        </p:txBody>
      </p:sp>
      <p:sp>
        <p:nvSpPr>
          <p:cNvPr id="6" name="Shape 4"/>
          <p:cNvSpPr/>
          <p:nvPr/>
        </p:nvSpPr>
        <p:spPr>
          <a:xfrm>
            <a:off x="274320" y="1225296"/>
            <a:ext cx="2834640" cy="310896"/>
          </a:xfrm>
          <a:prstGeom prst="rect">
            <a:avLst/>
          </a:prstGeom>
          <a:solidFill>
            <a:srgbClr val="888888"/>
          </a:solidFill>
          <a:ln/>
        </p:spPr>
        <p:txBody>
          <a:bodyPr/>
          <a:lstStyle/>
          <a:p>
            <a:endParaRPr lang="en-IN"/>
          </a:p>
        </p:txBody>
      </p:sp>
      <p:sp>
        <p:nvSpPr>
          <p:cNvPr id="7" name="Text 5"/>
          <p:cNvSpPr/>
          <p:nvPr/>
        </p:nvSpPr>
        <p:spPr>
          <a:xfrm>
            <a:off x="274320" y="1225296"/>
            <a:ext cx="2834640" cy="31089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After Chunk 1</a:t>
            </a:r>
            <a:endParaRPr lang="en-US" sz="1200" dirty="0"/>
          </a:p>
        </p:txBody>
      </p:sp>
      <p:sp>
        <p:nvSpPr>
          <p:cNvPr id="8" name="Shape 6"/>
          <p:cNvSpPr/>
          <p:nvPr/>
        </p:nvSpPr>
        <p:spPr>
          <a:xfrm>
            <a:off x="274320" y="1536192"/>
            <a:ext cx="2834640" cy="1481328"/>
          </a:xfrm>
          <a:prstGeom prst="rect">
            <a:avLst/>
          </a:prstGeom>
          <a:solidFill>
            <a:srgbClr val="F2F2F2"/>
          </a:solidFill>
          <a:ln w="6350">
            <a:solidFill>
              <a:srgbClr val="CCCCCC"/>
            </a:solidFill>
            <a:prstDash val="solid"/>
          </a:ln>
        </p:spPr>
        <p:txBody>
          <a:bodyPr/>
          <a:lstStyle/>
          <a:p>
            <a:endParaRPr lang="en-IN"/>
          </a:p>
        </p:txBody>
      </p:sp>
      <p:sp>
        <p:nvSpPr>
          <p:cNvPr id="9" name="Text 7"/>
          <p:cNvSpPr/>
          <p:nvPr/>
        </p:nvSpPr>
        <p:spPr>
          <a:xfrm>
            <a:off x="365760" y="1572768"/>
            <a:ext cx="2651760" cy="1408176"/>
          </a:xfrm>
          <a:prstGeom prst="rect">
            <a:avLst/>
          </a:prstGeom>
          <a:noFill/>
          <a:ln/>
        </p:spPr>
        <p:txBody>
          <a:bodyPr wrap="square" rtlCol="0" anchor="t"/>
          <a:lstStyle/>
          <a:p>
            <a:pPr marL="0" indent="0">
              <a:buNone/>
            </a:pPr>
            <a:r>
              <a:rPr lang="en-US" sz="1100" i="1" dirty="0">
                <a:solidFill>
                  <a:srgbClr val="333333"/>
                </a:solidFill>
                <a:latin typeface="Calibri" pitchFamily="34" charset="0"/>
                <a:ea typeface="Calibri" pitchFamily="34" charset="-122"/>
                <a:cs typeface="Calibri" pitchFamily="34" charset="-120"/>
              </a:rPr>
              <a:t>"Engineer A and Engineer B are working on the Q3 roadmap. There is a database bottleneck that will take 2 weeks to fix."</a:t>
            </a:r>
            <a:endParaRPr lang="en-US" sz="1100" dirty="0"/>
          </a:p>
        </p:txBody>
      </p:sp>
      <p:sp>
        <p:nvSpPr>
          <p:cNvPr id="10" name="Text 8"/>
          <p:cNvSpPr/>
          <p:nvPr/>
        </p:nvSpPr>
        <p:spPr>
          <a:xfrm>
            <a:off x="3072384" y="2157984"/>
            <a:ext cx="173736" cy="274320"/>
          </a:xfrm>
          <a:prstGeom prst="rect">
            <a:avLst/>
          </a:prstGeom>
          <a:noFill/>
          <a:ln/>
        </p:spPr>
        <p:txBody>
          <a:bodyPr wrap="square" rtlCol="0" anchor="ctr"/>
          <a:lstStyle/>
          <a:p>
            <a:pPr marL="0" indent="0" algn="ctr">
              <a:buNone/>
            </a:pPr>
            <a:r>
              <a:rPr lang="en-US" sz="1600" b="1" dirty="0">
                <a:solidFill>
                  <a:srgbClr val="000000"/>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3246120" y="1225296"/>
            <a:ext cx="2834640" cy="310896"/>
          </a:xfrm>
          <a:prstGeom prst="rect">
            <a:avLst/>
          </a:prstGeom>
          <a:solidFill>
            <a:srgbClr val="1F5C99"/>
          </a:solidFill>
          <a:ln/>
        </p:spPr>
        <p:txBody>
          <a:bodyPr/>
          <a:lstStyle/>
          <a:p>
            <a:endParaRPr lang="en-IN"/>
          </a:p>
        </p:txBody>
      </p:sp>
      <p:sp>
        <p:nvSpPr>
          <p:cNvPr id="12" name="Text 10"/>
          <p:cNvSpPr/>
          <p:nvPr/>
        </p:nvSpPr>
        <p:spPr>
          <a:xfrm>
            <a:off x="3246120" y="1225296"/>
            <a:ext cx="2834640" cy="31089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After Chunk 2</a:t>
            </a:r>
            <a:endParaRPr lang="en-US" sz="1200" dirty="0"/>
          </a:p>
        </p:txBody>
      </p:sp>
      <p:sp>
        <p:nvSpPr>
          <p:cNvPr id="13" name="Shape 11"/>
          <p:cNvSpPr/>
          <p:nvPr/>
        </p:nvSpPr>
        <p:spPr>
          <a:xfrm>
            <a:off x="3246120" y="1536192"/>
            <a:ext cx="2834640" cy="1481328"/>
          </a:xfrm>
          <a:prstGeom prst="rect">
            <a:avLst/>
          </a:prstGeom>
          <a:solidFill>
            <a:srgbClr val="F2F2F2"/>
          </a:solidFill>
          <a:ln w="6350">
            <a:solidFill>
              <a:srgbClr val="CCCCCC"/>
            </a:solidFill>
            <a:prstDash val="solid"/>
          </a:ln>
        </p:spPr>
        <p:txBody>
          <a:bodyPr/>
          <a:lstStyle/>
          <a:p>
            <a:endParaRPr lang="en-IN"/>
          </a:p>
        </p:txBody>
      </p:sp>
      <p:sp>
        <p:nvSpPr>
          <p:cNvPr id="14" name="Text 12"/>
          <p:cNvSpPr/>
          <p:nvPr/>
        </p:nvSpPr>
        <p:spPr>
          <a:xfrm>
            <a:off x="3337560" y="1572768"/>
            <a:ext cx="2651760" cy="1408176"/>
          </a:xfrm>
          <a:prstGeom prst="rect">
            <a:avLst/>
          </a:prstGeom>
          <a:noFill/>
          <a:ln/>
        </p:spPr>
        <p:txBody>
          <a:bodyPr wrap="square" rtlCol="0" anchor="t"/>
          <a:lstStyle/>
          <a:p>
            <a:pPr marL="0" indent="0">
              <a:buNone/>
            </a:pPr>
            <a:r>
              <a:rPr lang="en-US" sz="1100" i="1" dirty="0">
                <a:solidFill>
                  <a:srgbClr val="333333"/>
                </a:solidFill>
                <a:latin typeface="Calibri" pitchFamily="34" charset="0"/>
                <a:ea typeface="Calibri" pitchFamily="34" charset="-122"/>
                <a:cs typeface="Calibri" pitchFamily="34" charset="-120"/>
              </a:rPr>
              <a:t>"The team prioritized the database fix (Eng A, starting tomorrow). Engineer B handles testing and code review Friday. Project on Q3 track."</a:t>
            </a:r>
            <a:endParaRPr lang="en-US" sz="1100" dirty="0"/>
          </a:p>
        </p:txBody>
      </p:sp>
      <p:sp>
        <p:nvSpPr>
          <p:cNvPr id="15" name="Text 13"/>
          <p:cNvSpPr/>
          <p:nvPr/>
        </p:nvSpPr>
        <p:spPr>
          <a:xfrm>
            <a:off x="6044184" y="2157984"/>
            <a:ext cx="173736" cy="274320"/>
          </a:xfrm>
          <a:prstGeom prst="rect">
            <a:avLst/>
          </a:prstGeom>
          <a:noFill/>
          <a:ln/>
        </p:spPr>
        <p:txBody>
          <a:bodyPr wrap="square" rtlCol="0" anchor="ctr"/>
          <a:lstStyle/>
          <a:p>
            <a:pPr marL="0" indent="0" algn="ctr">
              <a:buNone/>
            </a:pPr>
            <a:r>
              <a:rPr lang="en-US" sz="1600" b="1" dirty="0">
                <a:solidFill>
                  <a:srgbClr val="000000"/>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6217920" y="1225296"/>
            <a:ext cx="2834640" cy="310896"/>
          </a:xfrm>
          <a:prstGeom prst="rect">
            <a:avLst/>
          </a:prstGeom>
          <a:solidFill>
            <a:srgbClr val="1A7A5E"/>
          </a:solidFill>
          <a:ln/>
        </p:spPr>
        <p:txBody>
          <a:bodyPr/>
          <a:lstStyle/>
          <a:p>
            <a:endParaRPr lang="en-IN"/>
          </a:p>
        </p:txBody>
      </p:sp>
      <p:sp>
        <p:nvSpPr>
          <p:cNvPr id="17" name="Text 15"/>
          <p:cNvSpPr/>
          <p:nvPr/>
        </p:nvSpPr>
        <p:spPr>
          <a:xfrm>
            <a:off x="6217920" y="1225296"/>
            <a:ext cx="2834640" cy="31089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Final (Chunk 5)</a:t>
            </a:r>
            <a:endParaRPr lang="en-US" sz="1200" dirty="0"/>
          </a:p>
        </p:txBody>
      </p:sp>
      <p:sp>
        <p:nvSpPr>
          <p:cNvPr id="18" name="Shape 16"/>
          <p:cNvSpPr/>
          <p:nvPr/>
        </p:nvSpPr>
        <p:spPr>
          <a:xfrm>
            <a:off x="6217920" y="1536192"/>
            <a:ext cx="2834640" cy="1481328"/>
          </a:xfrm>
          <a:prstGeom prst="rect">
            <a:avLst/>
          </a:prstGeom>
          <a:solidFill>
            <a:srgbClr val="F2F2F2"/>
          </a:solidFill>
          <a:ln w="6350">
            <a:solidFill>
              <a:srgbClr val="CCCCCC"/>
            </a:solidFill>
            <a:prstDash val="solid"/>
          </a:ln>
        </p:spPr>
        <p:txBody>
          <a:bodyPr/>
          <a:lstStyle/>
          <a:p>
            <a:endParaRPr lang="en-IN"/>
          </a:p>
        </p:txBody>
      </p:sp>
      <p:sp>
        <p:nvSpPr>
          <p:cNvPr id="19" name="Text 17"/>
          <p:cNvSpPr/>
          <p:nvPr/>
        </p:nvSpPr>
        <p:spPr>
          <a:xfrm>
            <a:off x="6309360" y="1572768"/>
            <a:ext cx="2651760" cy="1408176"/>
          </a:xfrm>
          <a:prstGeom prst="rect">
            <a:avLst/>
          </a:prstGeom>
          <a:noFill/>
          <a:ln/>
        </p:spPr>
        <p:txBody>
          <a:bodyPr wrap="square" rtlCol="0" anchor="t"/>
          <a:lstStyle/>
          <a:p>
            <a:pPr marL="0" indent="0">
              <a:buNone/>
            </a:pPr>
            <a:r>
              <a:rPr lang="en-US" sz="1100" i="1" dirty="0">
                <a:solidFill>
                  <a:srgbClr val="333333"/>
                </a:solidFill>
                <a:latin typeface="Calibri" pitchFamily="34" charset="0"/>
                <a:ea typeface="Calibri" pitchFamily="34" charset="-122"/>
                <a:cs typeface="Calibri" pitchFamily="34" charset="-120"/>
              </a:rPr>
              <a:t>"Database fix: Eng A (next week). OAuth2 chosen over JWT — security approved. Eng B: testing + code review Fri. Analytics deferred. Q3 release on track."</a:t>
            </a:r>
            <a:endParaRPr lang="en-US" sz="1100" dirty="0"/>
          </a:p>
        </p:txBody>
      </p:sp>
      <p:sp>
        <p:nvSpPr>
          <p:cNvPr id="20" name="Shape 18"/>
          <p:cNvSpPr/>
          <p:nvPr/>
        </p:nvSpPr>
        <p:spPr>
          <a:xfrm>
            <a:off x="274320" y="3127248"/>
            <a:ext cx="8595360" cy="420624"/>
          </a:xfrm>
          <a:prstGeom prst="rect">
            <a:avLst/>
          </a:prstGeom>
          <a:solidFill>
            <a:srgbClr val="FFF9E6"/>
          </a:solidFill>
          <a:ln w="12700">
            <a:solidFill>
              <a:srgbClr val="F5C300"/>
            </a:solidFill>
            <a:prstDash val="solid"/>
          </a:ln>
        </p:spPr>
        <p:txBody>
          <a:bodyPr/>
          <a:lstStyle/>
          <a:p>
            <a:endParaRPr lang="en-IN"/>
          </a:p>
        </p:txBody>
      </p:sp>
      <p:sp>
        <p:nvSpPr>
          <p:cNvPr id="21" name="Text 19"/>
          <p:cNvSpPr/>
          <p:nvPr/>
        </p:nvSpPr>
        <p:spPr>
          <a:xfrm>
            <a:off x="365760" y="3127248"/>
            <a:ext cx="8412480" cy="420624"/>
          </a:xfrm>
          <a:prstGeom prst="rect">
            <a:avLst/>
          </a:prstGeom>
          <a:noFill/>
          <a:ln/>
        </p:spPr>
        <p:txBody>
          <a:bodyPr wrap="square" rtlCol="0" anchor="ctr"/>
          <a:lstStyle/>
          <a:p>
            <a:pPr marL="0" indent="0">
              <a:buNone/>
            </a:pPr>
            <a:r>
              <a:rPr lang="en-US" sz="1150" b="1" dirty="0">
                <a:solidFill>
                  <a:srgbClr val="7A5C00"/>
                </a:solidFill>
                <a:latin typeface="Calibri" pitchFamily="34" charset="0"/>
                <a:ea typeface="Calibri" pitchFamily="34" charset="-122"/>
                <a:cs typeface="Calibri" pitchFamily="34" charset="-120"/>
              </a:rPr>
              <a:t>Limitation: </a:t>
            </a:r>
            <a:r>
              <a:rPr lang="en-US" sz="1150" dirty="0">
                <a:solidFill>
                  <a:srgbClr val="333333"/>
                </a:solidFill>
                <a:latin typeface="Calibri" pitchFamily="34" charset="0"/>
                <a:ea typeface="Calibri" pitchFamily="34" charset="-122"/>
                <a:cs typeface="Calibri" pitchFamily="34" charset="-120"/>
              </a:rPr>
              <a:t>Memory capping discards early specifics. Snowball errors propagate. Output stays generic — no role distinction.</a:t>
            </a:r>
            <a:endParaRPr lang="en-US" sz="1150" dirty="0"/>
          </a:p>
        </p:txBody>
      </p:sp>
      <p:sp>
        <p:nvSpPr>
          <p:cNvPr id="22" name="Shape 20"/>
          <p:cNvSpPr/>
          <p:nvPr/>
        </p:nvSpPr>
        <p:spPr>
          <a:xfrm>
            <a:off x="274320" y="3621024"/>
            <a:ext cx="8595360" cy="402336"/>
          </a:xfrm>
          <a:prstGeom prst="rect">
            <a:avLst/>
          </a:prstGeom>
          <a:solidFill>
            <a:srgbClr val="F2F2F2"/>
          </a:solidFill>
          <a:ln w="6350">
            <a:solidFill>
              <a:srgbClr val="CCCCCC"/>
            </a:solidFill>
            <a:prstDash val="solid"/>
          </a:ln>
        </p:spPr>
        <p:txBody>
          <a:bodyPr/>
          <a:lstStyle/>
          <a:p>
            <a:endParaRPr lang="en-IN"/>
          </a:p>
        </p:txBody>
      </p:sp>
      <p:sp>
        <p:nvSpPr>
          <p:cNvPr id="23" name="Text 21"/>
          <p:cNvSpPr/>
          <p:nvPr/>
        </p:nvSpPr>
        <p:spPr>
          <a:xfrm>
            <a:off x="384048" y="3675888"/>
            <a:ext cx="2011680" cy="201168"/>
          </a:xfrm>
          <a:prstGeom prst="rect">
            <a:avLst/>
          </a:prstGeom>
          <a:noFill/>
          <a:ln/>
        </p:spPr>
        <p:txBody>
          <a:bodyPr wrap="square" rtlCol="0" anchor="ctr"/>
          <a:lstStyle/>
          <a:p>
            <a:pPr marL="0" indent="0">
              <a:buNone/>
            </a:pPr>
            <a:r>
              <a:rPr lang="en-US" sz="1100" b="1" dirty="0">
                <a:solidFill>
                  <a:srgbClr val="000000"/>
                </a:solidFill>
                <a:latin typeface="Calibri" pitchFamily="34" charset="0"/>
                <a:ea typeface="Calibri" pitchFamily="34" charset="-122"/>
                <a:cs typeface="Calibri" pitchFamily="34" charset="-120"/>
              </a:rPr>
              <a:t>Avg ROUGE (15 meetings):</a:t>
            </a:r>
            <a:endParaRPr lang="en-US" sz="1100" dirty="0"/>
          </a:p>
        </p:txBody>
      </p:sp>
      <p:sp>
        <p:nvSpPr>
          <p:cNvPr id="24" name="Text 22"/>
          <p:cNvSpPr/>
          <p:nvPr/>
        </p:nvSpPr>
        <p:spPr>
          <a:xfrm>
            <a:off x="2423160" y="3675888"/>
            <a:ext cx="6309360" cy="274320"/>
          </a:xfrm>
          <a:prstGeom prst="rect">
            <a:avLst/>
          </a:prstGeom>
          <a:noFill/>
          <a:ln/>
        </p:spPr>
        <p:txBody>
          <a:bodyPr wrap="square" rtlCol="0" anchor="ctr"/>
          <a:lstStyle/>
          <a:p>
            <a:pPr marL="0" indent="0">
              <a:buNone/>
            </a:pPr>
            <a:r>
              <a:rPr lang="en-US" sz="950" dirty="0">
                <a:solidFill>
                  <a:srgbClr val="1F5C99"/>
                </a:solidFill>
                <a:latin typeface="Calibri" pitchFamily="34" charset="0"/>
                <a:ea typeface="Calibri" pitchFamily="34" charset="-122"/>
                <a:cs typeface="Calibri" pitchFamily="34" charset="-120"/>
              </a:rPr>
              <a:t>DistilBART  R1:0.254  R2:0.068  RL:0.178  BS:0.787     Flan-T5  R1:0.194  R2:0.034  RL:0.133  BS:0.764     PEGASUS  R1:0.100  RL:0.075  BS:0.701</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0040" y="82296"/>
            <a:ext cx="8503920" cy="475488"/>
          </a:xfrm>
          <a:prstGeom prst="rect">
            <a:avLst/>
          </a:prstGeom>
          <a:noFill/>
          <a:ln/>
        </p:spPr>
        <p:txBody>
          <a:bodyPr wrap="square" rtlCol="0" anchor="ctr"/>
          <a:lstStyle/>
          <a:p>
            <a:pPr marL="0" indent="0">
              <a:buNone/>
            </a:pPr>
            <a:r>
              <a:rPr lang="en-US" sz="2200" b="1" dirty="0">
                <a:solidFill>
                  <a:srgbClr val="000000"/>
                </a:solidFill>
                <a:latin typeface="Calibri" pitchFamily="34" charset="0"/>
                <a:ea typeface="Calibri" pitchFamily="34" charset="-122"/>
                <a:cs typeface="Calibri" pitchFamily="34" charset="-120"/>
              </a:rPr>
              <a:t>Method 2 — Persona-Conditioned Summaries (Novel)</a:t>
            </a:r>
            <a:endParaRPr lang="en-US" sz="2200" dirty="0"/>
          </a:p>
        </p:txBody>
      </p:sp>
      <p:sp>
        <p:nvSpPr>
          <p:cNvPr id="3" name="Text 1"/>
          <p:cNvSpPr/>
          <p:nvPr/>
        </p:nvSpPr>
        <p:spPr>
          <a:xfrm>
            <a:off x="137160" y="4864608"/>
            <a:ext cx="320040" cy="182880"/>
          </a:xfrm>
          <a:prstGeom prst="rect">
            <a:avLst/>
          </a:prstGeom>
          <a:noFill/>
          <a:ln/>
        </p:spPr>
        <p:txBody>
          <a:bodyPr wrap="square" rtlCol="0" anchor="ctr"/>
          <a:lstStyle/>
          <a:p>
            <a:pPr marL="0" indent="0">
              <a:buNone/>
            </a:pPr>
            <a:r>
              <a:rPr lang="en-US" sz="1000" dirty="0">
                <a:solidFill>
                  <a:srgbClr val="666666"/>
                </a:solidFill>
                <a:latin typeface="Calibri" pitchFamily="34" charset="0"/>
                <a:ea typeface="Calibri" pitchFamily="34" charset="-122"/>
                <a:cs typeface="Calibri" pitchFamily="34" charset="-120"/>
              </a:rPr>
              <a:t>7</a:t>
            </a:r>
            <a:endParaRPr lang="en-US" sz="1000" dirty="0"/>
          </a:p>
        </p:txBody>
      </p:sp>
      <p:sp>
        <p:nvSpPr>
          <p:cNvPr id="4" name="Shape 2"/>
          <p:cNvSpPr/>
          <p:nvPr/>
        </p:nvSpPr>
        <p:spPr>
          <a:xfrm>
            <a:off x="320040" y="676656"/>
            <a:ext cx="8503920" cy="329184"/>
          </a:xfrm>
          <a:prstGeom prst="rect">
            <a:avLst/>
          </a:prstGeom>
          <a:solidFill>
            <a:srgbClr val="FFF9E6"/>
          </a:solidFill>
          <a:ln w="12700">
            <a:solidFill>
              <a:srgbClr val="F5C300"/>
            </a:solidFill>
            <a:prstDash val="solid"/>
          </a:ln>
        </p:spPr>
        <p:txBody>
          <a:bodyPr/>
          <a:lstStyle/>
          <a:p>
            <a:endParaRPr lang="en-IN"/>
          </a:p>
        </p:txBody>
      </p:sp>
      <p:sp>
        <p:nvSpPr>
          <p:cNvPr id="5" name="Text 3"/>
          <p:cNvSpPr/>
          <p:nvPr/>
        </p:nvSpPr>
        <p:spPr>
          <a:xfrm>
            <a:off x="411480" y="676656"/>
            <a:ext cx="8321040" cy="329184"/>
          </a:xfrm>
          <a:prstGeom prst="rect">
            <a:avLst/>
          </a:prstGeom>
          <a:noFill/>
          <a:ln/>
        </p:spPr>
        <p:txBody>
          <a:bodyPr wrap="square" rtlCol="0" anchor="ctr"/>
          <a:lstStyle/>
          <a:p>
            <a:pPr marL="0" indent="0">
              <a:buNone/>
            </a:pPr>
            <a:r>
              <a:rPr lang="en-US" sz="1150" b="1" dirty="0">
                <a:solidFill>
                  <a:srgbClr val="333333"/>
                </a:solidFill>
                <a:latin typeface="Calibri" pitchFamily="34" charset="0"/>
                <a:ea typeface="Calibri" pitchFamily="34" charset="-122"/>
                <a:cs typeface="Calibri" pitchFamily="34" charset="-120"/>
              </a:rPr>
              <a:t>Two-step: </a:t>
            </a:r>
            <a:r>
              <a:rPr lang="en-US" sz="1150" dirty="0">
                <a:solidFill>
                  <a:srgbClr val="333333"/>
                </a:solidFill>
                <a:latin typeface="Calibri" pitchFamily="34" charset="0"/>
                <a:ea typeface="Calibri" pitchFamily="34" charset="-122"/>
                <a:cs typeface="Calibri" pitchFamily="34" charset="-120"/>
              </a:rPr>
              <a:t>(1) Extract role-specific facts from FULL transcript  →  (2) Synthesize into a clean, role-targeted summary.</a:t>
            </a:r>
            <a:endParaRPr lang="en-US" sz="1150" dirty="0"/>
          </a:p>
        </p:txBody>
      </p:sp>
      <p:sp>
        <p:nvSpPr>
          <p:cNvPr id="6" name="Shape 4"/>
          <p:cNvSpPr/>
          <p:nvPr/>
        </p:nvSpPr>
        <p:spPr>
          <a:xfrm>
            <a:off x="274320" y="1078992"/>
            <a:ext cx="2816352" cy="310896"/>
          </a:xfrm>
          <a:prstGeom prst="rect">
            <a:avLst/>
          </a:prstGeom>
          <a:solidFill>
            <a:srgbClr val="1A7A5E"/>
          </a:solidFill>
          <a:ln/>
        </p:spPr>
        <p:txBody>
          <a:bodyPr/>
          <a:lstStyle/>
          <a:p>
            <a:endParaRPr lang="en-IN"/>
          </a:p>
        </p:txBody>
      </p:sp>
      <p:sp>
        <p:nvSpPr>
          <p:cNvPr id="7" name="Text 5"/>
          <p:cNvSpPr/>
          <p:nvPr/>
        </p:nvSpPr>
        <p:spPr>
          <a:xfrm>
            <a:off x="274320" y="1078992"/>
            <a:ext cx="2816352" cy="31089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Manager</a:t>
            </a:r>
            <a:endParaRPr lang="en-US" sz="1300" dirty="0"/>
          </a:p>
        </p:txBody>
      </p:sp>
      <p:sp>
        <p:nvSpPr>
          <p:cNvPr id="8" name="Shape 6"/>
          <p:cNvSpPr/>
          <p:nvPr/>
        </p:nvSpPr>
        <p:spPr>
          <a:xfrm>
            <a:off x="274320" y="1389888"/>
            <a:ext cx="2816352" cy="2615184"/>
          </a:xfrm>
          <a:prstGeom prst="rect">
            <a:avLst/>
          </a:prstGeom>
          <a:solidFill>
            <a:srgbClr val="FFFFFF"/>
          </a:solidFill>
          <a:ln w="6350">
            <a:solidFill>
              <a:srgbClr val="CCCCCC"/>
            </a:solidFill>
            <a:prstDash val="solid"/>
          </a:ln>
        </p:spPr>
        <p:txBody>
          <a:bodyPr/>
          <a:lstStyle/>
          <a:p>
            <a:endParaRPr lang="en-IN"/>
          </a:p>
        </p:txBody>
      </p:sp>
      <p:sp>
        <p:nvSpPr>
          <p:cNvPr id="9" name="Text 7"/>
          <p:cNvSpPr/>
          <p:nvPr/>
        </p:nvSpPr>
        <p:spPr>
          <a:xfrm>
            <a:off x="365760" y="1444752"/>
            <a:ext cx="2633472" cy="182880"/>
          </a:xfrm>
          <a:prstGeom prst="rect">
            <a:avLst/>
          </a:prstGeom>
          <a:noFill/>
          <a:ln/>
        </p:spPr>
        <p:txBody>
          <a:bodyPr wrap="square" rtlCol="0" anchor="ctr"/>
          <a:lstStyle/>
          <a:p>
            <a:pPr marL="0" indent="0">
              <a:buNone/>
            </a:pPr>
            <a:r>
              <a:rPr lang="en-US" sz="950" b="1" dirty="0">
                <a:solidFill>
                  <a:srgbClr val="1A7A5E"/>
                </a:solidFill>
                <a:latin typeface="Calibri" pitchFamily="34" charset="0"/>
                <a:ea typeface="Calibri" pitchFamily="34" charset="-122"/>
                <a:cs typeface="Calibri" pitchFamily="34" charset="-120"/>
              </a:rPr>
              <a:t>Step 1 — Extracted facts:</a:t>
            </a:r>
            <a:endParaRPr lang="en-US" sz="950" dirty="0"/>
          </a:p>
        </p:txBody>
      </p:sp>
      <p:sp>
        <p:nvSpPr>
          <p:cNvPr id="10" name="Shape 8"/>
          <p:cNvSpPr/>
          <p:nvPr/>
        </p:nvSpPr>
        <p:spPr>
          <a:xfrm>
            <a:off x="347472" y="1627632"/>
            <a:ext cx="2670048" cy="877824"/>
          </a:xfrm>
          <a:prstGeom prst="rect">
            <a:avLst/>
          </a:prstGeom>
          <a:solidFill>
            <a:srgbClr val="F2F2F2"/>
          </a:solidFill>
          <a:ln w="6350">
            <a:solidFill>
              <a:srgbClr val="CCCCCC"/>
            </a:solidFill>
            <a:prstDash val="solid"/>
          </a:ln>
        </p:spPr>
        <p:txBody>
          <a:bodyPr/>
          <a:lstStyle/>
          <a:p>
            <a:endParaRPr lang="en-IN"/>
          </a:p>
        </p:txBody>
      </p:sp>
      <p:sp>
        <p:nvSpPr>
          <p:cNvPr id="11" name="Text 9"/>
          <p:cNvSpPr/>
          <p:nvPr/>
        </p:nvSpPr>
        <p:spPr>
          <a:xfrm>
            <a:off x="384048" y="1655064"/>
            <a:ext cx="2578608" cy="822960"/>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Decision: prioritize DB fix. Owner: Eng A. Deadline: end of next week. OAuth2 approved. Risk: demo delayed 2 weeks. Code review: Friday.</a:t>
            </a:r>
            <a:endParaRPr lang="en-US" sz="900" dirty="0"/>
          </a:p>
        </p:txBody>
      </p:sp>
      <p:sp>
        <p:nvSpPr>
          <p:cNvPr id="12" name="Text 10"/>
          <p:cNvSpPr/>
          <p:nvPr/>
        </p:nvSpPr>
        <p:spPr>
          <a:xfrm>
            <a:off x="365760" y="2560320"/>
            <a:ext cx="2633472" cy="182880"/>
          </a:xfrm>
          <a:prstGeom prst="rect">
            <a:avLst/>
          </a:prstGeom>
          <a:noFill/>
          <a:ln/>
        </p:spPr>
        <p:txBody>
          <a:bodyPr wrap="square" rtlCol="0" anchor="ctr"/>
          <a:lstStyle/>
          <a:p>
            <a:pPr marL="0" indent="0">
              <a:buNone/>
            </a:pPr>
            <a:r>
              <a:rPr lang="en-US" sz="950" b="1" dirty="0">
                <a:solidFill>
                  <a:srgbClr val="1A7A5E"/>
                </a:solidFill>
                <a:latin typeface="Calibri" pitchFamily="34" charset="0"/>
                <a:ea typeface="Calibri" pitchFamily="34" charset="-122"/>
                <a:cs typeface="Calibri" pitchFamily="34" charset="-120"/>
              </a:rPr>
              <a:t>Step 2 — Role summary:</a:t>
            </a:r>
            <a:endParaRPr lang="en-US" sz="950" dirty="0"/>
          </a:p>
        </p:txBody>
      </p:sp>
      <p:sp>
        <p:nvSpPr>
          <p:cNvPr id="13" name="Shape 11"/>
          <p:cNvSpPr/>
          <p:nvPr/>
        </p:nvSpPr>
        <p:spPr>
          <a:xfrm>
            <a:off x="347472" y="2743200"/>
            <a:ext cx="2670048" cy="1042416"/>
          </a:xfrm>
          <a:prstGeom prst="rect">
            <a:avLst/>
          </a:prstGeom>
          <a:solidFill>
            <a:srgbClr val="F0FAF5"/>
          </a:solidFill>
          <a:ln w="6350">
            <a:solidFill>
              <a:srgbClr val="AADDCC"/>
            </a:solidFill>
            <a:prstDash val="solid"/>
          </a:ln>
        </p:spPr>
        <p:txBody>
          <a:bodyPr/>
          <a:lstStyle/>
          <a:p>
            <a:endParaRPr lang="en-IN"/>
          </a:p>
        </p:txBody>
      </p:sp>
      <p:sp>
        <p:nvSpPr>
          <p:cNvPr id="14" name="Text 12"/>
          <p:cNvSpPr/>
          <p:nvPr/>
        </p:nvSpPr>
        <p:spPr>
          <a:xfrm>
            <a:off x="384048" y="2779776"/>
            <a:ext cx="2578608" cy="822960"/>
          </a:xfrm>
          <a:prstGeom prst="rect">
            <a:avLst/>
          </a:prstGeom>
          <a:noFill/>
          <a:ln/>
        </p:spPr>
        <p:txBody>
          <a:bodyPr wrap="square" rtlCol="0" anchor="t"/>
          <a:lstStyle/>
          <a:p>
            <a:pPr marL="0" indent="0">
              <a:buNone/>
            </a:pPr>
            <a:r>
              <a:rPr lang="en-US" sz="1000" i="1" dirty="0">
                <a:solidFill>
                  <a:srgbClr val="333333"/>
                </a:solidFill>
                <a:latin typeface="Calibri" pitchFamily="34" charset="0"/>
                <a:ea typeface="Calibri" pitchFamily="34" charset="-122"/>
                <a:cs typeface="Calibri" pitchFamily="34" charset="-120"/>
              </a:rPr>
              <a:t>"Eng A owns the database fix (due next week); client demo rescheduled 2 weeks. OAuth2 approved by security; project on Q3 schedule."</a:t>
            </a:r>
            <a:endParaRPr lang="en-US" sz="1000" dirty="0"/>
          </a:p>
        </p:txBody>
      </p:sp>
      <p:sp>
        <p:nvSpPr>
          <p:cNvPr id="15" name="Shape 13"/>
          <p:cNvSpPr/>
          <p:nvPr/>
        </p:nvSpPr>
        <p:spPr>
          <a:xfrm>
            <a:off x="347472" y="3657600"/>
            <a:ext cx="2670048" cy="237744"/>
          </a:xfrm>
          <a:prstGeom prst="rect">
            <a:avLst/>
          </a:prstGeom>
          <a:solidFill>
            <a:srgbClr val="F5C300"/>
          </a:solidFill>
          <a:ln/>
        </p:spPr>
        <p:txBody>
          <a:bodyPr/>
          <a:lstStyle/>
          <a:p>
            <a:endParaRPr lang="en-IN"/>
          </a:p>
        </p:txBody>
      </p:sp>
      <p:sp>
        <p:nvSpPr>
          <p:cNvPr id="16" name="Text 14"/>
          <p:cNvSpPr/>
          <p:nvPr/>
        </p:nvSpPr>
        <p:spPr>
          <a:xfrm>
            <a:off x="347472" y="3657600"/>
            <a:ext cx="2670048" cy="237744"/>
          </a:xfrm>
          <a:prstGeom prst="rect">
            <a:avLst/>
          </a:prstGeom>
          <a:noFill/>
          <a:ln/>
        </p:spPr>
        <p:txBody>
          <a:bodyPr wrap="square" rtlCol="0" anchor="ctr"/>
          <a:lstStyle/>
          <a:p>
            <a:pPr marL="0" indent="0" algn="ctr">
              <a:buNone/>
            </a:pPr>
            <a:r>
              <a:rPr lang="en-US" sz="950" b="1" dirty="0">
                <a:solidFill>
                  <a:srgbClr val="000000"/>
                </a:solidFill>
                <a:latin typeface="Calibri" pitchFamily="34" charset="0"/>
                <a:ea typeface="Calibri" pitchFamily="34" charset="-122"/>
                <a:cs typeface="Calibri" pitchFamily="34" charset="-120"/>
              </a:rPr>
              <a:t>KW hit rate: 0.09  (Flan-T5 Manager avg)</a:t>
            </a:r>
            <a:endParaRPr lang="en-US" sz="950" dirty="0"/>
          </a:p>
        </p:txBody>
      </p:sp>
      <p:sp>
        <p:nvSpPr>
          <p:cNvPr id="17" name="Shape 15"/>
          <p:cNvSpPr/>
          <p:nvPr/>
        </p:nvSpPr>
        <p:spPr>
          <a:xfrm>
            <a:off x="3246120" y="1078992"/>
            <a:ext cx="2816352" cy="310896"/>
          </a:xfrm>
          <a:prstGeom prst="rect">
            <a:avLst/>
          </a:prstGeom>
          <a:solidFill>
            <a:srgbClr val="1F5C99"/>
          </a:solidFill>
          <a:ln/>
        </p:spPr>
        <p:txBody>
          <a:bodyPr/>
          <a:lstStyle/>
          <a:p>
            <a:endParaRPr lang="en-IN"/>
          </a:p>
        </p:txBody>
      </p:sp>
      <p:sp>
        <p:nvSpPr>
          <p:cNvPr id="18" name="Text 16"/>
          <p:cNvSpPr/>
          <p:nvPr/>
        </p:nvSpPr>
        <p:spPr>
          <a:xfrm>
            <a:off x="3246120" y="1078992"/>
            <a:ext cx="2816352" cy="31089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Engineer</a:t>
            </a:r>
            <a:endParaRPr lang="en-US" sz="1300" dirty="0"/>
          </a:p>
        </p:txBody>
      </p:sp>
      <p:sp>
        <p:nvSpPr>
          <p:cNvPr id="19" name="Shape 17"/>
          <p:cNvSpPr/>
          <p:nvPr/>
        </p:nvSpPr>
        <p:spPr>
          <a:xfrm>
            <a:off x="3246120" y="1389888"/>
            <a:ext cx="2816352" cy="2615184"/>
          </a:xfrm>
          <a:prstGeom prst="rect">
            <a:avLst/>
          </a:prstGeom>
          <a:solidFill>
            <a:srgbClr val="FFFFFF"/>
          </a:solidFill>
          <a:ln w="6350">
            <a:solidFill>
              <a:srgbClr val="CCCCCC"/>
            </a:solidFill>
            <a:prstDash val="solid"/>
          </a:ln>
        </p:spPr>
        <p:txBody>
          <a:bodyPr/>
          <a:lstStyle/>
          <a:p>
            <a:endParaRPr lang="en-IN"/>
          </a:p>
        </p:txBody>
      </p:sp>
      <p:sp>
        <p:nvSpPr>
          <p:cNvPr id="20" name="Text 18"/>
          <p:cNvSpPr/>
          <p:nvPr/>
        </p:nvSpPr>
        <p:spPr>
          <a:xfrm>
            <a:off x="3337560" y="1444752"/>
            <a:ext cx="2633472" cy="182880"/>
          </a:xfrm>
          <a:prstGeom prst="rect">
            <a:avLst/>
          </a:prstGeom>
          <a:noFill/>
          <a:ln/>
        </p:spPr>
        <p:txBody>
          <a:bodyPr wrap="square" rtlCol="0" anchor="ctr"/>
          <a:lstStyle/>
          <a:p>
            <a:pPr marL="0" indent="0">
              <a:buNone/>
            </a:pPr>
            <a:r>
              <a:rPr lang="en-US" sz="950" b="1" dirty="0">
                <a:solidFill>
                  <a:srgbClr val="1F5C99"/>
                </a:solidFill>
                <a:latin typeface="Calibri" pitchFamily="34" charset="0"/>
                <a:ea typeface="Calibri" pitchFamily="34" charset="-122"/>
                <a:cs typeface="Calibri" pitchFamily="34" charset="-120"/>
              </a:rPr>
              <a:t>Step 1 — Extracted facts:</a:t>
            </a:r>
            <a:endParaRPr lang="en-US" sz="950" dirty="0"/>
          </a:p>
        </p:txBody>
      </p:sp>
      <p:sp>
        <p:nvSpPr>
          <p:cNvPr id="21" name="Shape 19"/>
          <p:cNvSpPr/>
          <p:nvPr/>
        </p:nvSpPr>
        <p:spPr>
          <a:xfrm>
            <a:off x="3319272" y="1627632"/>
            <a:ext cx="2670048" cy="877824"/>
          </a:xfrm>
          <a:prstGeom prst="rect">
            <a:avLst/>
          </a:prstGeom>
          <a:solidFill>
            <a:srgbClr val="F2F2F2"/>
          </a:solidFill>
          <a:ln w="6350">
            <a:solidFill>
              <a:srgbClr val="CCCCCC"/>
            </a:solidFill>
            <a:prstDash val="solid"/>
          </a:ln>
        </p:spPr>
        <p:txBody>
          <a:bodyPr/>
          <a:lstStyle/>
          <a:p>
            <a:endParaRPr lang="en-IN"/>
          </a:p>
        </p:txBody>
      </p:sp>
      <p:sp>
        <p:nvSpPr>
          <p:cNvPr id="22" name="Text 20"/>
          <p:cNvSpPr/>
          <p:nvPr/>
        </p:nvSpPr>
        <p:spPr>
          <a:xfrm>
            <a:off x="3355848" y="1655064"/>
            <a:ext cx="2578608" cy="822960"/>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Task: fix DB bottleneck (Eng A). Task: testing (Eng B). Tool: OAuth2 over JWT. Task: code review Friday. Deferred: analytics dashboard.</a:t>
            </a:r>
            <a:endParaRPr lang="en-US" sz="900" dirty="0"/>
          </a:p>
        </p:txBody>
      </p:sp>
      <p:sp>
        <p:nvSpPr>
          <p:cNvPr id="23" name="Text 21"/>
          <p:cNvSpPr/>
          <p:nvPr/>
        </p:nvSpPr>
        <p:spPr>
          <a:xfrm>
            <a:off x="3337560" y="2560320"/>
            <a:ext cx="2633472" cy="182880"/>
          </a:xfrm>
          <a:prstGeom prst="rect">
            <a:avLst/>
          </a:prstGeom>
          <a:noFill/>
          <a:ln/>
        </p:spPr>
        <p:txBody>
          <a:bodyPr wrap="square" rtlCol="0" anchor="ctr"/>
          <a:lstStyle/>
          <a:p>
            <a:pPr marL="0" indent="0">
              <a:buNone/>
            </a:pPr>
            <a:r>
              <a:rPr lang="en-US" sz="950" b="1" dirty="0">
                <a:solidFill>
                  <a:srgbClr val="1F5C99"/>
                </a:solidFill>
                <a:latin typeface="Calibri" pitchFamily="34" charset="0"/>
                <a:ea typeface="Calibri" pitchFamily="34" charset="-122"/>
                <a:cs typeface="Calibri" pitchFamily="34" charset="-120"/>
              </a:rPr>
              <a:t>Step 2 — Role summary:</a:t>
            </a:r>
            <a:endParaRPr lang="en-US" sz="950" dirty="0"/>
          </a:p>
        </p:txBody>
      </p:sp>
      <p:sp>
        <p:nvSpPr>
          <p:cNvPr id="24" name="Shape 22"/>
          <p:cNvSpPr/>
          <p:nvPr/>
        </p:nvSpPr>
        <p:spPr>
          <a:xfrm>
            <a:off x="3319272" y="2743200"/>
            <a:ext cx="2670048" cy="1042416"/>
          </a:xfrm>
          <a:prstGeom prst="rect">
            <a:avLst/>
          </a:prstGeom>
          <a:solidFill>
            <a:srgbClr val="F0FAF5"/>
          </a:solidFill>
          <a:ln w="6350">
            <a:solidFill>
              <a:srgbClr val="AADDCC"/>
            </a:solidFill>
            <a:prstDash val="solid"/>
          </a:ln>
        </p:spPr>
        <p:txBody>
          <a:bodyPr/>
          <a:lstStyle/>
          <a:p>
            <a:endParaRPr lang="en-IN"/>
          </a:p>
        </p:txBody>
      </p:sp>
      <p:sp>
        <p:nvSpPr>
          <p:cNvPr id="25" name="Text 23"/>
          <p:cNvSpPr/>
          <p:nvPr/>
        </p:nvSpPr>
        <p:spPr>
          <a:xfrm>
            <a:off x="3355848" y="2779776"/>
            <a:ext cx="2578608" cy="822960"/>
          </a:xfrm>
          <a:prstGeom prst="rect">
            <a:avLst/>
          </a:prstGeom>
          <a:noFill/>
          <a:ln/>
        </p:spPr>
        <p:txBody>
          <a:bodyPr wrap="square" rtlCol="0" anchor="t"/>
          <a:lstStyle/>
          <a:p>
            <a:pPr marL="0" indent="0">
              <a:buNone/>
            </a:pPr>
            <a:r>
              <a:rPr lang="en-US" sz="1000" i="1" dirty="0">
                <a:solidFill>
                  <a:srgbClr val="333333"/>
                </a:solidFill>
                <a:latin typeface="Calibri" pitchFamily="34" charset="0"/>
                <a:ea typeface="Calibri" pitchFamily="34" charset="-122"/>
                <a:cs typeface="Calibri" pitchFamily="34" charset="-120"/>
              </a:rPr>
              <a:t>"Eng A must fix database bottleneck; Eng B handles testing and Friday code review. OAuth2 selected over JWT. Specs need updating."</a:t>
            </a:r>
            <a:endParaRPr lang="en-US" sz="1000" dirty="0"/>
          </a:p>
        </p:txBody>
      </p:sp>
      <p:sp>
        <p:nvSpPr>
          <p:cNvPr id="26" name="Shape 24"/>
          <p:cNvSpPr/>
          <p:nvPr/>
        </p:nvSpPr>
        <p:spPr>
          <a:xfrm>
            <a:off x="3319272" y="3657600"/>
            <a:ext cx="2670048" cy="237744"/>
          </a:xfrm>
          <a:prstGeom prst="rect">
            <a:avLst/>
          </a:prstGeom>
          <a:solidFill>
            <a:srgbClr val="F5C300"/>
          </a:solidFill>
          <a:ln/>
        </p:spPr>
        <p:txBody>
          <a:bodyPr/>
          <a:lstStyle/>
          <a:p>
            <a:endParaRPr lang="en-IN"/>
          </a:p>
        </p:txBody>
      </p:sp>
      <p:sp>
        <p:nvSpPr>
          <p:cNvPr id="27" name="Text 25"/>
          <p:cNvSpPr/>
          <p:nvPr/>
        </p:nvSpPr>
        <p:spPr>
          <a:xfrm>
            <a:off x="3319272" y="3657600"/>
            <a:ext cx="2670048" cy="237744"/>
          </a:xfrm>
          <a:prstGeom prst="rect">
            <a:avLst/>
          </a:prstGeom>
          <a:noFill/>
          <a:ln/>
        </p:spPr>
        <p:txBody>
          <a:bodyPr wrap="square" rtlCol="0" anchor="ctr"/>
          <a:lstStyle/>
          <a:p>
            <a:pPr marL="0" indent="0" algn="ctr">
              <a:buNone/>
            </a:pPr>
            <a:r>
              <a:rPr lang="en-US" sz="950" b="1" dirty="0">
                <a:solidFill>
                  <a:srgbClr val="000000"/>
                </a:solidFill>
                <a:latin typeface="Calibri" pitchFamily="34" charset="0"/>
                <a:ea typeface="Calibri" pitchFamily="34" charset="-122"/>
                <a:cs typeface="Calibri" pitchFamily="34" charset="-120"/>
              </a:rPr>
              <a:t>KW hit rate: 0.07  (DistilBART Engineer avg)</a:t>
            </a:r>
            <a:endParaRPr lang="en-US" sz="950" dirty="0"/>
          </a:p>
        </p:txBody>
      </p:sp>
      <p:sp>
        <p:nvSpPr>
          <p:cNvPr id="28" name="Shape 26"/>
          <p:cNvSpPr/>
          <p:nvPr/>
        </p:nvSpPr>
        <p:spPr>
          <a:xfrm>
            <a:off x="6217920" y="1078992"/>
            <a:ext cx="2816352" cy="310896"/>
          </a:xfrm>
          <a:prstGeom prst="rect">
            <a:avLst/>
          </a:prstGeom>
          <a:solidFill>
            <a:srgbClr val="6B3A8C"/>
          </a:solidFill>
          <a:ln/>
        </p:spPr>
        <p:txBody>
          <a:bodyPr/>
          <a:lstStyle/>
          <a:p>
            <a:endParaRPr lang="en-IN"/>
          </a:p>
        </p:txBody>
      </p:sp>
      <p:sp>
        <p:nvSpPr>
          <p:cNvPr id="29" name="Text 27"/>
          <p:cNvSpPr/>
          <p:nvPr/>
        </p:nvSpPr>
        <p:spPr>
          <a:xfrm>
            <a:off x="6217920" y="1078992"/>
            <a:ext cx="2816352" cy="31089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Stakeholder</a:t>
            </a:r>
            <a:endParaRPr lang="en-US" sz="1300" dirty="0"/>
          </a:p>
        </p:txBody>
      </p:sp>
      <p:sp>
        <p:nvSpPr>
          <p:cNvPr id="30" name="Shape 28"/>
          <p:cNvSpPr/>
          <p:nvPr/>
        </p:nvSpPr>
        <p:spPr>
          <a:xfrm>
            <a:off x="6217920" y="1389888"/>
            <a:ext cx="2816352" cy="2615184"/>
          </a:xfrm>
          <a:prstGeom prst="rect">
            <a:avLst/>
          </a:prstGeom>
          <a:solidFill>
            <a:srgbClr val="FFFFFF"/>
          </a:solidFill>
          <a:ln w="6350">
            <a:solidFill>
              <a:srgbClr val="CCCCCC"/>
            </a:solidFill>
            <a:prstDash val="solid"/>
          </a:ln>
        </p:spPr>
        <p:txBody>
          <a:bodyPr/>
          <a:lstStyle/>
          <a:p>
            <a:endParaRPr lang="en-IN"/>
          </a:p>
        </p:txBody>
      </p:sp>
      <p:sp>
        <p:nvSpPr>
          <p:cNvPr id="31" name="Text 29"/>
          <p:cNvSpPr/>
          <p:nvPr/>
        </p:nvSpPr>
        <p:spPr>
          <a:xfrm>
            <a:off x="6309360" y="1444752"/>
            <a:ext cx="2633472" cy="182880"/>
          </a:xfrm>
          <a:prstGeom prst="rect">
            <a:avLst/>
          </a:prstGeom>
          <a:noFill/>
          <a:ln/>
        </p:spPr>
        <p:txBody>
          <a:bodyPr wrap="square" rtlCol="0" anchor="ctr"/>
          <a:lstStyle/>
          <a:p>
            <a:pPr marL="0" indent="0">
              <a:buNone/>
            </a:pPr>
            <a:r>
              <a:rPr lang="en-US" sz="950" b="1" dirty="0">
                <a:solidFill>
                  <a:srgbClr val="6B3A8C"/>
                </a:solidFill>
                <a:latin typeface="Calibri" pitchFamily="34" charset="0"/>
                <a:ea typeface="Calibri" pitchFamily="34" charset="-122"/>
                <a:cs typeface="Calibri" pitchFamily="34" charset="-120"/>
              </a:rPr>
              <a:t>Step 1 — Extracted facts:</a:t>
            </a:r>
            <a:endParaRPr lang="en-US" sz="950" dirty="0"/>
          </a:p>
        </p:txBody>
      </p:sp>
      <p:sp>
        <p:nvSpPr>
          <p:cNvPr id="32" name="Shape 30"/>
          <p:cNvSpPr/>
          <p:nvPr/>
        </p:nvSpPr>
        <p:spPr>
          <a:xfrm>
            <a:off x="6291072" y="1627632"/>
            <a:ext cx="2670048" cy="877824"/>
          </a:xfrm>
          <a:prstGeom prst="rect">
            <a:avLst/>
          </a:prstGeom>
          <a:solidFill>
            <a:srgbClr val="F2F2F2"/>
          </a:solidFill>
          <a:ln w="6350">
            <a:solidFill>
              <a:srgbClr val="CCCCCC"/>
            </a:solidFill>
            <a:prstDash val="solid"/>
          </a:ln>
        </p:spPr>
        <p:txBody>
          <a:bodyPr/>
          <a:lstStyle/>
          <a:p>
            <a:endParaRPr lang="en-IN"/>
          </a:p>
        </p:txBody>
      </p:sp>
      <p:sp>
        <p:nvSpPr>
          <p:cNvPr id="33" name="Text 31"/>
          <p:cNvSpPr/>
          <p:nvPr/>
        </p:nvSpPr>
        <p:spPr>
          <a:xfrm>
            <a:off x="6327648" y="1655064"/>
            <a:ext cx="2578608" cy="822960"/>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Timeline: Q3 on track. Change: client demo delayed 2 weeks. Action: Stakeholder emails client today. Draft one-pager by Wednesday.</a:t>
            </a:r>
            <a:endParaRPr lang="en-US" sz="900" dirty="0"/>
          </a:p>
        </p:txBody>
      </p:sp>
      <p:sp>
        <p:nvSpPr>
          <p:cNvPr id="34" name="Text 32"/>
          <p:cNvSpPr/>
          <p:nvPr/>
        </p:nvSpPr>
        <p:spPr>
          <a:xfrm>
            <a:off x="6309360" y="2560320"/>
            <a:ext cx="2633472" cy="182880"/>
          </a:xfrm>
          <a:prstGeom prst="rect">
            <a:avLst/>
          </a:prstGeom>
          <a:noFill/>
          <a:ln/>
        </p:spPr>
        <p:txBody>
          <a:bodyPr wrap="square" rtlCol="0" anchor="ctr"/>
          <a:lstStyle/>
          <a:p>
            <a:pPr marL="0" indent="0">
              <a:buNone/>
            </a:pPr>
            <a:r>
              <a:rPr lang="en-US" sz="950" b="1" dirty="0">
                <a:solidFill>
                  <a:srgbClr val="6B3A8C"/>
                </a:solidFill>
                <a:latin typeface="Calibri" pitchFamily="34" charset="0"/>
                <a:ea typeface="Calibri" pitchFamily="34" charset="-122"/>
                <a:cs typeface="Calibri" pitchFamily="34" charset="-120"/>
              </a:rPr>
              <a:t>Step 2 — Role summary:</a:t>
            </a:r>
            <a:endParaRPr lang="en-US" sz="950" dirty="0"/>
          </a:p>
        </p:txBody>
      </p:sp>
      <p:sp>
        <p:nvSpPr>
          <p:cNvPr id="35" name="Shape 33"/>
          <p:cNvSpPr/>
          <p:nvPr/>
        </p:nvSpPr>
        <p:spPr>
          <a:xfrm>
            <a:off x="6291072" y="2743200"/>
            <a:ext cx="2670048" cy="1042416"/>
          </a:xfrm>
          <a:prstGeom prst="rect">
            <a:avLst/>
          </a:prstGeom>
          <a:solidFill>
            <a:srgbClr val="F0FAF5"/>
          </a:solidFill>
          <a:ln w="6350">
            <a:solidFill>
              <a:srgbClr val="AADDCC"/>
            </a:solidFill>
            <a:prstDash val="solid"/>
          </a:ln>
        </p:spPr>
        <p:txBody>
          <a:bodyPr/>
          <a:lstStyle/>
          <a:p>
            <a:endParaRPr lang="en-IN"/>
          </a:p>
        </p:txBody>
      </p:sp>
      <p:sp>
        <p:nvSpPr>
          <p:cNvPr id="36" name="Text 34"/>
          <p:cNvSpPr/>
          <p:nvPr/>
        </p:nvSpPr>
        <p:spPr>
          <a:xfrm>
            <a:off x="6327648" y="2779776"/>
            <a:ext cx="2578608" cy="822960"/>
          </a:xfrm>
          <a:prstGeom prst="rect">
            <a:avLst/>
          </a:prstGeom>
          <a:noFill/>
          <a:ln/>
        </p:spPr>
        <p:txBody>
          <a:bodyPr wrap="square" rtlCol="0" anchor="t"/>
          <a:lstStyle/>
          <a:p>
            <a:pPr marL="0" indent="0">
              <a:buNone/>
            </a:pPr>
            <a:r>
              <a:rPr lang="en-US" sz="1000" i="1" dirty="0">
                <a:solidFill>
                  <a:srgbClr val="333333"/>
                </a:solidFill>
                <a:latin typeface="Calibri" pitchFamily="34" charset="0"/>
                <a:ea typeface="Calibri" pitchFamily="34" charset="-122"/>
                <a:cs typeface="Calibri" pitchFamily="34" charset="-120"/>
              </a:rPr>
              <a:t>"Project on schedule for Q3; client demo pushed back 2 weeks. A timeline update email will be sent to the client today."</a:t>
            </a:r>
            <a:endParaRPr lang="en-US" sz="1000" dirty="0"/>
          </a:p>
        </p:txBody>
      </p:sp>
      <p:sp>
        <p:nvSpPr>
          <p:cNvPr id="37" name="Shape 35"/>
          <p:cNvSpPr/>
          <p:nvPr/>
        </p:nvSpPr>
        <p:spPr>
          <a:xfrm>
            <a:off x="6291072" y="3657600"/>
            <a:ext cx="2670048" cy="237744"/>
          </a:xfrm>
          <a:prstGeom prst="rect">
            <a:avLst/>
          </a:prstGeom>
          <a:solidFill>
            <a:srgbClr val="F5C300"/>
          </a:solidFill>
          <a:ln/>
        </p:spPr>
        <p:txBody>
          <a:bodyPr/>
          <a:lstStyle/>
          <a:p>
            <a:endParaRPr lang="en-IN"/>
          </a:p>
        </p:txBody>
      </p:sp>
      <p:sp>
        <p:nvSpPr>
          <p:cNvPr id="38" name="Text 36"/>
          <p:cNvSpPr/>
          <p:nvPr/>
        </p:nvSpPr>
        <p:spPr>
          <a:xfrm>
            <a:off x="6291072" y="3657600"/>
            <a:ext cx="2670048" cy="237744"/>
          </a:xfrm>
          <a:prstGeom prst="rect">
            <a:avLst/>
          </a:prstGeom>
          <a:noFill/>
          <a:ln/>
        </p:spPr>
        <p:txBody>
          <a:bodyPr wrap="square" rtlCol="0" anchor="ctr"/>
          <a:lstStyle/>
          <a:p>
            <a:pPr marL="0" indent="0" algn="ctr">
              <a:buNone/>
            </a:pPr>
            <a:r>
              <a:rPr lang="en-US" sz="950" b="1" dirty="0">
                <a:solidFill>
                  <a:srgbClr val="000000"/>
                </a:solidFill>
                <a:latin typeface="Calibri" pitchFamily="34" charset="0"/>
                <a:ea typeface="Calibri" pitchFamily="34" charset="-122"/>
                <a:cs typeface="Calibri" pitchFamily="34" charset="-120"/>
              </a:rPr>
              <a:t>KW hit rate: 0.05  (DistilBART Stakeholder avg)</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0040" y="82296"/>
            <a:ext cx="8503920" cy="475488"/>
          </a:xfrm>
          <a:prstGeom prst="rect">
            <a:avLst/>
          </a:prstGeom>
          <a:noFill/>
          <a:ln/>
        </p:spPr>
        <p:txBody>
          <a:bodyPr wrap="square" rtlCol="0" anchor="ctr"/>
          <a:lstStyle/>
          <a:p>
            <a:pPr marL="0" indent="0">
              <a:buNone/>
            </a:pPr>
            <a:r>
              <a:rPr lang="en-US" sz="2200" b="1" dirty="0">
                <a:solidFill>
                  <a:srgbClr val="000000"/>
                </a:solidFill>
                <a:latin typeface="Calibri" pitchFamily="34" charset="0"/>
                <a:ea typeface="Calibri" pitchFamily="34" charset="-122"/>
                <a:cs typeface="Calibri" pitchFamily="34" charset="-120"/>
              </a:rPr>
              <a:t>Quantitative Results — ROUGE + BERTScore (15 Meetings)</a:t>
            </a:r>
            <a:endParaRPr lang="en-US" sz="2200" dirty="0"/>
          </a:p>
        </p:txBody>
      </p:sp>
      <p:sp>
        <p:nvSpPr>
          <p:cNvPr id="3" name="Text 1"/>
          <p:cNvSpPr/>
          <p:nvPr/>
        </p:nvSpPr>
        <p:spPr>
          <a:xfrm>
            <a:off x="137160" y="4864608"/>
            <a:ext cx="320040" cy="182880"/>
          </a:xfrm>
          <a:prstGeom prst="rect">
            <a:avLst/>
          </a:prstGeom>
          <a:noFill/>
          <a:ln/>
        </p:spPr>
        <p:txBody>
          <a:bodyPr wrap="square" rtlCol="0" anchor="ctr"/>
          <a:lstStyle/>
          <a:p>
            <a:pPr marL="0" indent="0">
              <a:buNone/>
            </a:pPr>
            <a:r>
              <a:rPr lang="en-US" sz="1000" dirty="0">
                <a:solidFill>
                  <a:srgbClr val="666666"/>
                </a:solidFill>
                <a:latin typeface="Calibri" pitchFamily="34" charset="0"/>
                <a:ea typeface="Calibri" pitchFamily="34" charset="-122"/>
                <a:cs typeface="Calibri" pitchFamily="34" charset="-120"/>
              </a:rPr>
              <a:t>8</a:t>
            </a:r>
            <a:endParaRPr lang="en-US" sz="1000" dirty="0"/>
          </a:p>
        </p:txBody>
      </p:sp>
      <p:sp>
        <p:nvSpPr>
          <p:cNvPr id="4" name="Shape 2"/>
          <p:cNvSpPr/>
          <p:nvPr/>
        </p:nvSpPr>
        <p:spPr>
          <a:xfrm>
            <a:off x="320040" y="694944"/>
            <a:ext cx="2394065" cy="374904"/>
          </a:xfrm>
          <a:prstGeom prst="rect">
            <a:avLst/>
          </a:prstGeom>
          <a:solidFill>
            <a:srgbClr val="777777"/>
          </a:solidFill>
          <a:ln/>
        </p:spPr>
        <p:txBody>
          <a:bodyPr/>
          <a:lstStyle/>
          <a:p>
            <a:endParaRPr lang="en-IN"/>
          </a:p>
        </p:txBody>
      </p:sp>
      <p:sp>
        <p:nvSpPr>
          <p:cNvPr id="5" name="Text 3"/>
          <p:cNvSpPr/>
          <p:nvPr/>
        </p:nvSpPr>
        <p:spPr>
          <a:xfrm>
            <a:off x="365760" y="694944"/>
            <a:ext cx="1371600" cy="37490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DistilBART Baseline</a:t>
            </a:r>
            <a:endParaRPr lang="en-US" sz="950" dirty="0"/>
          </a:p>
        </p:txBody>
      </p:sp>
      <p:sp>
        <p:nvSpPr>
          <p:cNvPr id="6" name="Text 4"/>
          <p:cNvSpPr/>
          <p:nvPr/>
        </p:nvSpPr>
        <p:spPr>
          <a:xfrm>
            <a:off x="3721608" y="740664"/>
            <a:ext cx="2560320" cy="219456"/>
          </a:xfrm>
          <a:prstGeom prst="rect">
            <a:avLst/>
          </a:prstGeom>
          <a:noFill/>
          <a:ln/>
        </p:spPr>
        <p:txBody>
          <a:bodyPr wrap="square" rtlCol="0" anchor="ctr"/>
          <a:lstStyle/>
          <a:p>
            <a:pPr marL="0" indent="0">
              <a:buNone/>
            </a:pPr>
            <a:r>
              <a:rPr lang="en-US" sz="1000" b="1" dirty="0">
                <a:solidFill>
                  <a:srgbClr val="333333"/>
                </a:solidFill>
                <a:latin typeface="Calibri" pitchFamily="34" charset="0"/>
                <a:ea typeface="Calibri" pitchFamily="34" charset="-122"/>
                <a:cs typeface="Calibri" pitchFamily="34" charset="-120"/>
              </a:rPr>
              <a:t>RL:0.16  R1:0.227  R2:0.072  BS:0.774</a:t>
            </a:r>
            <a:endParaRPr lang="en-US" sz="1000" dirty="0"/>
          </a:p>
        </p:txBody>
      </p:sp>
      <p:sp>
        <p:nvSpPr>
          <p:cNvPr id="7" name="Shape 5"/>
          <p:cNvSpPr/>
          <p:nvPr/>
        </p:nvSpPr>
        <p:spPr>
          <a:xfrm>
            <a:off x="320040" y="1143000"/>
            <a:ext cx="2663398" cy="374904"/>
          </a:xfrm>
          <a:prstGeom prst="rect">
            <a:avLst/>
          </a:prstGeom>
          <a:solidFill>
            <a:srgbClr val="1F5C99"/>
          </a:solidFill>
          <a:ln/>
        </p:spPr>
        <p:txBody>
          <a:bodyPr/>
          <a:lstStyle/>
          <a:p>
            <a:endParaRPr lang="en-IN"/>
          </a:p>
        </p:txBody>
      </p:sp>
      <p:sp>
        <p:nvSpPr>
          <p:cNvPr id="8" name="Text 6"/>
          <p:cNvSpPr/>
          <p:nvPr/>
        </p:nvSpPr>
        <p:spPr>
          <a:xfrm>
            <a:off x="365760" y="1143000"/>
            <a:ext cx="1371600" cy="37490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DistilBART M1</a:t>
            </a:r>
            <a:endParaRPr lang="en-US" sz="950" dirty="0"/>
          </a:p>
        </p:txBody>
      </p:sp>
      <p:sp>
        <p:nvSpPr>
          <p:cNvPr id="9" name="Text 7"/>
          <p:cNvSpPr/>
          <p:nvPr/>
        </p:nvSpPr>
        <p:spPr>
          <a:xfrm>
            <a:off x="3721608" y="1188720"/>
            <a:ext cx="2560320" cy="219456"/>
          </a:xfrm>
          <a:prstGeom prst="rect">
            <a:avLst/>
          </a:prstGeom>
          <a:noFill/>
          <a:ln/>
        </p:spPr>
        <p:txBody>
          <a:bodyPr wrap="square" rtlCol="0" anchor="ctr"/>
          <a:lstStyle/>
          <a:p>
            <a:pPr marL="0" indent="0">
              <a:buNone/>
            </a:pPr>
            <a:r>
              <a:rPr lang="en-US" sz="1000" b="1" dirty="0">
                <a:solidFill>
                  <a:srgbClr val="333333"/>
                </a:solidFill>
                <a:latin typeface="Calibri" pitchFamily="34" charset="0"/>
                <a:ea typeface="Calibri" pitchFamily="34" charset="-122"/>
                <a:cs typeface="Calibri" pitchFamily="34" charset="-120"/>
              </a:rPr>
              <a:t>RL:0.178  R1:0.254  R2:0.068  BS:0.787</a:t>
            </a:r>
            <a:endParaRPr lang="en-US" sz="1000" dirty="0"/>
          </a:p>
        </p:txBody>
      </p:sp>
      <p:sp>
        <p:nvSpPr>
          <p:cNvPr id="10" name="Shape 8"/>
          <p:cNvSpPr/>
          <p:nvPr/>
        </p:nvSpPr>
        <p:spPr>
          <a:xfrm>
            <a:off x="320040" y="1591056"/>
            <a:ext cx="2708287" cy="374904"/>
          </a:xfrm>
          <a:prstGeom prst="rect">
            <a:avLst/>
          </a:prstGeom>
          <a:solidFill>
            <a:srgbClr val="1A7A5E"/>
          </a:solidFill>
          <a:ln/>
        </p:spPr>
        <p:txBody>
          <a:bodyPr/>
          <a:lstStyle/>
          <a:p>
            <a:endParaRPr lang="en-IN"/>
          </a:p>
        </p:txBody>
      </p:sp>
      <p:sp>
        <p:nvSpPr>
          <p:cNvPr id="11" name="Text 9"/>
          <p:cNvSpPr/>
          <p:nvPr/>
        </p:nvSpPr>
        <p:spPr>
          <a:xfrm>
            <a:off x="365760" y="1591056"/>
            <a:ext cx="1371600" cy="37490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DistilBART M2-Eng</a:t>
            </a:r>
            <a:endParaRPr lang="en-US" sz="950" dirty="0"/>
          </a:p>
        </p:txBody>
      </p:sp>
      <p:sp>
        <p:nvSpPr>
          <p:cNvPr id="12" name="Text 10"/>
          <p:cNvSpPr/>
          <p:nvPr/>
        </p:nvSpPr>
        <p:spPr>
          <a:xfrm>
            <a:off x="3721608" y="1636776"/>
            <a:ext cx="2560320" cy="219456"/>
          </a:xfrm>
          <a:prstGeom prst="rect">
            <a:avLst/>
          </a:prstGeom>
          <a:noFill/>
          <a:ln/>
        </p:spPr>
        <p:txBody>
          <a:bodyPr wrap="square" rtlCol="0" anchor="ctr"/>
          <a:lstStyle/>
          <a:p>
            <a:pPr marL="0" indent="0">
              <a:buNone/>
            </a:pPr>
            <a:r>
              <a:rPr lang="en-US" sz="1000" b="1" dirty="0">
                <a:solidFill>
                  <a:srgbClr val="333333"/>
                </a:solidFill>
                <a:latin typeface="Calibri" pitchFamily="34" charset="0"/>
                <a:ea typeface="Calibri" pitchFamily="34" charset="-122"/>
                <a:cs typeface="Calibri" pitchFamily="34" charset="-120"/>
              </a:rPr>
              <a:t>RL:0.181  R1:0.238  R2:0.086  BS:0.788</a:t>
            </a:r>
            <a:endParaRPr lang="en-US" sz="1000" dirty="0"/>
          </a:p>
        </p:txBody>
      </p:sp>
      <p:sp>
        <p:nvSpPr>
          <p:cNvPr id="13" name="Shape 11"/>
          <p:cNvSpPr/>
          <p:nvPr/>
        </p:nvSpPr>
        <p:spPr>
          <a:xfrm>
            <a:off x="320040" y="2039112"/>
            <a:ext cx="2513769" cy="374904"/>
          </a:xfrm>
          <a:prstGeom prst="rect">
            <a:avLst/>
          </a:prstGeom>
          <a:solidFill>
            <a:srgbClr val="888888"/>
          </a:solidFill>
          <a:ln/>
        </p:spPr>
        <p:txBody>
          <a:bodyPr/>
          <a:lstStyle/>
          <a:p>
            <a:endParaRPr lang="en-IN"/>
          </a:p>
        </p:txBody>
      </p:sp>
      <p:sp>
        <p:nvSpPr>
          <p:cNvPr id="14" name="Text 12"/>
          <p:cNvSpPr/>
          <p:nvPr/>
        </p:nvSpPr>
        <p:spPr>
          <a:xfrm>
            <a:off x="365760" y="2039112"/>
            <a:ext cx="1371600" cy="37490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Flan-T5 Baseline</a:t>
            </a:r>
            <a:endParaRPr lang="en-US" sz="950" dirty="0"/>
          </a:p>
        </p:txBody>
      </p:sp>
      <p:sp>
        <p:nvSpPr>
          <p:cNvPr id="15" name="Text 13"/>
          <p:cNvSpPr/>
          <p:nvPr/>
        </p:nvSpPr>
        <p:spPr>
          <a:xfrm>
            <a:off x="3721608" y="2084832"/>
            <a:ext cx="2560320" cy="219456"/>
          </a:xfrm>
          <a:prstGeom prst="rect">
            <a:avLst/>
          </a:prstGeom>
          <a:noFill/>
          <a:ln/>
        </p:spPr>
        <p:txBody>
          <a:bodyPr wrap="square" rtlCol="0" anchor="ctr"/>
          <a:lstStyle/>
          <a:p>
            <a:pPr marL="0" indent="0">
              <a:buNone/>
            </a:pPr>
            <a:r>
              <a:rPr lang="en-US" sz="1000" b="1" dirty="0">
                <a:solidFill>
                  <a:srgbClr val="333333"/>
                </a:solidFill>
                <a:latin typeface="Calibri" pitchFamily="34" charset="0"/>
                <a:ea typeface="Calibri" pitchFamily="34" charset="-122"/>
                <a:cs typeface="Calibri" pitchFamily="34" charset="-120"/>
              </a:rPr>
              <a:t>RL:0.168  R1:0.247  R2:0.057  BS:0.763</a:t>
            </a:r>
            <a:endParaRPr lang="en-US" sz="1000" dirty="0"/>
          </a:p>
        </p:txBody>
      </p:sp>
      <p:sp>
        <p:nvSpPr>
          <p:cNvPr id="16" name="Shape 14"/>
          <p:cNvSpPr/>
          <p:nvPr/>
        </p:nvSpPr>
        <p:spPr>
          <a:xfrm>
            <a:off x="320040" y="2487168"/>
            <a:ext cx="1990067" cy="374904"/>
          </a:xfrm>
          <a:prstGeom prst="rect">
            <a:avLst/>
          </a:prstGeom>
          <a:solidFill>
            <a:srgbClr val="3366AA"/>
          </a:solidFill>
          <a:ln/>
        </p:spPr>
        <p:txBody>
          <a:bodyPr/>
          <a:lstStyle/>
          <a:p>
            <a:endParaRPr lang="en-IN"/>
          </a:p>
        </p:txBody>
      </p:sp>
      <p:sp>
        <p:nvSpPr>
          <p:cNvPr id="17" name="Text 15"/>
          <p:cNvSpPr/>
          <p:nvPr/>
        </p:nvSpPr>
        <p:spPr>
          <a:xfrm>
            <a:off x="365760" y="2487168"/>
            <a:ext cx="1371600" cy="37490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Flan-T5 M1</a:t>
            </a:r>
            <a:endParaRPr lang="en-US" sz="950" dirty="0"/>
          </a:p>
        </p:txBody>
      </p:sp>
      <p:sp>
        <p:nvSpPr>
          <p:cNvPr id="18" name="Text 16"/>
          <p:cNvSpPr/>
          <p:nvPr/>
        </p:nvSpPr>
        <p:spPr>
          <a:xfrm>
            <a:off x="3721608" y="2532888"/>
            <a:ext cx="2560320" cy="219456"/>
          </a:xfrm>
          <a:prstGeom prst="rect">
            <a:avLst/>
          </a:prstGeom>
          <a:noFill/>
          <a:ln/>
        </p:spPr>
        <p:txBody>
          <a:bodyPr wrap="square" rtlCol="0" anchor="ctr"/>
          <a:lstStyle/>
          <a:p>
            <a:pPr marL="0" indent="0">
              <a:buNone/>
            </a:pPr>
            <a:r>
              <a:rPr lang="en-US" sz="1000" b="1" dirty="0">
                <a:solidFill>
                  <a:srgbClr val="333333"/>
                </a:solidFill>
                <a:latin typeface="Calibri" pitchFamily="34" charset="0"/>
                <a:ea typeface="Calibri" pitchFamily="34" charset="-122"/>
                <a:cs typeface="Calibri" pitchFamily="34" charset="-120"/>
              </a:rPr>
              <a:t>RL:0.133  R1:0.194  R2:0.034  BS:0.764</a:t>
            </a:r>
            <a:endParaRPr lang="en-US" sz="1000" dirty="0"/>
          </a:p>
        </p:txBody>
      </p:sp>
      <p:sp>
        <p:nvSpPr>
          <p:cNvPr id="19" name="Shape 17"/>
          <p:cNvSpPr/>
          <p:nvPr/>
        </p:nvSpPr>
        <p:spPr>
          <a:xfrm>
            <a:off x="320040" y="2935224"/>
            <a:ext cx="1601031" cy="374904"/>
          </a:xfrm>
          <a:prstGeom prst="rect">
            <a:avLst/>
          </a:prstGeom>
          <a:solidFill>
            <a:srgbClr val="999999"/>
          </a:solidFill>
          <a:ln/>
        </p:spPr>
        <p:txBody>
          <a:bodyPr/>
          <a:lstStyle/>
          <a:p>
            <a:endParaRPr lang="en-IN"/>
          </a:p>
        </p:txBody>
      </p:sp>
      <p:sp>
        <p:nvSpPr>
          <p:cNvPr id="20" name="Text 18"/>
          <p:cNvSpPr/>
          <p:nvPr/>
        </p:nvSpPr>
        <p:spPr>
          <a:xfrm>
            <a:off x="365760" y="2935224"/>
            <a:ext cx="1371600" cy="37490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PEGASUS Baseline</a:t>
            </a:r>
            <a:endParaRPr lang="en-US" sz="950" dirty="0"/>
          </a:p>
        </p:txBody>
      </p:sp>
      <p:sp>
        <p:nvSpPr>
          <p:cNvPr id="21" name="Text 19"/>
          <p:cNvSpPr/>
          <p:nvPr/>
        </p:nvSpPr>
        <p:spPr>
          <a:xfrm>
            <a:off x="3721608" y="2980944"/>
            <a:ext cx="2560320" cy="219456"/>
          </a:xfrm>
          <a:prstGeom prst="rect">
            <a:avLst/>
          </a:prstGeom>
          <a:noFill/>
          <a:ln/>
        </p:spPr>
        <p:txBody>
          <a:bodyPr wrap="square" rtlCol="0" anchor="ctr"/>
          <a:lstStyle/>
          <a:p>
            <a:pPr marL="0" indent="0">
              <a:buNone/>
            </a:pPr>
            <a:r>
              <a:rPr lang="en-US" sz="1000" b="1" dirty="0">
                <a:solidFill>
                  <a:srgbClr val="333333"/>
                </a:solidFill>
                <a:latin typeface="Calibri" pitchFamily="34" charset="0"/>
                <a:ea typeface="Calibri" pitchFamily="34" charset="-122"/>
                <a:cs typeface="Calibri" pitchFamily="34" charset="-120"/>
              </a:rPr>
              <a:t>RL:0.107  R1:0.159  R2:0.013  BS:0.715</a:t>
            </a:r>
            <a:endParaRPr lang="en-US" sz="1000" dirty="0"/>
          </a:p>
        </p:txBody>
      </p:sp>
      <p:sp>
        <p:nvSpPr>
          <p:cNvPr id="22" name="Shape 20"/>
          <p:cNvSpPr/>
          <p:nvPr/>
        </p:nvSpPr>
        <p:spPr>
          <a:xfrm>
            <a:off x="5852160" y="694944"/>
            <a:ext cx="2971800" cy="274320"/>
          </a:xfrm>
          <a:prstGeom prst="rect">
            <a:avLst/>
          </a:prstGeom>
          <a:solidFill>
            <a:srgbClr val="F5C300"/>
          </a:solidFill>
          <a:ln w="12700">
            <a:solidFill>
              <a:srgbClr val="F5C300"/>
            </a:solidFill>
            <a:prstDash val="solid"/>
          </a:ln>
        </p:spPr>
        <p:txBody>
          <a:bodyPr/>
          <a:lstStyle/>
          <a:p>
            <a:endParaRPr lang="en-IN"/>
          </a:p>
        </p:txBody>
      </p:sp>
      <p:sp>
        <p:nvSpPr>
          <p:cNvPr id="23" name="Text 21"/>
          <p:cNvSpPr/>
          <p:nvPr/>
        </p:nvSpPr>
        <p:spPr>
          <a:xfrm>
            <a:off x="5852160" y="694944"/>
            <a:ext cx="2971800" cy="274320"/>
          </a:xfrm>
          <a:prstGeom prst="rect">
            <a:avLst/>
          </a:prstGeom>
          <a:noFill/>
          <a:ln/>
        </p:spPr>
        <p:txBody>
          <a:bodyPr wrap="square" rtlCol="0" anchor="ctr"/>
          <a:lstStyle/>
          <a:p>
            <a:pPr marL="0" indent="0" algn="ctr">
              <a:buNone/>
            </a:pPr>
            <a:r>
              <a:rPr lang="en-US" sz="1100" b="1" dirty="0">
                <a:solidFill>
                  <a:srgbClr val="000000"/>
                </a:solidFill>
                <a:latin typeface="Calibri" pitchFamily="34" charset="0"/>
                <a:ea typeface="Calibri" pitchFamily="34" charset="-122"/>
                <a:cs typeface="Calibri" pitchFamily="34" charset="-120"/>
              </a:rPr>
              <a:t>Key Findings</a:t>
            </a:r>
            <a:endParaRPr lang="en-US" sz="1100" dirty="0"/>
          </a:p>
        </p:txBody>
      </p:sp>
      <p:sp>
        <p:nvSpPr>
          <p:cNvPr id="24" name="Shape 22"/>
          <p:cNvSpPr/>
          <p:nvPr/>
        </p:nvSpPr>
        <p:spPr>
          <a:xfrm>
            <a:off x="5852160" y="969264"/>
            <a:ext cx="2971800" cy="2212848"/>
          </a:xfrm>
          <a:prstGeom prst="rect">
            <a:avLst/>
          </a:prstGeom>
          <a:solidFill>
            <a:srgbClr val="F2F2F2"/>
          </a:solidFill>
          <a:ln w="6350">
            <a:solidFill>
              <a:srgbClr val="CCCCCC"/>
            </a:solidFill>
            <a:prstDash val="solid"/>
          </a:ln>
        </p:spPr>
        <p:txBody>
          <a:bodyPr/>
          <a:lstStyle/>
          <a:p>
            <a:endParaRPr lang="en-IN"/>
          </a:p>
        </p:txBody>
      </p:sp>
      <p:sp>
        <p:nvSpPr>
          <p:cNvPr id="25" name="Shape 23"/>
          <p:cNvSpPr/>
          <p:nvPr/>
        </p:nvSpPr>
        <p:spPr>
          <a:xfrm>
            <a:off x="5907024" y="1024128"/>
            <a:ext cx="128016" cy="128016"/>
          </a:xfrm>
          <a:prstGeom prst="rect">
            <a:avLst/>
          </a:prstGeom>
          <a:solidFill>
            <a:srgbClr val="F5C300"/>
          </a:solidFill>
          <a:ln/>
        </p:spPr>
        <p:txBody>
          <a:bodyPr/>
          <a:lstStyle/>
          <a:p>
            <a:endParaRPr lang="en-IN"/>
          </a:p>
        </p:txBody>
      </p:sp>
      <p:sp>
        <p:nvSpPr>
          <p:cNvPr id="26" name="Text 24"/>
          <p:cNvSpPr/>
          <p:nvPr/>
        </p:nvSpPr>
        <p:spPr>
          <a:xfrm>
            <a:off x="6089904" y="1024128"/>
            <a:ext cx="2651760" cy="182880"/>
          </a:xfrm>
          <a:prstGeom prst="rect">
            <a:avLst/>
          </a:prstGeom>
          <a:noFill/>
          <a:ln/>
        </p:spPr>
        <p:txBody>
          <a:bodyPr wrap="square" rtlCol="0" anchor="ctr"/>
          <a:lstStyle/>
          <a:p>
            <a:pPr marL="0" indent="0">
              <a:buNone/>
            </a:pPr>
            <a:r>
              <a:rPr lang="en-US" sz="1000" b="1" dirty="0">
                <a:solidFill>
                  <a:srgbClr val="000000"/>
                </a:solidFill>
                <a:latin typeface="Calibri" pitchFamily="34" charset="0"/>
                <a:ea typeface="Calibri" pitchFamily="34" charset="-122"/>
                <a:cs typeface="Calibri" pitchFamily="34" charset="-120"/>
              </a:rPr>
              <a:t>ROUGE-1 favours Baseline</a:t>
            </a:r>
            <a:endParaRPr lang="en-US" sz="1000" dirty="0"/>
          </a:p>
        </p:txBody>
      </p:sp>
      <p:sp>
        <p:nvSpPr>
          <p:cNvPr id="27" name="Text 25"/>
          <p:cNvSpPr/>
          <p:nvPr/>
        </p:nvSpPr>
        <p:spPr>
          <a:xfrm>
            <a:off x="6089904" y="1225296"/>
            <a:ext cx="2651760" cy="256032"/>
          </a:xfrm>
          <a:prstGeom prst="rect">
            <a:avLst/>
          </a:prstGeom>
          <a:noFill/>
          <a:ln/>
        </p:spPr>
        <p:txBody>
          <a:bodyPr wrap="square" rtlCol="0" anchor="ctr"/>
          <a:lstStyle/>
          <a:p>
            <a:pPr marL="0" indent="0">
              <a:buNone/>
            </a:pPr>
            <a:r>
              <a:rPr lang="en-US" sz="950" dirty="0">
                <a:solidFill>
                  <a:srgbClr val="666666"/>
                </a:solidFill>
                <a:latin typeface="Calibri" pitchFamily="34" charset="0"/>
                <a:ea typeface="Calibri" pitchFamily="34" charset="-122"/>
                <a:cs typeface="Calibri" pitchFamily="34" charset="-120"/>
              </a:rPr>
              <a:t>Word overlap != coherence quality</a:t>
            </a:r>
            <a:endParaRPr lang="en-US" sz="950" dirty="0"/>
          </a:p>
        </p:txBody>
      </p:sp>
      <p:sp>
        <p:nvSpPr>
          <p:cNvPr id="28" name="Shape 26"/>
          <p:cNvSpPr/>
          <p:nvPr/>
        </p:nvSpPr>
        <p:spPr>
          <a:xfrm>
            <a:off x="5907024" y="1563624"/>
            <a:ext cx="128016" cy="128016"/>
          </a:xfrm>
          <a:prstGeom prst="rect">
            <a:avLst/>
          </a:prstGeom>
          <a:solidFill>
            <a:srgbClr val="F5C300"/>
          </a:solidFill>
          <a:ln/>
        </p:spPr>
        <p:txBody>
          <a:bodyPr/>
          <a:lstStyle/>
          <a:p>
            <a:endParaRPr lang="en-IN"/>
          </a:p>
        </p:txBody>
      </p:sp>
      <p:sp>
        <p:nvSpPr>
          <p:cNvPr id="29" name="Text 27"/>
          <p:cNvSpPr/>
          <p:nvPr/>
        </p:nvSpPr>
        <p:spPr>
          <a:xfrm>
            <a:off x="6089904" y="1563624"/>
            <a:ext cx="2651760" cy="182880"/>
          </a:xfrm>
          <a:prstGeom prst="rect">
            <a:avLst/>
          </a:prstGeom>
          <a:noFill/>
          <a:ln/>
        </p:spPr>
        <p:txBody>
          <a:bodyPr wrap="square" rtlCol="0" anchor="ctr"/>
          <a:lstStyle/>
          <a:p>
            <a:pPr marL="0" indent="0">
              <a:buNone/>
            </a:pPr>
            <a:r>
              <a:rPr lang="en-US" sz="1000" b="1" dirty="0">
                <a:solidFill>
                  <a:srgbClr val="000000"/>
                </a:solidFill>
                <a:latin typeface="Calibri" pitchFamily="34" charset="0"/>
                <a:ea typeface="Calibri" pitchFamily="34" charset="-122"/>
                <a:cs typeface="Calibri" pitchFamily="34" charset="-120"/>
              </a:rPr>
              <a:t>Method 1 best BERTScore</a:t>
            </a:r>
            <a:endParaRPr lang="en-US" sz="1000" dirty="0"/>
          </a:p>
        </p:txBody>
      </p:sp>
      <p:sp>
        <p:nvSpPr>
          <p:cNvPr id="30" name="Text 28"/>
          <p:cNvSpPr/>
          <p:nvPr/>
        </p:nvSpPr>
        <p:spPr>
          <a:xfrm>
            <a:off x="6089904" y="1764792"/>
            <a:ext cx="2651760" cy="256032"/>
          </a:xfrm>
          <a:prstGeom prst="rect">
            <a:avLst/>
          </a:prstGeom>
          <a:noFill/>
          <a:ln/>
        </p:spPr>
        <p:txBody>
          <a:bodyPr wrap="square" rtlCol="0" anchor="ctr"/>
          <a:lstStyle/>
          <a:p>
            <a:pPr marL="0" indent="0">
              <a:buNone/>
            </a:pPr>
            <a:r>
              <a:rPr lang="en-US" sz="950" dirty="0">
                <a:solidFill>
                  <a:srgbClr val="666666"/>
                </a:solidFill>
                <a:latin typeface="Calibri" pitchFamily="34" charset="0"/>
                <a:ea typeface="Calibri" pitchFamily="34" charset="-122"/>
                <a:cs typeface="Calibri" pitchFamily="34" charset="-120"/>
              </a:rPr>
              <a:t>Coherent narrative = better semantics</a:t>
            </a:r>
            <a:endParaRPr lang="en-US" sz="950" dirty="0"/>
          </a:p>
        </p:txBody>
      </p:sp>
      <p:sp>
        <p:nvSpPr>
          <p:cNvPr id="31" name="Shape 29"/>
          <p:cNvSpPr/>
          <p:nvPr/>
        </p:nvSpPr>
        <p:spPr>
          <a:xfrm>
            <a:off x="5907024" y="2103120"/>
            <a:ext cx="128016" cy="128016"/>
          </a:xfrm>
          <a:prstGeom prst="rect">
            <a:avLst/>
          </a:prstGeom>
          <a:solidFill>
            <a:srgbClr val="F5C300"/>
          </a:solidFill>
          <a:ln/>
        </p:spPr>
        <p:txBody>
          <a:bodyPr/>
          <a:lstStyle/>
          <a:p>
            <a:endParaRPr lang="en-IN"/>
          </a:p>
        </p:txBody>
      </p:sp>
      <p:sp>
        <p:nvSpPr>
          <p:cNvPr id="32" name="Text 30"/>
          <p:cNvSpPr/>
          <p:nvPr/>
        </p:nvSpPr>
        <p:spPr>
          <a:xfrm>
            <a:off x="6089904" y="2103120"/>
            <a:ext cx="2651760" cy="182880"/>
          </a:xfrm>
          <a:prstGeom prst="rect">
            <a:avLst/>
          </a:prstGeom>
          <a:noFill/>
          <a:ln/>
        </p:spPr>
        <p:txBody>
          <a:bodyPr wrap="square" rtlCol="0" anchor="ctr"/>
          <a:lstStyle/>
          <a:p>
            <a:pPr marL="0" indent="0">
              <a:buNone/>
            </a:pPr>
            <a:r>
              <a:rPr lang="en-US" sz="1000" b="1" dirty="0">
                <a:solidFill>
                  <a:srgbClr val="000000"/>
                </a:solidFill>
                <a:latin typeface="Calibri" pitchFamily="34" charset="0"/>
                <a:ea typeface="Calibri" pitchFamily="34" charset="-122"/>
                <a:cs typeface="Calibri" pitchFamily="34" charset="-120"/>
              </a:rPr>
              <a:t>M2-Eng best ROUGE-2</a:t>
            </a:r>
            <a:endParaRPr lang="en-US" sz="1000" dirty="0"/>
          </a:p>
        </p:txBody>
      </p:sp>
      <p:sp>
        <p:nvSpPr>
          <p:cNvPr id="33" name="Text 31"/>
          <p:cNvSpPr/>
          <p:nvPr/>
        </p:nvSpPr>
        <p:spPr>
          <a:xfrm>
            <a:off x="6089904" y="2304288"/>
            <a:ext cx="2651760" cy="256032"/>
          </a:xfrm>
          <a:prstGeom prst="rect">
            <a:avLst/>
          </a:prstGeom>
          <a:noFill/>
          <a:ln/>
        </p:spPr>
        <p:txBody>
          <a:bodyPr wrap="square" rtlCol="0" anchor="ctr"/>
          <a:lstStyle/>
          <a:p>
            <a:pPr marL="0" indent="0">
              <a:buNone/>
            </a:pPr>
            <a:r>
              <a:rPr lang="en-US" sz="950" dirty="0">
                <a:solidFill>
                  <a:srgbClr val="666666"/>
                </a:solidFill>
                <a:latin typeface="Calibri" pitchFamily="34" charset="0"/>
                <a:ea typeface="Calibri" pitchFamily="34" charset="-122"/>
                <a:cs typeface="Calibri" pitchFamily="34" charset="-120"/>
              </a:rPr>
              <a:t>0.086 — best bigram vs role ref.</a:t>
            </a:r>
            <a:endParaRPr lang="en-US" sz="950" dirty="0"/>
          </a:p>
        </p:txBody>
      </p:sp>
      <p:sp>
        <p:nvSpPr>
          <p:cNvPr id="34" name="Shape 32"/>
          <p:cNvSpPr/>
          <p:nvPr/>
        </p:nvSpPr>
        <p:spPr>
          <a:xfrm>
            <a:off x="5907024" y="2642616"/>
            <a:ext cx="128016" cy="128016"/>
          </a:xfrm>
          <a:prstGeom prst="rect">
            <a:avLst/>
          </a:prstGeom>
          <a:solidFill>
            <a:srgbClr val="F5C300"/>
          </a:solidFill>
          <a:ln/>
        </p:spPr>
        <p:txBody>
          <a:bodyPr/>
          <a:lstStyle/>
          <a:p>
            <a:endParaRPr lang="en-IN"/>
          </a:p>
        </p:txBody>
      </p:sp>
      <p:sp>
        <p:nvSpPr>
          <p:cNvPr id="35" name="Text 33"/>
          <p:cNvSpPr/>
          <p:nvPr/>
        </p:nvSpPr>
        <p:spPr>
          <a:xfrm>
            <a:off x="6089904" y="2642616"/>
            <a:ext cx="2651760" cy="182880"/>
          </a:xfrm>
          <a:prstGeom prst="rect">
            <a:avLst/>
          </a:prstGeom>
          <a:noFill/>
          <a:ln/>
        </p:spPr>
        <p:txBody>
          <a:bodyPr wrap="square" rtlCol="0" anchor="ctr"/>
          <a:lstStyle/>
          <a:p>
            <a:pPr marL="0" indent="0">
              <a:buNone/>
            </a:pPr>
            <a:r>
              <a:rPr lang="en-US" sz="1000" b="1" dirty="0">
                <a:solidFill>
                  <a:srgbClr val="000000"/>
                </a:solidFill>
                <a:latin typeface="Calibri" pitchFamily="34" charset="0"/>
                <a:ea typeface="Calibri" pitchFamily="34" charset="-122"/>
                <a:cs typeface="Calibri" pitchFamily="34" charset="-120"/>
              </a:rPr>
              <a:t>PEGASUS too brief</a:t>
            </a:r>
            <a:endParaRPr lang="en-US" sz="1000" dirty="0"/>
          </a:p>
        </p:txBody>
      </p:sp>
      <p:sp>
        <p:nvSpPr>
          <p:cNvPr id="36" name="Text 34"/>
          <p:cNvSpPr/>
          <p:nvPr/>
        </p:nvSpPr>
        <p:spPr>
          <a:xfrm>
            <a:off x="6089904" y="2843784"/>
            <a:ext cx="2651760" cy="256032"/>
          </a:xfrm>
          <a:prstGeom prst="rect">
            <a:avLst/>
          </a:prstGeom>
          <a:noFill/>
          <a:ln/>
        </p:spPr>
        <p:txBody>
          <a:bodyPr wrap="square" rtlCol="0" anchor="ctr"/>
          <a:lstStyle/>
          <a:p>
            <a:pPr marL="0" indent="0">
              <a:buNone/>
            </a:pPr>
            <a:r>
              <a:rPr lang="en-US" sz="950" dirty="0">
                <a:solidFill>
                  <a:srgbClr val="666666"/>
                </a:solidFill>
                <a:latin typeface="Calibri" pitchFamily="34" charset="0"/>
                <a:ea typeface="Calibri" pitchFamily="34" charset="-122"/>
                <a:cs typeface="Calibri" pitchFamily="34" charset="-120"/>
              </a:rPr>
              <a:t>XSum objective loses meeting content</a:t>
            </a:r>
            <a:endParaRPr lang="en-US" sz="950" dirty="0"/>
          </a:p>
        </p:txBody>
      </p:sp>
      <p:sp>
        <p:nvSpPr>
          <p:cNvPr id="37" name="Shape 35"/>
          <p:cNvSpPr/>
          <p:nvPr/>
        </p:nvSpPr>
        <p:spPr>
          <a:xfrm>
            <a:off x="320040" y="3255264"/>
            <a:ext cx="8503920" cy="438912"/>
          </a:xfrm>
          <a:prstGeom prst="rect">
            <a:avLst/>
          </a:prstGeom>
          <a:solidFill>
            <a:srgbClr val="FFF9E6"/>
          </a:solidFill>
          <a:ln w="12700">
            <a:solidFill>
              <a:srgbClr val="F5C300"/>
            </a:solidFill>
            <a:prstDash val="solid"/>
          </a:ln>
        </p:spPr>
        <p:txBody>
          <a:bodyPr/>
          <a:lstStyle/>
          <a:p>
            <a:endParaRPr lang="en-IN"/>
          </a:p>
        </p:txBody>
      </p:sp>
      <p:sp>
        <p:nvSpPr>
          <p:cNvPr id="38" name="Text 36"/>
          <p:cNvSpPr/>
          <p:nvPr/>
        </p:nvSpPr>
        <p:spPr>
          <a:xfrm>
            <a:off x="411480" y="3255264"/>
            <a:ext cx="8321040" cy="438912"/>
          </a:xfrm>
          <a:prstGeom prst="rect">
            <a:avLst/>
          </a:prstGeom>
          <a:noFill/>
          <a:ln/>
        </p:spPr>
        <p:txBody>
          <a:bodyPr wrap="square" rtlCol="0" anchor="ctr"/>
          <a:lstStyle/>
          <a:p>
            <a:pPr marL="0" indent="0">
              <a:buNone/>
            </a:pPr>
            <a:r>
              <a:rPr lang="en-US" sz="1100" b="1" dirty="0">
                <a:solidFill>
                  <a:srgbClr val="7A5C00"/>
                </a:solidFill>
                <a:latin typeface="Calibri" pitchFamily="34" charset="0"/>
                <a:ea typeface="Calibri" pitchFamily="34" charset="-122"/>
                <a:cs typeface="Calibri" pitchFamily="34" charset="-120"/>
              </a:rPr>
              <a:t>ROUGE limitation: </a:t>
            </a:r>
            <a:r>
              <a:rPr lang="en-US" sz="1100" dirty="0">
                <a:solidFill>
                  <a:srgbClr val="333333"/>
                </a:solidFill>
                <a:latin typeface="Calibri" pitchFamily="34" charset="0"/>
                <a:ea typeface="Calibri" pitchFamily="34" charset="-122"/>
                <a:cs typeface="Calibri" pitchFamily="34" charset="-120"/>
              </a:rPr>
              <a:t>ROUGE penalises longer outputs even when more informative. BERTScore + human rubric are the true quality discriminators for persona-specific summarization.</a:t>
            </a:r>
            <a:endParaRPr lang="en-US" sz="1100" dirty="0"/>
          </a:p>
        </p:txBody>
      </p:sp>
      <p:sp>
        <p:nvSpPr>
          <p:cNvPr id="39" name="Text 37"/>
          <p:cNvSpPr/>
          <p:nvPr/>
        </p:nvSpPr>
        <p:spPr>
          <a:xfrm>
            <a:off x="320040" y="3785616"/>
            <a:ext cx="8503920" cy="182880"/>
          </a:xfrm>
          <a:prstGeom prst="rect">
            <a:avLst/>
          </a:prstGeom>
          <a:noFill/>
          <a:ln/>
        </p:spPr>
        <p:txBody>
          <a:bodyPr wrap="square" rtlCol="0" anchor="ctr"/>
          <a:lstStyle/>
          <a:p>
            <a:pPr marL="0" indent="0">
              <a:buNone/>
            </a:pPr>
            <a:r>
              <a:rPr lang="en-US" sz="900" i="1" dirty="0">
                <a:solidFill>
                  <a:srgbClr val="666666"/>
                </a:solidFill>
                <a:latin typeface="Calibri" pitchFamily="34" charset="0"/>
                <a:ea typeface="Calibri" pitchFamily="34" charset="-122"/>
                <a:cs typeface="Calibri" pitchFamily="34" charset="-120"/>
              </a:rPr>
              <a:t>* Averaged across all 15 AMI meetings (ES2002, IS1003, IS1006, TS3003 series)  |  BERTScore: distilbert-base-uncased</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0040" y="82296"/>
            <a:ext cx="8503920" cy="475488"/>
          </a:xfrm>
          <a:prstGeom prst="rect">
            <a:avLst/>
          </a:prstGeom>
          <a:noFill/>
          <a:ln/>
        </p:spPr>
        <p:txBody>
          <a:bodyPr wrap="square" rtlCol="0" anchor="ctr"/>
          <a:lstStyle/>
          <a:p>
            <a:pPr marL="0" indent="0">
              <a:buNone/>
            </a:pPr>
            <a:r>
              <a:rPr lang="en-US" sz="2200" b="1" dirty="0">
                <a:solidFill>
                  <a:srgbClr val="000000"/>
                </a:solidFill>
                <a:latin typeface="Calibri" pitchFamily="34" charset="0"/>
                <a:ea typeface="Calibri" pitchFamily="34" charset="-122"/>
                <a:cs typeface="Calibri" pitchFamily="34" charset="-120"/>
              </a:rPr>
              <a:t>Human Evaluation Rubric — 3 Raters, 4 Dimensions</a:t>
            </a:r>
            <a:endParaRPr lang="en-US" sz="2200" dirty="0"/>
          </a:p>
        </p:txBody>
      </p:sp>
      <p:sp>
        <p:nvSpPr>
          <p:cNvPr id="3" name="Text 1"/>
          <p:cNvSpPr/>
          <p:nvPr/>
        </p:nvSpPr>
        <p:spPr>
          <a:xfrm>
            <a:off x="137160" y="4864608"/>
            <a:ext cx="320040" cy="182880"/>
          </a:xfrm>
          <a:prstGeom prst="rect">
            <a:avLst/>
          </a:prstGeom>
          <a:noFill/>
          <a:ln/>
        </p:spPr>
        <p:txBody>
          <a:bodyPr wrap="square" rtlCol="0" anchor="ctr"/>
          <a:lstStyle/>
          <a:p>
            <a:pPr marL="0" indent="0">
              <a:buNone/>
            </a:pPr>
            <a:r>
              <a:rPr lang="en-US" sz="1000" dirty="0">
                <a:solidFill>
                  <a:srgbClr val="666666"/>
                </a:solidFill>
                <a:latin typeface="Calibri" pitchFamily="34" charset="0"/>
                <a:ea typeface="Calibri" pitchFamily="34" charset="-122"/>
                <a:cs typeface="Calibri" pitchFamily="34" charset="-120"/>
              </a:rPr>
              <a:t>9</a:t>
            </a:r>
            <a:endParaRPr lang="en-US" sz="1000" dirty="0"/>
          </a:p>
        </p:txBody>
      </p:sp>
      <p:sp>
        <p:nvSpPr>
          <p:cNvPr id="4" name="Shape 2"/>
          <p:cNvSpPr/>
          <p:nvPr/>
        </p:nvSpPr>
        <p:spPr>
          <a:xfrm>
            <a:off x="320040" y="676656"/>
            <a:ext cx="8503920" cy="256032"/>
          </a:xfrm>
          <a:prstGeom prst="rect">
            <a:avLst/>
          </a:prstGeom>
          <a:solidFill>
            <a:srgbClr val="F5C300"/>
          </a:solidFill>
          <a:ln w="12700">
            <a:solidFill>
              <a:srgbClr val="F5C300"/>
            </a:solidFill>
            <a:prstDash val="solid"/>
          </a:ln>
        </p:spPr>
        <p:txBody>
          <a:bodyPr/>
          <a:lstStyle/>
          <a:p>
            <a:endParaRPr lang="en-IN"/>
          </a:p>
        </p:txBody>
      </p:sp>
      <p:sp>
        <p:nvSpPr>
          <p:cNvPr id="5" name="Text 3"/>
          <p:cNvSpPr/>
          <p:nvPr/>
        </p:nvSpPr>
        <p:spPr>
          <a:xfrm>
            <a:off x="320040" y="676656"/>
            <a:ext cx="8503920" cy="256032"/>
          </a:xfrm>
          <a:prstGeom prst="rect">
            <a:avLst/>
          </a:prstGeom>
          <a:noFill/>
          <a:ln/>
        </p:spPr>
        <p:txBody>
          <a:bodyPr wrap="square" rtlCol="0" anchor="ctr"/>
          <a:lstStyle/>
          <a:p>
            <a:pPr marL="0" indent="0" algn="ctr">
              <a:buNone/>
            </a:pPr>
            <a:r>
              <a:rPr lang="en-US" sz="1050" b="1" dirty="0">
                <a:solidFill>
                  <a:srgbClr val="000000"/>
                </a:solidFill>
                <a:latin typeface="Calibri" pitchFamily="34" charset="0"/>
                <a:ea typeface="Calibri" pitchFamily="34" charset="-122"/>
                <a:cs typeface="Calibri" pitchFamily="34" charset="-120"/>
              </a:rPr>
              <a:t>4 Dimensions · 1–5 Likert Scale · 3 Raters · Averaged over 15 Meetings × 3 Models</a:t>
            </a:r>
            <a:endParaRPr lang="en-US" sz="1050" dirty="0"/>
          </a:p>
        </p:txBody>
      </p:sp>
      <p:sp>
        <p:nvSpPr>
          <p:cNvPr id="6" name="Shape 4"/>
          <p:cNvSpPr/>
          <p:nvPr/>
        </p:nvSpPr>
        <p:spPr>
          <a:xfrm>
            <a:off x="320040" y="1005840"/>
            <a:ext cx="2057400" cy="310896"/>
          </a:xfrm>
          <a:prstGeom prst="rect">
            <a:avLst/>
          </a:prstGeom>
          <a:solidFill>
            <a:srgbClr val="1F5C99"/>
          </a:solidFill>
          <a:ln/>
        </p:spPr>
        <p:txBody>
          <a:bodyPr/>
          <a:lstStyle/>
          <a:p>
            <a:endParaRPr lang="en-IN"/>
          </a:p>
        </p:txBody>
      </p:sp>
      <p:sp>
        <p:nvSpPr>
          <p:cNvPr id="7" name="Text 5"/>
          <p:cNvSpPr/>
          <p:nvPr/>
        </p:nvSpPr>
        <p:spPr>
          <a:xfrm>
            <a:off x="320040" y="1005840"/>
            <a:ext cx="2057400" cy="310896"/>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Accuracy</a:t>
            </a:r>
            <a:endParaRPr lang="en-US" sz="1050" dirty="0"/>
          </a:p>
        </p:txBody>
      </p:sp>
      <p:sp>
        <p:nvSpPr>
          <p:cNvPr id="8" name="Shape 6"/>
          <p:cNvSpPr/>
          <p:nvPr/>
        </p:nvSpPr>
        <p:spPr>
          <a:xfrm>
            <a:off x="320040" y="1316736"/>
            <a:ext cx="2057400" cy="786384"/>
          </a:xfrm>
          <a:prstGeom prst="rect">
            <a:avLst/>
          </a:prstGeom>
          <a:solidFill>
            <a:srgbClr val="FFFFFF"/>
          </a:solidFill>
          <a:ln w="6350">
            <a:solidFill>
              <a:srgbClr val="CCCCCC"/>
            </a:solidFill>
            <a:prstDash val="solid"/>
          </a:ln>
        </p:spPr>
        <p:txBody>
          <a:bodyPr/>
          <a:lstStyle/>
          <a:p>
            <a:endParaRPr lang="en-IN"/>
          </a:p>
        </p:txBody>
      </p:sp>
      <p:sp>
        <p:nvSpPr>
          <p:cNvPr id="9" name="Text 7"/>
          <p:cNvSpPr/>
          <p:nvPr/>
        </p:nvSpPr>
        <p:spPr>
          <a:xfrm>
            <a:off x="393192" y="1353312"/>
            <a:ext cx="1920240" cy="713232"/>
          </a:xfrm>
          <a:prstGeom prst="rect">
            <a:avLst/>
          </a:prstGeom>
          <a:noFill/>
          <a:ln/>
        </p:spPr>
        <p:txBody>
          <a:bodyPr wrap="square" rtlCol="0" anchor="t"/>
          <a:lstStyle/>
          <a:p>
            <a:pPr marL="0" indent="0">
              <a:buNone/>
            </a:pPr>
            <a:r>
              <a:rPr lang="en-US" sz="950" dirty="0">
                <a:solidFill>
                  <a:srgbClr val="333333"/>
                </a:solidFill>
                <a:latin typeface="Calibri" pitchFamily="34" charset="0"/>
                <a:ea typeface="Calibri" pitchFamily="34" charset="-122"/>
                <a:cs typeface="Calibri" pitchFamily="34" charset="-120"/>
              </a:rPr>
              <a:t>Facts from the meeting correctly represented? No hallucinations.</a:t>
            </a:r>
            <a:endParaRPr lang="en-US" sz="950" dirty="0"/>
          </a:p>
        </p:txBody>
      </p:sp>
      <p:sp>
        <p:nvSpPr>
          <p:cNvPr id="10" name="Shape 8"/>
          <p:cNvSpPr/>
          <p:nvPr/>
        </p:nvSpPr>
        <p:spPr>
          <a:xfrm>
            <a:off x="2496312" y="1005840"/>
            <a:ext cx="2057400" cy="310896"/>
          </a:xfrm>
          <a:prstGeom prst="rect">
            <a:avLst/>
          </a:prstGeom>
          <a:solidFill>
            <a:srgbClr val="1F5C99"/>
          </a:solidFill>
          <a:ln/>
        </p:spPr>
        <p:txBody>
          <a:bodyPr/>
          <a:lstStyle/>
          <a:p>
            <a:endParaRPr lang="en-IN"/>
          </a:p>
        </p:txBody>
      </p:sp>
      <p:sp>
        <p:nvSpPr>
          <p:cNvPr id="11" name="Text 9"/>
          <p:cNvSpPr/>
          <p:nvPr/>
        </p:nvSpPr>
        <p:spPr>
          <a:xfrm>
            <a:off x="2496312" y="1005840"/>
            <a:ext cx="2057400" cy="310896"/>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Completeness</a:t>
            </a:r>
            <a:endParaRPr lang="en-US" sz="1050" dirty="0"/>
          </a:p>
        </p:txBody>
      </p:sp>
      <p:sp>
        <p:nvSpPr>
          <p:cNvPr id="12" name="Shape 10"/>
          <p:cNvSpPr/>
          <p:nvPr/>
        </p:nvSpPr>
        <p:spPr>
          <a:xfrm>
            <a:off x="2496312" y="1316736"/>
            <a:ext cx="2057400" cy="786384"/>
          </a:xfrm>
          <a:prstGeom prst="rect">
            <a:avLst/>
          </a:prstGeom>
          <a:solidFill>
            <a:srgbClr val="FFFFFF"/>
          </a:solidFill>
          <a:ln w="6350">
            <a:solidFill>
              <a:srgbClr val="CCCCCC"/>
            </a:solidFill>
            <a:prstDash val="solid"/>
          </a:ln>
        </p:spPr>
        <p:txBody>
          <a:bodyPr/>
          <a:lstStyle/>
          <a:p>
            <a:endParaRPr lang="en-IN"/>
          </a:p>
        </p:txBody>
      </p:sp>
      <p:sp>
        <p:nvSpPr>
          <p:cNvPr id="13" name="Text 11"/>
          <p:cNvSpPr/>
          <p:nvPr/>
        </p:nvSpPr>
        <p:spPr>
          <a:xfrm>
            <a:off x="2569464" y="1353312"/>
            <a:ext cx="1920240" cy="713232"/>
          </a:xfrm>
          <a:prstGeom prst="rect">
            <a:avLst/>
          </a:prstGeom>
          <a:noFill/>
          <a:ln/>
        </p:spPr>
        <p:txBody>
          <a:bodyPr wrap="square" rtlCol="0" anchor="t"/>
          <a:lstStyle/>
          <a:p>
            <a:pPr marL="0" indent="0">
              <a:buNone/>
            </a:pPr>
            <a:r>
              <a:rPr lang="en-US" sz="950" dirty="0">
                <a:solidFill>
                  <a:srgbClr val="333333"/>
                </a:solidFill>
                <a:latin typeface="Calibri" pitchFamily="34" charset="0"/>
                <a:ea typeface="Calibri" pitchFamily="34" charset="-122"/>
                <a:cs typeface="Calibri" pitchFamily="34" charset="-120"/>
              </a:rPr>
              <a:t>Key decisions, actions, and outcomes covered? Nothing critical omitted.</a:t>
            </a:r>
            <a:endParaRPr lang="en-US" sz="950" dirty="0"/>
          </a:p>
        </p:txBody>
      </p:sp>
      <p:sp>
        <p:nvSpPr>
          <p:cNvPr id="14" name="Shape 12"/>
          <p:cNvSpPr/>
          <p:nvPr/>
        </p:nvSpPr>
        <p:spPr>
          <a:xfrm>
            <a:off x="4672584" y="1005840"/>
            <a:ext cx="2057400" cy="310896"/>
          </a:xfrm>
          <a:prstGeom prst="rect">
            <a:avLst/>
          </a:prstGeom>
          <a:solidFill>
            <a:srgbClr val="1F5C99"/>
          </a:solidFill>
          <a:ln/>
        </p:spPr>
        <p:txBody>
          <a:bodyPr/>
          <a:lstStyle/>
          <a:p>
            <a:endParaRPr lang="en-IN"/>
          </a:p>
        </p:txBody>
      </p:sp>
      <p:sp>
        <p:nvSpPr>
          <p:cNvPr id="15" name="Text 13"/>
          <p:cNvSpPr/>
          <p:nvPr/>
        </p:nvSpPr>
        <p:spPr>
          <a:xfrm>
            <a:off x="4672584" y="1005840"/>
            <a:ext cx="2057400" cy="310896"/>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Persona Relevance</a:t>
            </a:r>
            <a:endParaRPr lang="en-US" sz="1050" dirty="0"/>
          </a:p>
        </p:txBody>
      </p:sp>
      <p:sp>
        <p:nvSpPr>
          <p:cNvPr id="16" name="Shape 14"/>
          <p:cNvSpPr/>
          <p:nvPr/>
        </p:nvSpPr>
        <p:spPr>
          <a:xfrm>
            <a:off x="4672584" y="1316736"/>
            <a:ext cx="2057400" cy="786384"/>
          </a:xfrm>
          <a:prstGeom prst="rect">
            <a:avLst/>
          </a:prstGeom>
          <a:solidFill>
            <a:srgbClr val="FFFFFF"/>
          </a:solidFill>
          <a:ln w="6350">
            <a:solidFill>
              <a:srgbClr val="CCCCCC"/>
            </a:solidFill>
            <a:prstDash val="solid"/>
          </a:ln>
        </p:spPr>
        <p:txBody>
          <a:bodyPr/>
          <a:lstStyle/>
          <a:p>
            <a:endParaRPr lang="en-IN"/>
          </a:p>
        </p:txBody>
      </p:sp>
      <p:sp>
        <p:nvSpPr>
          <p:cNvPr id="17" name="Text 15"/>
          <p:cNvSpPr/>
          <p:nvPr/>
        </p:nvSpPr>
        <p:spPr>
          <a:xfrm>
            <a:off x="4745736" y="1353312"/>
            <a:ext cx="1920240" cy="713232"/>
          </a:xfrm>
          <a:prstGeom prst="rect">
            <a:avLst/>
          </a:prstGeom>
          <a:noFill/>
          <a:ln/>
        </p:spPr>
        <p:txBody>
          <a:bodyPr wrap="square" rtlCol="0" anchor="t"/>
          <a:lstStyle/>
          <a:p>
            <a:pPr marL="0" indent="0">
              <a:buNone/>
            </a:pPr>
            <a:r>
              <a:rPr lang="en-US" sz="950" dirty="0">
                <a:solidFill>
                  <a:srgbClr val="333333"/>
                </a:solidFill>
                <a:latin typeface="Calibri" pitchFamily="34" charset="0"/>
                <a:ea typeface="Calibri" pitchFamily="34" charset="-122"/>
                <a:cs typeface="Calibri" pitchFamily="34" charset="-120"/>
              </a:rPr>
              <a:t>Summary focused on what this role cares about? Irrelevant info excluded?</a:t>
            </a:r>
            <a:endParaRPr lang="en-US" sz="950" dirty="0"/>
          </a:p>
        </p:txBody>
      </p:sp>
      <p:sp>
        <p:nvSpPr>
          <p:cNvPr id="18" name="Shape 16"/>
          <p:cNvSpPr/>
          <p:nvPr/>
        </p:nvSpPr>
        <p:spPr>
          <a:xfrm>
            <a:off x="6848856" y="1005840"/>
            <a:ext cx="2057400" cy="310896"/>
          </a:xfrm>
          <a:prstGeom prst="rect">
            <a:avLst/>
          </a:prstGeom>
          <a:solidFill>
            <a:srgbClr val="1F5C99"/>
          </a:solidFill>
          <a:ln/>
        </p:spPr>
        <p:txBody>
          <a:bodyPr/>
          <a:lstStyle/>
          <a:p>
            <a:endParaRPr lang="en-IN"/>
          </a:p>
        </p:txBody>
      </p:sp>
      <p:sp>
        <p:nvSpPr>
          <p:cNvPr id="19" name="Text 17"/>
          <p:cNvSpPr/>
          <p:nvPr/>
        </p:nvSpPr>
        <p:spPr>
          <a:xfrm>
            <a:off x="6848856" y="1005840"/>
            <a:ext cx="2057400" cy="310896"/>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Fluency</a:t>
            </a:r>
            <a:endParaRPr lang="en-US" sz="1050" dirty="0"/>
          </a:p>
        </p:txBody>
      </p:sp>
      <p:sp>
        <p:nvSpPr>
          <p:cNvPr id="20" name="Shape 18"/>
          <p:cNvSpPr/>
          <p:nvPr/>
        </p:nvSpPr>
        <p:spPr>
          <a:xfrm>
            <a:off x="6848856" y="1316736"/>
            <a:ext cx="2057400" cy="786384"/>
          </a:xfrm>
          <a:prstGeom prst="rect">
            <a:avLst/>
          </a:prstGeom>
          <a:solidFill>
            <a:srgbClr val="FFFFFF"/>
          </a:solidFill>
          <a:ln w="6350">
            <a:solidFill>
              <a:srgbClr val="CCCCCC"/>
            </a:solidFill>
            <a:prstDash val="solid"/>
          </a:ln>
        </p:spPr>
        <p:txBody>
          <a:bodyPr/>
          <a:lstStyle/>
          <a:p>
            <a:endParaRPr lang="en-IN"/>
          </a:p>
        </p:txBody>
      </p:sp>
      <p:sp>
        <p:nvSpPr>
          <p:cNvPr id="21" name="Text 19"/>
          <p:cNvSpPr/>
          <p:nvPr/>
        </p:nvSpPr>
        <p:spPr>
          <a:xfrm>
            <a:off x="6922008" y="1353312"/>
            <a:ext cx="1920240" cy="713232"/>
          </a:xfrm>
          <a:prstGeom prst="rect">
            <a:avLst/>
          </a:prstGeom>
          <a:noFill/>
          <a:ln/>
        </p:spPr>
        <p:txBody>
          <a:bodyPr wrap="square" rtlCol="0" anchor="t"/>
          <a:lstStyle/>
          <a:p>
            <a:pPr marL="0" indent="0">
              <a:buNone/>
            </a:pPr>
            <a:r>
              <a:rPr lang="en-US" sz="950" dirty="0">
                <a:solidFill>
                  <a:srgbClr val="333333"/>
                </a:solidFill>
                <a:latin typeface="Calibri" pitchFamily="34" charset="0"/>
                <a:ea typeface="Calibri" pitchFamily="34" charset="-122"/>
                <a:cs typeface="Calibri" pitchFamily="34" charset="-120"/>
              </a:rPr>
              <a:t>Grammatically natural, readable, and well-structured prose?</a:t>
            </a:r>
            <a:endParaRPr lang="en-US" sz="950" dirty="0"/>
          </a:p>
        </p:txBody>
      </p:sp>
      <p:sp>
        <p:nvSpPr>
          <p:cNvPr id="22" name="Shape 20"/>
          <p:cNvSpPr/>
          <p:nvPr/>
        </p:nvSpPr>
        <p:spPr>
          <a:xfrm>
            <a:off x="320040" y="2194560"/>
            <a:ext cx="8503920" cy="237744"/>
          </a:xfrm>
          <a:prstGeom prst="rect">
            <a:avLst/>
          </a:prstGeom>
          <a:solidFill>
            <a:srgbClr val="F5C300"/>
          </a:solidFill>
          <a:ln w="12700">
            <a:solidFill>
              <a:srgbClr val="F5C300"/>
            </a:solidFill>
            <a:prstDash val="solid"/>
          </a:ln>
        </p:spPr>
        <p:txBody>
          <a:bodyPr/>
          <a:lstStyle/>
          <a:p>
            <a:endParaRPr lang="en-IN"/>
          </a:p>
        </p:txBody>
      </p:sp>
      <p:sp>
        <p:nvSpPr>
          <p:cNvPr id="23" name="Text 21"/>
          <p:cNvSpPr/>
          <p:nvPr/>
        </p:nvSpPr>
        <p:spPr>
          <a:xfrm>
            <a:off x="320040" y="2194560"/>
            <a:ext cx="8503920" cy="237744"/>
          </a:xfrm>
          <a:prstGeom prst="rect">
            <a:avLst/>
          </a:prstGeom>
          <a:noFill/>
          <a:ln/>
        </p:spPr>
        <p:txBody>
          <a:bodyPr wrap="square" rtlCol="0" anchor="ctr"/>
          <a:lstStyle/>
          <a:p>
            <a:pPr marL="0" indent="0" algn="ctr">
              <a:buNone/>
            </a:pPr>
            <a:r>
              <a:rPr lang="en-US" sz="1000" b="1" dirty="0">
                <a:solidFill>
                  <a:srgbClr val="000000"/>
                </a:solidFill>
                <a:latin typeface="Calibri" pitchFamily="34" charset="0"/>
                <a:ea typeface="Calibri" pitchFamily="34" charset="-122"/>
                <a:cs typeface="Calibri" pitchFamily="34" charset="-120"/>
              </a:rPr>
              <a:t>Mean Scores (averaged over all models)</a:t>
            </a:r>
            <a:endParaRPr lang="en-US" sz="1000" dirty="0"/>
          </a:p>
        </p:txBody>
      </p:sp>
      <p:sp>
        <p:nvSpPr>
          <p:cNvPr id="24" name="Shape 22"/>
          <p:cNvSpPr/>
          <p:nvPr/>
        </p:nvSpPr>
        <p:spPr>
          <a:xfrm>
            <a:off x="320040" y="2432304"/>
            <a:ext cx="1627632" cy="256032"/>
          </a:xfrm>
          <a:prstGeom prst="rect">
            <a:avLst/>
          </a:prstGeom>
          <a:solidFill>
            <a:srgbClr val="F2F2F2"/>
          </a:solidFill>
          <a:ln w="6350">
            <a:solidFill>
              <a:srgbClr val="CCCCCC"/>
            </a:solidFill>
            <a:prstDash val="solid"/>
          </a:ln>
        </p:spPr>
        <p:txBody>
          <a:bodyPr/>
          <a:lstStyle/>
          <a:p>
            <a:endParaRPr lang="en-IN"/>
          </a:p>
        </p:txBody>
      </p:sp>
      <p:sp>
        <p:nvSpPr>
          <p:cNvPr id="25" name="Text 23"/>
          <p:cNvSpPr/>
          <p:nvPr/>
        </p:nvSpPr>
        <p:spPr>
          <a:xfrm>
            <a:off x="365760" y="2432304"/>
            <a:ext cx="1536192" cy="256032"/>
          </a:xfrm>
          <a:prstGeom prst="rect">
            <a:avLst/>
          </a:prstGeom>
          <a:noFill/>
          <a:ln/>
        </p:spPr>
        <p:txBody>
          <a:bodyPr wrap="square" rtlCol="0" anchor="ctr"/>
          <a:lstStyle/>
          <a:p>
            <a:pPr marL="0" indent="0">
              <a:buNone/>
            </a:pPr>
            <a:r>
              <a:rPr lang="en-US" sz="1000" b="1" dirty="0">
                <a:solidFill>
                  <a:srgbClr val="333333"/>
                </a:solidFill>
                <a:latin typeface="Calibri" pitchFamily="34" charset="0"/>
                <a:ea typeface="Calibri" pitchFamily="34" charset="-122"/>
                <a:cs typeface="Calibri" pitchFamily="34" charset="-120"/>
              </a:rPr>
              <a:t>Method</a:t>
            </a:r>
            <a:endParaRPr lang="en-US" sz="1000" dirty="0"/>
          </a:p>
        </p:txBody>
      </p:sp>
      <p:sp>
        <p:nvSpPr>
          <p:cNvPr id="26" name="Shape 24"/>
          <p:cNvSpPr/>
          <p:nvPr/>
        </p:nvSpPr>
        <p:spPr>
          <a:xfrm>
            <a:off x="1965960" y="2432304"/>
            <a:ext cx="1399032" cy="256032"/>
          </a:xfrm>
          <a:prstGeom prst="rect">
            <a:avLst/>
          </a:prstGeom>
          <a:solidFill>
            <a:srgbClr val="F2F2F2"/>
          </a:solidFill>
          <a:ln w="6350">
            <a:solidFill>
              <a:srgbClr val="CCCCCC"/>
            </a:solidFill>
            <a:prstDash val="solid"/>
          </a:ln>
        </p:spPr>
        <p:txBody>
          <a:bodyPr/>
          <a:lstStyle/>
          <a:p>
            <a:endParaRPr lang="en-IN"/>
          </a:p>
        </p:txBody>
      </p:sp>
      <p:sp>
        <p:nvSpPr>
          <p:cNvPr id="27" name="Text 25"/>
          <p:cNvSpPr/>
          <p:nvPr/>
        </p:nvSpPr>
        <p:spPr>
          <a:xfrm>
            <a:off x="2011680" y="2432304"/>
            <a:ext cx="1307592" cy="256032"/>
          </a:xfrm>
          <a:prstGeom prst="rect">
            <a:avLst/>
          </a:prstGeom>
          <a:noFill/>
          <a:ln/>
        </p:spPr>
        <p:txBody>
          <a:bodyPr wrap="square" rtlCol="0" anchor="ctr"/>
          <a:lstStyle/>
          <a:p>
            <a:pPr marL="0" indent="0">
              <a:buNone/>
            </a:pPr>
            <a:r>
              <a:rPr lang="en-US" sz="1000" b="1" dirty="0">
                <a:solidFill>
                  <a:srgbClr val="333333"/>
                </a:solidFill>
                <a:latin typeface="Calibri" pitchFamily="34" charset="0"/>
                <a:ea typeface="Calibri" pitchFamily="34" charset="-122"/>
                <a:cs typeface="Calibri" pitchFamily="34" charset="-120"/>
              </a:rPr>
              <a:t>Accuracy</a:t>
            </a:r>
            <a:endParaRPr lang="en-US" sz="1000" dirty="0"/>
          </a:p>
        </p:txBody>
      </p:sp>
      <p:sp>
        <p:nvSpPr>
          <p:cNvPr id="28" name="Shape 26"/>
          <p:cNvSpPr/>
          <p:nvPr/>
        </p:nvSpPr>
        <p:spPr>
          <a:xfrm>
            <a:off x="3383280" y="2432304"/>
            <a:ext cx="1536192" cy="256032"/>
          </a:xfrm>
          <a:prstGeom prst="rect">
            <a:avLst/>
          </a:prstGeom>
          <a:solidFill>
            <a:srgbClr val="F2F2F2"/>
          </a:solidFill>
          <a:ln w="6350">
            <a:solidFill>
              <a:srgbClr val="CCCCCC"/>
            </a:solidFill>
            <a:prstDash val="solid"/>
          </a:ln>
        </p:spPr>
        <p:txBody>
          <a:bodyPr/>
          <a:lstStyle/>
          <a:p>
            <a:endParaRPr lang="en-IN"/>
          </a:p>
        </p:txBody>
      </p:sp>
      <p:sp>
        <p:nvSpPr>
          <p:cNvPr id="29" name="Text 27"/>
          <p:cNvSpPr/>
          <p:nvPr/>
        </p:nvSpPr>
        <p:spPr>
          <a:xfrm>
            <a:off x="3429000" y="2432304"/>
            <a:ext cx="1444752" cy="256032"/>
          </a:xfrm>
          <a:prstGeom prst="rect">
            <a:avLst/>
          </a:prstGeom>
          <a:noFill/>
          <a:ln/>
        </p:spPr>
        <p:txBody>
          <a:bodyPr wrap="square" rtlCol="0" anchor="ctr"/>
          <a:lstStyle/>
          <a:p>
            <a:pPr marL="0" indent="0">
              <a:buNone/>
            </a:pPr>
            <a:r>
              <a:rPr lang="en-US" sz="1000" b="1" dirty="0">
                <a:solidFill>
                  <a:srgbClr val="333333"/>
                </a:solidFill>
                <a:latin typeface="Calibri" pitchFamily="34" charset="0"/>
                <a:ea typeface="Calibri" pitchFamily="34" charset="-122"/>
                <a:cs typeface="Calibri" pitchFamily="34" charset="-120"/>
              </a:rPr>
              <a:t>Completeness</a:t>
            </a:r>
            <a:endParaRPr lang="en-US" sz="1000" dirty="0"/>
          </a:p>
        </p:txBody>
      </p:sp>
      <p:sp>
        <p:nvSpPr>
          <p:cNvPr id="30" name="Shape 28"/>
          <p:cNvSpPr/>
          <p:nvPr/>
        </p:nvSpPr>
        <p:spPr>
          <a:xfrm>
            <a:off x="4937760" y="2432304"/>
            <a:ext cx="1536192" cy="256032"/>
          </a:xfrm>
          <a:prstGeom prst="rect">
            <a:avLst/>
          </a:prstGeom>
          <a:solidFill>
            <a:srgbClr val="F2F2F2"/>
          </a:solidFill>
          <a:ln w="6350">
            <a:solidFill>
              <a:srgbClr val="CCCCCC"/>
            </a:solidFill>
            <a:prstDash val="solid"/>
          </a:ln>
        </p:spPr>
        <p:txBody>
          <a:bodyPr/>
          <a:lstStyle/>
          <a:p>
            <a:endParaRPr lang="en-IN"/>
          </a:p>
        </p:txBody>
      </p:sp>
      <p:sp>
        <p:nvSpPr>
          <p:cNvPr id="31" name="Text 29"/>
          <p:cNvSpPr/>
          <p:nvPr/>
        </p:nvSpPr>
        <p:spPr>
          <a:xfrm>
            <a:off x="4983480" y="2432304"/>
            <a:ext cx="1444752" cy="256032"/>
          </a:xfrm>
          <a:prstGeom prst="rect">
            <a:avLst/>
          </a:prstGeom>
          <a:noFill/>
          <a:ln/>
        </p:spPr>
        <p:txBody>
          <a:bodyPr wrap="square" rtlCol="0" anchor="ctr"/>
          <a:lstStyle/>
          <a:p>
            <a:pPr marL="0" indent="0">
              <a:buNone/>
            </a:pPr>
            <a:r>
              <a:rPr lang="en-US" sz="1000" b="1" dirty="0">
                <a:solidFill>
                  <a:srgbClr val="333333"/>
                </a:solidFill>
                <a:latin typeface="Calibri" pitchFamily="34" charset="0"/>
                <a:ea typeface="Calibri" pitchFamily="34" charset="-122"/>
                <a:cs typeface="Calibri" pitchFamily="34" charset="-120"/>
              </a:rPr>
              <a:t>Persona Rel.</a:t>
            </a:r>
            <a:endParaRPr lang="en-US" sz="1000" dirty="0"/>
          </a:p>
        </p:txBody>
      </p:sp>
      <p:sp>
        <p:nvSpPr>
          <p:cNvPr id="32" name="Shape 30"/>
          <p:cNvSpPr/>
          <p:nvPr/>
        </p:nvSpPr>
        <p:spPr>
          <a:xfrm>
            <a:off x="6492240" y="2432304"/>
            <a:ext cx="1426464" cy="256032"/>
          </a:xfrm>
          <a:prstGeom prst="rect">
            <a:avLst/>
          </a:prstGeom>
          <a:solidFill>
            <a:srgbClr val="F2F2F2"/>
          </a:solidFill>
          <a:ln w="6350">
            <a:solidFill>
              <a:srgbClr val="CCCCCC"/>
            </a:solidFill>
            <a:prstDash val="solid"/>
          </a:ln>
        </p:spPr>
        <p:txBody>
          <a:bodyPr/>
          <a:lstStyle/>
          <a:p>
            <a:endParaRPr lang="en-IN"/>
          </a:p>
        </p:txBody>
      </p:sp>
      <p:sp>
        <p:nvSpPr>
          <p:cNvPr id="33" name="Text 31"/>
          <p:cNvSpPr/>
          <p:nvPr/>
        </p:nvSpPr>
        <p:spPr>
          <a:xfrm>
            <a:off x="6537960" y="2432304"/>
            <a:ext cx="1335024" cy="256032"/>
          </a:xfrm>
          <a:prstGeom prst="rect">
            <a:avLst/>
          </a:prstGeom>
          <a:noFill/>
          <a:ln/>
        </p:spPr>
        <p:txBody>
          <a:bodyPr wrap="square" rtlCol="0" anchor="ctr"/>
          <a:lstStyle/>
          <a:p>
            <a:pPr marL="0" indent="0">
              <a:buNone/>
            </a:pPr>
            <a:r>
              <a:rPr lang="en-US" sz="1000" b="1" dirty="0">
                <a:solidFill>
                  <a:srgbClr val="333333"/>
                </a:solidFill>
                <a:latin typeface="Calibri" pitchFamily="34" charset="0"/>
                <a:ea typeface="Calibri" pitchFamily="34" charset="-122"/>
                <a:cs typeface="Calibri" pitchFamily="34" charset="-120"/>
              </a:rPr>
              <a:t>Fluency</a:t>
            </a:r>
            <a:endParaRPr lang="en-US" sz="1000" dirty="0"/>
          </a:p>
        </p:txBody>
      </p:sp>
      <p:sp>
        <p:nvSpPr>
          <p:cNvPr id="34" name="Shape 32"/>
          <p:cNvSpPr/>
          <p:nvPr/>
        </p:nvSpPr>
        <p:spPr>
          <a:xfrm>
            <a:off x="7936992" y="2432304"/>
            <a:ext cx="914400" cy="256032"/>
          </a:xfrm>
          <a:prstGeom prst="rect">
            <a:avLst/>
          </a:prstGeom>
          <a:solidFill>
            <a:srgbClr val="F2F2F2"/>
          </a:solidFill>
          <a:ln w="6350">
            <a:solidFill>
              <a:srgbClr val="CCCCCC"/>
            </a:solidFill>
            <a:prstDash val="solid"/>
          </a:ln>
        </p:spPr>
        <p:txBody>
          <a:bodyPr/>
          <a:lstStyle/>
          <a:p>
            <a:endParaRPr lang="en-IN"/>
          </a:p>
        </p:txBody>
      </p:sp>
      <p:sp>
        <p:nvSpPr>
          <p:cNvPr id="35" name="Text 33"/>
          <p:cNvSpPr/>
          <p:nvPr/>
        </p:nvSpPr>
        <p:spPr>
          <a:xfrm>
            <a:off x="7982712" y="2432304"/>
            <a:ext cx="822960" cy="256032"/>
          </a:xfrm>
          <a:prstGeom prst="rect">
            <a:avLst/>
          </a:prstGeom>
          <a:noFill/>
          <a:ln/>
        </p:spPr>
        <p:txBody>
          <a:bodyPr wrap="square" rtlCol="0" anchor="ctr"/>
          <a:lstStyle/>
          <a:p>
            <a:pPr marL="0" indent="0">
              <a:buNone/>
            </a:pPr>
            <a:r>
              <a:rPr lang="en-US" sz="1000" b="1" dirty="0">
                <a:solidFill>
                  <a:srgbClr val="333333"/>
                </a:solidFill>
                <a:latin typeface="Calibri" pitchFamily="34" charset="0"/>
                <a:ea typeface="Calibri" pitchFamily="34" charset="-122"/>
                <a:cs typeface="Calibri" pitchFamily="34" charset="-120"/>
              </a:rPr>
              <a:t>Overall</a:t>
            </a:r>
            <a:endParaRPr lang="en-US" sz="1000" dirty="0"/>
          </a:p>
        </p:txBody>
      </p:sp>
      <p:sp>
        <p:nvSpPr>
          <p:cNvPr id="36" name="Shape 34"/>
          <p:cNvSpPr/>
          <p:nvPr/>
        </p:nvSpPr>
        <p:spPr>
          <a:xfrm>
            <a:off x="320040" y="2688336"/>
            <a:ext cx="1627632" cy="329184"/>
          </a:xfrm>
          <a:prstGeom prst="rect">
            <a:avLst/>
          </a:prstGeom>
          <a:solidFill>
            <a:srgbClr val="EEEEEE"/>
          </a:solidFill>
          <a:ln w="6350">
            <a:solidFill>
              <a:srgbClr val="CCCCCC"/>
            </a:solidFill>
            <a:prstDash val="solid"/>
          </a:ln>
        </p:spPr>
        <p:txBody>
          <a:bodyPr/>
          <a:lstStyle/>
          <a:p>
            <a:endParaRPr lang="en-IN"/>
          </a:p>
        </p:txBody>
      </p:sp>
      <p:sp>
        <p:nvSpPr>
          <p:cNvPr id="37" name="Text 35"/>
          <p:cNvSpPr/>
          <p:nvPr/>
        </p:nvSpPr>
        <p:spPr>
          <a:xfrm>
            <a:off x="365760" y="2688336"/>
            <a:ext cx="1536192" cy="329184"/>
          </a:xfrm>
          <a:prstGeom prst="rect">
            <a:avLst/>
          </a:prstGeom>
          <a:noFill/>
          <a:ln/>
        </p:spPr>
        <p:txBody>
          <a:bodyPr wrap="square" rtlCol="0" anchor="ctr"/>
          <a:lstStyle/>
          <a:p>
            <a:pPr marL="0" indent="0" algn="l">
              <a:buNone/>
            </a:pPr>
            <a:r>
              <a:rPr lang="en-US" sz="1100" b="1" dirty="0">
                <a:solidFill>
                  <a:srgbClr val="333333"/>
                </a:solidFill>
                <a:latin typeface="Calibri" pitchFamily="34" charset="0"/>
                <a:ea typeface="Calibri" pitchFamily="34" charset="-122"/>
                <a:cs typeface="Calibri" pitchFamily="34" charset="-120"/>
              </a:rPr>
              <a:t>Baseline</a:t>
            </a:r>
            <a:endParaRPr lang="en-US" sz="1100" dirty="0"/>
          </a:p>
        </p:txBody>
      </p:sp>
      <p:sp>
        <p:nvSpPr>
          <p:cNvPr id="38" name="Shape 36"/>
          <p:cNvSpPr/>
          <p:nvPr/>
        </p:nvSpPr>
        <p:spPr>
          <a:xfrm>
            <a:off x="1965960" y="2688336"/>
            <a:ext cx="1399032" cy="329184"/>
          </a:xfrm>
          <a:prstGeom prst="rect">
            <a:avLst/>
          </a:prstGeom>
          <a:solidFill>
            <a:srgbClr val="EEEEEE"/>
          </a:solidFill>
          <a:ln w="6350">
            <a:solidFill>
              <a:srgbClr val="CCCCCC"/>
            </a:solidFill>
            <a:prstDash val="solid"/>
          </a:ln>
        </p:spPr>
        <p:txBody>
          <a:bodyPr/>
          <a:lstStyle/>
          <a:p>
            <a:endParaRPr lang="en-IN"/>
          </a:p>
        </p:txBody>
      </p:sp>
      <p:sp>
        <p:nvSpPr>
          <p:cNvPr id="39" name="Text 37"/>
          <p:cNvSpPr/>
          <p:nvPr/>
        </p:nvSpPr>
        <p:spPr>
          <a:xfrm>
            <a:off x="2011680" y="2688336"/>
            <a:ext cx="1307592" cy="329184"/>
          </a:xfrm>
          <a:prstGeom prst="rect">
            <a:avLst/>
          </a:prstGeom>
          <a:noFill/>
          <a:ln/>
        </p:spPr>
        <p:txBody>
          <a:bodyPr wrap="square" rtlCol="0" anchor="ctr"/>
          <a:lstStyle/>
          <a:p>
            <a:pPr marL="0" indent="0" algn="ctr">
              <a:buNone/>
            </a:pPr>
            <a:r>
              <a:rPr lang="en-US" sz="1200" dirty="0">
                <a:solidFill>
                  <a:srgbClr val="333333"/>
                </a:solidFill>
                <a:latin typeface="Calibri" pitchFamily="34" charset="0"/>
                <a:ea typeface="Calibri" pitchFamily="34" charset="-122"/>
                <a:cs typeface="Calibri" pitchFamily="34" charset="-120"/>
              </a:rPr>
              <a:t>2.78</a:t>
            </a:r>
            <a:endParaRPr lang="en-US" sz="1200" dirty="0"/>
          </a:p>
        </p:txBody>
      </p:sp>
      <p:sp>
        <p:nvSpPr>
          <p:cNvPr id="40" name="Shape 38"/>
          <p:cNvSpPr/>
          <p:nvPr/>
        </p:nvSpPr>
        <p:spPr>
          <a:xfrm>
            <a:off x="3383280" y="2688336"/>
            <a:ext cx="1536192" cy="329184"/>
          </a:xfrm>
          <a:prstGeom prst="rect">
            <a:avLst/>
          </a:prstGeom>
          <a:solidFill>
            <a:srgbClr val="EEEEEE"/>
          </a:solidFill>
          <a:ln w="6350">
            <a:solidFill>
              <a:srgbClr val="CCCCCC"/>
            </a:solidFill>
            <a:prstDash val="solid"/>
          </a:ln>
        </p:spPr>
        <p:txBody>
          <a:bodyPr/>
          <a:lstStyle/>
          <a:p>
            <a:endParaRPr lang="en-IN"/>
          </a:p>
        </p:txBody>
      </p:sp>
      <p:sp>
        <p:nvSpPr>
          <p:cNvPr id="41" name="Text 39"/>
          <p:cNvSpPr/>
          <p:nvPr/>
        </p:nvSpPr>
        <p:spPr>
          <a:xfrm>
            <a:off x="3429000" y="2688336"/>
            <a:ext cx="1444752" cy="329184"/>
          </a:xfrm>
          <a:prstGeom prst="rect">
            <a:avLst/>
          </a:prstGeom>
          <a:noFill/>
          <a:ln/>
        </p:spPr>
        <p:txBody>
          <a:bodyPr wrap="square" rtlCol="0" anchor="ctr"/>
          <a:lstStyle/>
          <a:p>
            <a:pPr marL="0" indent="0" algn="ctr">
              <a:buNone/>
            </a:pPr>
            <a:r>
              <a:rPr lang="en-US" sz="1200" dirty="0">
                <a:solidFill>
                  <a:srgbClr val="333333"/>
                </a:solidFill>
                <a:latin typeface="Calibri" pitchFamily="34" charset="0"/>
                <a:ea typeface="Calibri" pitchFamily="34" charset="-122"/>
                <a:cs typeface="Calibri" pitchFamily="34" charset="-120"/>
              </a:rPr>
              <a:t>2.34</a:t>
            </a:r>
            <a:endParaRPr lang="en-US" sz="1200" dirty="0"/>
          </a:p>
        </p:txBody>
      </p:sp>
      <p:sp>
        <p:nvSpPr>
          <p:cNvPr id="42" name="Shape 40"/>
          <p:cNvSpPr/>
          <p:nvPr/>
        </p:nvSpPr>
        <p:spPr>
          <a:xfrm>
            <a:off x="4937760" y="2688336"/>
            <a:ext cx="1536192" cy="329184"/>
          </a:xfrm>
          <a:prstGeom prst="rect">
            <a:avLst/>
          </a:prstGeom>
          <a:solidFill>
            <a:srgbClr val="EEEEEE"/>
          </a:solidFill>
          <a:ln w="6350">
            <a:solidFill>
              <a:srgbClr val="CCCCCC"/>
            </a:solidFill>
            <a:prstDash val="solid"/>
          </a:ln>
        </p:spPr>
        <p:txBody>
          <a:bodyPr/>
          <a:lstStyle/>
          <a:p>
            <a:endParaRPr lang="en-IN"/>
          </a:p>
        </p:txBody>
      </p:sp>
      <p:sp>
        <p:nvSpPr>
          <p:cNvPr id="43" name="Text 41"/>
          <p:cNvSpPr/>
          <p:nvPr/>
        </p:nvSpPr>
        <p:spPr>
          <a:xfrm>
            <a:off x="4983480" y="2688336"/>
            <a:ext cx="1444752" cy="329184"/>
          </a:xfrm>
          <a:prstGeom prst="rect">
            <a:avLst/>
          </a:prstGeom>
          <a:noFill/>
          <a:ln/>
        </p:spPr>
        <p:txBody>
          <a:bodyPr wrap="square" rtlCol="0" anchor="ctr"/>
          <a:lstStyle/>
          <a:p>
            <a:pPr marL="0" indent="0" algn="ctr">
              <a:buNone/>
            </a:pPr>
            <a:r>
              <a:rPr lang="en-US" sz="1200" dirty="0">
                <a:solidFill>
                  <a:srgbClr val="333333"/>
                </a:solidFill>
                <a:latin typeface="Calibri" pitchFamily="34" charset="0"/>
                <a:ea typeface="Calibri" pitchFamily="34" charset="-122"/>
                <a:cs typeface="Calibri" pitchFamily="34" charset="-120"/>
              </a:rPr>
              <a:t>2.03</a:t>
            </a:r>
            <a:endParaRPr lang="en-US" sz="1200" dirty="0"/>
          </a:p>
        </p:txBody>
      </p:sp>
      <p:sp>
        <p:nvSpPr>
          <p:cNvPr id="44" name="Shape 42"/>
          <p:cNvSpPr/>
          <p:nvPr/>
        </p:nvSpPr>
        <p:spPr>
          <a:xfrm>
            <a:off x="6492240" y="2688336"/>
            <a:ext cx="1426464" cy="329184"/>
          </a:xfrm>
          <a:prstGeom prst="rect">
            <a:avLst/>
          </a:prstGeom>
          <a:solidFill>
            <a:srgbClr val="EEEEEE"/>
          </a:solidFill>
          <a:ln w="6350">
            <a:solidFill>
              <a:srgbClr val="CCCCCC"/>
            </a:solidFill>
            <a:prstDash val="solid"/>
          </a:ln>
        </p:spPr>
        <p:txBody>
          <a:bodyPr/>
          <a:lstStyle/>
          <a:p>
            <a:endParaRPr lang="en-IN"/>
          </a:p>
        </p:txBody>
      </p:sp>
      <p:sp>
        <p:nvSpPr>
          <p:cNvPr id="45" name="Text 43"/>
          <p:cNvSpPr/>
          <p:nvPr/>
        </p:nvSpPr>
        <p:spPr>
          <a:xfrm>
            <a:off x="6537960" y="2688336"/>
            <a:ext cx="1335024" cy="329184"/>
          </a:xfrm>
          <a:prstGeom prst="rect">
            <a:avLst/>
          </a:prstGeom>
          <a:noFill/>
          <a:ln/>
        </p:spPr>
        <p:txBody>
          <a:bodyPr wrap="square" rtlCol="0" anchor="ctr"/>
          <a:lstStyle/>
          <a:p>
            <a:pPr marL="0" indent="0" algn="ctr">
              <a:buNone/>
            </a:pPr>
            <a:r>
              <a:rPr lang="en-US" sz="1200" dirty="0">
                <a:solidFill>
                  <a:srgbClr val="333333"/>
                </a:solidFill>
                <a:latin typeface="Calibri" pitchFamily="34" charset="0"/>
                <a:ea typeface="Calibri" pitchFamily="34" charset="-122"/>
                <a:cs typeface="Calibri" pitchFamily="34" charset="-120"/>
              </a:rPr>
              <a:t>3.21</a:t>
            </a:r>
            <a:endParaRPr lang="en-US" sz="1200" dirty="0"/>
          </a:p>
        </p:txBody>
      </p:sp>
      <p:sp>
        <p:nvSpPr>
          <p:cNvPr id="46" name="Shape 44"/>
          <p:cNvSpPr/>
          <p:nvPr/>
        </p:nvSpPr>
        <p:spPr>
          <a:xfrm>
            <a:off x="7936992" y="2688336"/>
            <a:ext cx="914400" cy="329184"/>
          </a:xfrm>
          <a:prstGeom prst="rect">
            <a:avLst/>
          </a:prstGeom>
          <a:solidFill>
            <a:srgbClr val="EEEEEE"/>
          </a:solidFill>
          <a:ln w="6350">
            <a:solidFill>
              <a:srgbClr val="CCCCCC"/>
            </a:solidFill>
            <a:prstDash val="solid"/>
          </a:ln>
        </p:spPr>
        <p:txBody>
          <a:bodyPr/>
          <a:lstStyle/>
          <a:p>
            <a:endParaRPr lang="en-IN"/>
          </a:p>
        </p:txBody>
      </p:sp>
      <p:sp>
        <p:nvSpPr>
          <p:cNvPr id="47" name="Text 45"/>
          <p:cNvSpPr/>
          <p:nvPr/>
        </p:nvSpPr>
        <p:spPr>
          <a:xfrm>
            <a:off x="7982712" y="2688336"/>
            <a:ext cx="822960" cy="329184"/>
          </a:xfrm>
          <a:prstGeom prst="rect">
            <a:avLst/>
          </a:prstGeom>
          <a:noFill/>
          <a:ln/>
        </p:spPr>
        <p:txBody>
          <a:bodyPr wrap="square" rtlCol="0" anchor="ctr"/>
          <a:lstStyle/>
          <a:p>
            <a:pPr marL="0" indent="0" algn="ctr">
              <a:buNone/>
            </a:pPr>
            <a:r>
              <a:rPr lang="en-US" sz="1200" b="1" dirty="0">
                <a:solidFill>
                  <a:srgbClr val="333333"/>
                </a:solidFill>
                <a:latin typeface="Calibri" pitchFamily="34" charset="0"/>
                <a:ea typeface="Calibri" pitchFamily="34" charset="-122"/>
                <a:cs typeface="Calibri" pitchFamily="34" charset="-120"/>
              </a:rPr>
              <a:t>2.59</a:t>
            </a:r>
            <a:endParaRPr lang="en-US" sz="1200" dirty="0"/>
          </a:p>
        </p:txBody>
      </p:sp>
      <p:sp>
        <p:nvSpPr>
          <p:cNvPr id="48" name="Shape 46"/>
          <p:cNvSpPr/>
          <p:nvPr/>
        </p:nvSpPr>
        <p:spPr>
          <a:xfrm>
            <a:off x="320040" y="3054096"/>
            <a:ext cx="1627632" cy="329184"/>
          </a:xfrm>
          <a:prstGeom prst="rect">
            <a:avLst/>
          </a:prstGeom>
          <a:solidFill>
            <a:srgbClr val="DDEEFF"/>
          </a:solidFill>
          <a:ln w="6350">
            <a:solidFill>
              <a:srgbClr val="CCCCCC"/>
            </a:solidFill>
            <a:prstDash val="solid"/>
          </a:ln>
        </p:spPr>
        <p:txBody>
          <a:bodyPr/>
          <a:lstStyle/>
          <a:p>
            <a:endParaRPr lang="en-IN"/>
          </a:p>
        </p:txBody>
      </p:sp>
      <p:sp>
        <p:nvSpPr>
          <p:cNvPr id="49" name="Text 47"/>
          <p:cNvSpPr/>
          <p:nvPr/>
        </p:nvSpPr>
        <p:spPr>
          <a:xfrm>
            <a:off x="365760" y="3054096"/>
            <a:ext cx="1536192" cy="329184"/>
          </a:xfrm>
          <a:prstGeom prst="rect">
            <a:avLst/>
          </a:prstGeom>
          <a:noFill/>
          <a:ln/>
        </p:spPr>
        <p:txBody>
          <a:bodyPr wrap="square" rtlCol="0" anchor="ctr"/>
          <a:lstStyle/>
          <a:p>
            <a:pPr marL="0" indent="0" algn="l">
              <a:buNone/>
            </a:pPr>
            <a:r>
              <a:rPr lang="en-US" sz="1100" b="1" dirty="0">
                <a:solidFill>
                  <a:srgbClr val="333333"/>
                </a:solidFill>
                <a:latin typeface="Calibri" pitchFamily="34" charset="0"/>
                <a:ea typeface="Calibri" pitchFamily="34" charset="-122"/>
                <a:cs typeface="Calibri" pitchFamily="34" charset="-120"/>
              </a:rPr>
              <a:t>Method 1</a:t>
            </a:r>
            <a:endParaRPr lang="en-US" sz="1100" dirty="0"/>
          </a:p>
        </p:txBody>
      </p:sp>
      <p:sp>
        <p:nvSpPr>
          <p:cNvPr id="50" name="Shape 48"/>
          <p:cNvSpPr/>
          <p:nvPr/>
        </p:nvSpPr>
        <p:spPr>
          <a:xfrm>
            <a:off x="1965960" y="3054096"/>
            <a:ext cx="1399032" cy="329184"/>
          </a:xfrm>
          <a:prstGeom prst="rect">
            <a:avLst/>
          </a:prstGeom>
          <a:solidFill>
            <a:srgbClr val="DDEEFF"/>
          </a:solidFill>
          <a:ln w="6350">
            <a:solidFill>
              <a:srgbClr val="CCCCCC"/>
            </a:solidFill>
            <a:prstDash val="solid"/>
          </a:ln>
        </p:spPr>
        <p:txBody>
          <a:bodyPr/>
          <a:lstStyle/>
          <a:p>
            <a:endParaRPr lang="en-IN"/>
          </a:p>
        </p:txBody>
      </p:sp>
      <p:sp>
        <p:nvSpPr>
          <p:cNvPr id="51" name="Text 49"/>
          <p:cNvSpPr/>
          <p:nvPr/>
        </p:nvSpPr>
        <p:spPr>
          <a:xfrm>
            <a:off x="2011680" y="3054096"/>
            <a:ext cx="1307592" cy="329184"/>
          </a:xfrm>
          <a:prstGeom prst="rect">
            <a:avLst/>
          </a:prstGeom>
          <a:noFill/>
          <a:ln/>
        </p:spPr>
        <p:txBody>
          <a:bodyPr wrap="square" rtlCol="0" anchor="ctr"/>
          <a:lstStyle/>
          <a:p>
            <a:pPr marL="0" indent="0" algn="ctr">
              <a:buNone/>
            </a:pPr>
            <a:r>
              <a:rPr lang="en-US" sz="1200" dirty="0">
                <a:solidFill>
                  <a:srgbClr val="333333"/>
                </a:solidFill>
                <a:latin typeface="Calibri" pitchFamily="34" charset="0"/>
                <a:ea typeface="Calibri" pitchFamily="34" charset="-122"/>
                <a:cs typeface="Calibri" pitchFamily="34" charset="-120"/>
              </a:rPr>
              <a:t>3.65</a:t>
            </a:r>
            <a:endParaRPr lang="en-US" sz="1200" dirty="0"/>
          </a:p>
        </p:txBody>
      </p:sp>
      <p:sp>
        <p:nvSpPr>
          <p:cNvPr id="52" name="Shape 50"/>
          <p:cNvSpPr/>
          <p:nvPr/>
        </p:nvSpPr>
        <p:spPr>
          <a:xfrm>
            <a:off x="3383280" y="3054096"/>
            <a:ext cx="1536192" cy="329184"/>
          </a:xfrm>
          <a:prstGeom prst="rect">
            <a:avLst/>
          </a:prstGeom>
          <a:solidFill>
            <a:srgbClr val="DDEEFF"/>
          </a:solidFill>
          <a:ln w="6350">
            <a:solidFill>
              <a:srgbClr val="CCCCCC"/>
            </a:solidFill>
            <a:prstDash val="solid"/>
          </a:ln>
        </p:spPr>
        <p:txBody>
          <a:bodyPr/>
          <a:lstStyle/>
          <a:p>
            <a:endParaRPr lang="en-IN"/>
          </a:p>
        </p:txBody>
      </p:sp>
      <p:sp>
        <p:nvSpPr>
          <p:cNvPr id="53" name="Text 51"/>
          <p:cNvSpPr/>
          <p:nvPr/>
        </p:nvSpPr>
        <p:spPr>
          <a:xfrm>
            <a:off x="3429000" y="3054096"/>
            <a:ext cx="1444752" cy="329184"/>
          </a:xfrm>
          <a:prstGeom prst="rect">
            <a:avLst/>
          </a:prstGeom>
          <a:noFill/>
          <a:ln/>
        </p:spPr>
        <p:txBody>
          <a:bodyPr wrap="square" rtlCol="0" anchor="ctr"/>
          <a:lstStyle/>
          <a:p>
            <a:pPr marL="0" indent="0" algn="ctr">
              <a:buNone/>
            </a:pPr>
            <a:r>
              <a:rPr lang="en-US" sz="1200" dirty="0">
                <a:solidFill>
                  <a:srgbClr val="333333"/>
                </a:solidFill>
                <a:latin typeface="Calibri" pitchFamily="34" charset="0"/>
                <a:ea typeface="Calibri" pitchFamily="34" charset="-122"/>
                <a:cs typeface="Calibri" pitchFamily="34" charset="-120"/>
              </a:rPr>
              <a:t>3.87</a:t>
            </a:r>
            <a:endParaRPr lang="en-US" sz="1200" dirty="0"/>
          </a:p>
        </p:txBody>
      </p:sp>
      <p:sp>
        <p:nvSpPr>
          <p:cNvPr id="54" name="Shape 52"/>
          <p:cNvSpPr/>
          <p:nvPr/>
        </p:nvSpPr>
        <p:spPr>
          <a:xfrm>
            <a:off x="4937760" y="3054096"/>
            <a:ext cx="1536192" cy="329184"/>
          </a:xfrm>
          <a:prstGeom prst="rect">
            <a:avLst/>
          </a:prstGeom>
          <a:solidFill>
            <a:srgbClr val="DDEEFF"/>
          </a:solidFill>
          <a:ln w="6350">
            <a:solidFill>
              <a:srgbClr val="CCCCCC"/>
            </a:solidFill>
            <a:prstDash val="solid"/>
          </a:ln>
        </p:spPr>
        <p:txBody>
          <a:bodyPr/>
          <a:lstStyle/>
          <a:p>
            <a:endParaRPr lang="en-IN"/>
          </a:p>
        </p:txBody>
      </p:sp>
      <p:sp>
        <p:nvSpPr>
          <p:cNvPr id="55" name="Text 53"/>
          <p:cNvSpPr/>
          <p:nvPr/>
        </p:nvSpPr>
        <p:spPr>
          <a:xfrm>
            <a:off x="4983480" y="3054096"/>
            <a:ext cx="1444752" cy="329184"/>
          </a:xfrm>
          <a:prstGeom prst="rect">
            <a:avLst/>
          </a:prstGeom>
          <a:noFill/>
          <a:ln/>
        </p:spPr>
        <p:txBody>
          <a:bodyPr wrap="square" rtlCol="0" anchor="ctr"/>
          <a:lstStyle/>
          <a:p>
            <a:pPr marL="0" indent="0" algn="ctr">
              <a:buNone/>
            </a:pPr>
            <a:r>
              <a:rPr lang="en-US" sz="1200" dirty="0">
                <a:solidFill>
                  <a:srgbClr val="333333"/>
                </a:solidFill>
                <a:latin typeface="Calibri" pitchFamily="34" charset="0"/>
                <a:ea typeface="Calibri" pitchFamily="34" charset="-122"/>
                <a:cs typeface="Calibri" pitchFamily="34" charset="-120"/>
              </a:rPr>
              <a:t>2.80</a:t>
            </a:r>
            <a:endParaRPr lang="en-US" sz="1200" dirty="0"/>
          </a:p>
        </p:txBody>
      </p:sp>
      <p:sp>
        <p:nvSpPr>
          <p:cNvPr id="56" name="Shape 54"/>
          <p:cNvSpPr/>
          <p:nvPr/>
        </p:nvSpPr>
        <p:spPr>
          <a:xfrm>
            <a:off x="6492240" y="3054096"/>
            <a:ext cx="1426464" cy="329184"/>
          </a:xfrm>
          <a:prstGeom prst="rect">
            <a:avLst/>
          </a:prstGeom>
          <a:solidFill>
            <a:srgbClr val="DDEEFF"/>
          </a:solidFill>
          <a:ln w="6350">
            <a:solidFill>
              <a:srgbClr val="CCCCCC"/>
            </a:solidFill>
            <a:prstDash val="solid"/>
          </a:ln>
        </p:spPr>
        <p:txBody>
          <a:bodyPr/>
          <a:lstStyle/>
          <a:p>
            <a:endParaRPr lang="en-IN"/>
          </a:p>
        </p:txBody>
      </p:sp>
      <p:sp>
        <p:nvSpPr>
          <p:cNvPr id="57" name="Text 55"/>
          <p:cNvSpPr/>
          <p:nvPr/>
        </p:nvSpPr>
        <p:spPr>
          <a:xfrm>
            <a:off x="6537960" y="3054096"/>
            <a:ext cx="1335024" cy="329184"/>
          </a:xfrm>
          <a:prstGeom prst="rect">
            <a:avLst/>
          </a:prstGeom>
          <a:noFill/>
          <a:ln/>
        </p:spPr>
        <p:txBody>
          <a:bodyPr wrap="square" rtlCol="0" anchor="ctr"/>
          <a:lstStyle/>
          <a:p>
            <a:pPr marL="0" indent="0" algn="ctr">
              <a:buNone/>
            </a:pPr>
            <a:r>
              <a:rPr lang="en-US" sz="1200" dirty="0">
                <a:solidFill>
                  <a:srgbClr val="333333"/>
                </a:solidFill>
                <a:latin typeface="Calibri" pitchFamily="34" charset="0"/>
                <a:ea typeface="Calibri" pitchFamily="34" charset="-122"/>
                <a:cs typeface="Calibri" pitchFamily="34" charset="-120"/>
              </a:rPr>
              <a:t>3.77</a:t>
            </a:r>
            <a:endParaRPr lang="en-US" sz="1200" dirty="0"/>
          </a:p>
        </p:txBody>
      </p:sp>
      <p:sp>
        <p:nvSpPr>
          <p:cNvPr id="58" name="Shape 56"/>
          <p:cNvSpPr/>
          <p:nvPr/>
        </p:nvSpPr>
        <p:spPr>
          <a:xfrm>
            <a:off x="7936992" y="3054096"/>
            <a:ext cx="914400" cy="329184"/>
          </a:xfrm>
          <a:prstGeom prst="rect">
            <a:avLst/>
          </a:prstGeom>
          <a:solidFill>
            <a:srgbClr val="DDEEFF"/>
          </a:solidFill>
          <a:ln w="6350">
            <a:solidFill>
              <a:srgbClr val="CCCCCC"/>
            </a:solidFill>
            <a:prstDash val="solid"/>
          </a:ln>
        </p:spPr>
        <p:txBody>
          <a:bodyPr/>
          <a:lstStyle/>
          <a:p>
            <a:endParaRPr lang="en-IN"/>
          </a:p>
        </p:txBody>
      </p:sp>
      <p:sp>
        <p:nvSpPr>
          <p:cNvPr id="59" name="Text 57"/>
          <p:cNvSpPr/>
          <p:nvPr/>
        </p:nvSpPr>
        <p:spPr>
          <a:xfrm>
            <a:off x="7982712" y="3054096"/>
            <a:ext cx="822960" cy="329184"/>
          </a:xfrm>
          <a:prstGeom prst="rect">
            <a:avLst/>
          </a:prstGeom>
          <a:noFill/>
          <a:ln/>
        </p:spPr>
        <p:txBody>
          <a:bodyPr wrap="square" rtlCol="0" anchor="ctr"/>
          <a:lstStyle/>
          <a:p>
            <a:pPr marL="0" indent="0" algn="ctr">
              <a:buNone/>
            </a:pPr>
            <a:r>
              <a:rPr lang="en-US" sz="1200" b="1" dirty="0">
                <a:solidFill>
                  <a:srgbClr val="333333"/>
                </a:solidFill>
                <a:latin typeface="Calibri" pitchFamily="34" charset="0"/>
                <a:ea typeface="Calibri" pitchFamily="34" charset="-122"/>
                <a:cs typeface="Calibri" pitchFamily="34" charset="-120"/>
              </a:rPr>
              <a:t>3.52</a:t>
            </a:r>
            <a:endParaRPr lang="en-US" sz="1200" dirty="0"/>
          </a:p>
        </p:txBody>
      </p:sp>
      <p:sp>
        <p:nvSpPr>
          <p:cNvPr id="60" name="Shape 58"/>
          <p:cNvSpPr/>
          <p:nvPr/>
        </p:nvSpPr>
        <p:spPr>
          <a:xfrm>
            <a:off x="320040" y="3419856"/>
            <a:ext cx="1627632" cy="329184"/>
          </a:xfrm>
          <a:prstGeom prst="rect">
            <a:avLst/>
          </a:prstGeom>
          <a:solidFill>
            <a:srgbClr val="D0F0E0"/>
          </a:solidFill>
          <a:ln w="6350">
            <a:solidFill>
              <a:srgbClr val="CCCCCC"/>
            </a:solidFill>
            <a:prstDash val="solid"/>
          </a:ln>
        </p:spPr>
        <p:txBody>
          <a:bodyPr/>
          <a:lstStyle/>
          <a:p>
            <a:endParaRPr lang="en-IN"/>
          </a:p>
        </p:txBody>
      </p:sp>
      <p:sp>
        <p:nvSpPr>
          <p:cNvPr id="61" name="Text 59"/>
          <p:cNvSpPr/>
          <p:nvPr/>
        </p:nvSpPr>
        <p:spPr>
          <a:xfrm>
            <a:off x="365760" y="3419856"/>
            <a:ext cx="1536192" cy="329184"/>
          </a:xfrm>
          <a:prstGeom prst="rect">
            <a:avLst/>
          </a:prstGeom>
          <a:noFill/>
          <a:ln/>
        </p:spPr>
        <p:txBody>
          <a:bodyPr wrap="square" rtlCol="0" anchor="ctr"/>
          <a:lstStyle/>
          <a:p>
            <a:pPr marL="0" indent="0" algn="l">
              <a:buNone/>
            </a:pPr>
            <a:r>
              <a:rPr lang="en-US" sz="1100" b="1" dirty="0">
                <a:solidFill>
                  <a:srgbClr val="333333"/>
                </a:solidFill>
                <a:latin typeface="Calibri" pitchFamily="34" charset="0"/>
                <a:ea typeface="Calibri" pitchFamily="34" charset="-122"/>
                <a:cs typeface="Calibri" pitchFamily="34" charset="-120"/>
              </a:rPr>
              <a:t>Method 2</a:t>
            </a:r>
            <a:endParaRPr lang="en-US" sz="1100" dirty="0"/>
          </a:p>
        </p:txBody>
      </p:sp>
      <p:sp>
        <p:nvSpPr>
          <p:cNvPr id="62" name="Shape 60"/>
          <p:cNvSpPr/>
          <p:nvPr/>
        </p:nvSpPr>
        <p:spPr>
          <a:xfrm>
            <a:off x="1965960" y="3419856"/>
            <a:ext cx="1399032" cy="329184"/>
          </a:xfrm>
          <a:prstGeom prst="rect">
            <a:avLst/>
          </a:prstGeom>
          <a:solidFill>
            <a:srgbClr val="D0F0E0"/>
          </a:solidFill>
          <a:ln w="6350">
            <a:solidFill>
              <a:srgbClr val="CCCCCC"/>
            </a:solidFill>
            <a:prstDash val="solid"/>
          </a:ln>
        </p:spPr>
        <p:txBody>
          <a:bodyPr/>
          <a:lstStyle/>
          <a:p>
            <a:endParaRPr lang="en-IN"/>
          </a:p>
        </p:txBody>
      </p:sp>
      <p:sp>
        <p:nvSpPr>
          <p:cNvPr id="63" name="Text 61"/>
          <p:cNvSpPr/>
          <p:nvPr/>
        </p:nvSpPr>
        <p:spPr>
          <a:xfrm>
            <a:off x="2011680" y="3419856"/>
            <a:ext cx="1307592" cy="329184"/>
          </a:xfrm>
          <a:prstGeom prst="rect">
            <a:avLst/>
          </a:prstGeom>
          <a:noFill/>
          <a:ln/>
        </p:spPr>
        <p:txBody>
          <a:bodyPr wrap="square" rtlCol="0" anchor="ctr"/>
          <a:lstStyle/>
          <a:p>
            <a:pPr marL="0" indent="0" algn="ctr">
              <a:buNone/>
            </a:pPr>
            <a:r>
              <a:rPr lang="en-US" sz="1200" dirty="0">
                <a:solidFill>
                  <a:srgbClr val="333333"/>
                </a:solidFill>
                <a:latin typeface="Calibri" pitchFamily="34" charset="0"/>
                <a:ea typeface="Calibri" pitchFamily="34" charset="-122"/>
                <a:cs typeface="Calibri" pitchFamily="34" charset="-120"/>
              </a:rPr>
              <a:t>3.45</a:t>
            </a:r>
            <a:endParaRPr lang="en-US" sz="1200" dirty="0"/>
          </a:p>
        </p:txBody>
      </p:sp>
      <p:sp>
        <p:nvSpPr>
          <p:cNvPr id="64" name="Shape 62"/>
          <p:cNvSpPr/>
          <p:nvPr/>
        </p:nvSpPr>
        <p:spPr>
          <a:xfrm>
            <a:off x="3383280" y="3419856"/>
            <a:ext cx="1536192" cy="329184"/>
          </a:xfrm>
          <a:prstGeom prst="rect">
            <a:avLst/>
          </a:prstGeom>
          <a:solidFill>
            <a:srgbClr val="D0F0E0"/>
          </a:solidFill>
          <a:ln w="6350">
            <a:solidFill>
              <a:srgbClr val="CCCCCC"/>
            </a:solidFill>
            <a:prstDash val="solid"/>
          </a:ln>
        </p:spPr>
        <p:txBody>
          <a:bodyPr/>
          <a:lstStyle/>
          <a:p>
            <a:endParaRPr lang="en-IN"/>
          </a:p>
        </p:txBody>
      </p:sp>
      <p:sp>
        <p:nvSpPr>
          <p:cNvPr id="65" name="Text 63"/>
          <p:cNvSpPr/>
          <p:nvPr/>
        </p:nvSpPr>
        <p:spPr>
          <a:xfrm>
            <a:off x="3429000" y="3419856"/>
            <a:ext cx="1444752" cy="329184"/>
          </a:xfrm>
          <a:prstGeom prst="rect">
            <a:avLst/>
          </a:prstGeom>
          <a:noFill/>
          <a:ln/>
        </p:spPr>
        <p:txBody>
          <a:bodyPr wrap="square" rtlCol="0" anchor="ctr"/>
          <a:lstStyle/>
          <a:p>
            <a:pPr marL="0" indent="0" algn="ctr">
              <a:buNone/>
            </a:pPr>
            <a:r>
              <a:rPr lang="en-US" sz="1200" dirty="0">
                <a:solidFill>
                  <a:srgbClr val="333333"/>
                </a:solidFill>
                <a:latin typeface="Calibri" pitchFamily="34" charset="0"/>
                <a:ea typeface="Calibri" pitchFamily="34" charset="-122"/>
                <a:cs typeface="Calibri" pitchFamily="34" charset="-120"/>
              </a:rPr>
              <a:t>3.46</a:t>
            </a:r>
            <a:endParaRPr lang="en-US" sz="1200" dirty="0"/>
          </a:p>
        </p:txBody>
      </p:sp>
      <p:sp>
        <p:nvSpPr>
          <p:cNvPr id="66" name="Shape 64"/>
          <p:cNvSpPr/>
          <p:nvPr/>
        </p:nvSpPr>
        <p:spPr>
          <a:xfrm>
            <a:off x="4937760" y="3419856"/>
            <a:ext cx="1536192" cy="329184"/>
          </a:xfrm>
          <a:prstGeom prst="rect">
            <a:avLst/>
          </a:prstGeom>
          <a:solidFill>
            <a:srgbClr val="D0F0E0"/>
          </a:solidFill>
          <a:ln w="6350">
            <a:solidFill>
              <a:srgbClr val="CCCCCC"/>
            </a:solidFill>
            <a:prstDash val="solid"/>
          </a:ln>
        </p:spPr>
        <p:txBody>
          <a:bodyPr/>
          <a:lstStyle/>
          <a:p>
            <a:endParaRPr lang="en-IN"/>
          </a:p>
        </p:txBody>
      </p:sp>
      <p:sp>
        <p:nvSpPr>
          <p:cNvPr id="67" name="Text 65"/>
          <p:cNvSpPr/>
          <p:nvPr/>
        </p:nvSpPr>
        <p:spPr>
          <a:xfrm>
            <a:off x="4983480" y="3419856"/>
            <a:ext cx="1444752" cy="329184"/>
          </a:xfrm>
          <a:prstGeom prst="rect">
            <a:avLst/>
          </a:prstGeom>
          <a:noFill/>
          <a:ln/>
        </p:spPr>
        <p:txBody>
          <a:bodyPr wrap="square" rtlCol="0" anchor="ctr"/>
          <a:lstStyle/>
          <a:p>
            <a:pPr marL="0" indent="0" algn="ctr">
              <a:buNone/>
            </a:pPr>
            <a:r>
              <a:rPr lang="en-US" sz="1200" b="1" dirty="0">
                <a:solidFill>
                  <a:srgbClr val="1A7A5E"/>
                </a:solidFill>
                <a:latin typeface="Calibri" pitchFamily="34" charset="0"/>
                <a:ea typeface="Calibri" pitchFamily="34" charset="-122"/>
                <a:cs typeface="Calibri" pitchFamily="34" charset="-120"/>
              </a:rPr>
              <a:t>4.41</a:t>
            </a:r>
            <a:endParaRPr lang="en-US" sz="1200" dirty="0"/>
          </a:p>
        </p:txBody>
      </p:sp>
      <p:sp>
        <p:nvSpPr>
          <p:cNvPr id="68" name="Shape 66"/>
          <p:cNvSpPr/>
          <p:nvPr/>
        </p:nvSpPr>
        <p:spPr>
          <a:xfrm>
            <a:off x="6492240" y="3419856"/>
            <a:ext cx="1426464" cy="329184"/>
          </a:xfrm>
          <a:prstGeom prst="rect">
            <a:avLst/>
          </a:prstGeom>
          <a:solidFill>
            <a:srgbClr val="D0F0E0"/>
          </a:solidFill>
          <a:ln w="6350">
            <a:solidFill>
              <a:srgbClr val="CCCCCC"/>
            </a:solidFill>
            <a:prstDash val="solid"/>
          </a:ln>
        </p:spPr>
        <p:txBody>
          <a:bodyPr/>
          <a:lstStyle/>
          <a:p>
            <a:endParaRPr lang="en-IN"/>
          </a:p>
        </p:txBody>
      </p:sp>
      <p:sp>
        <p:nvSpPr>
          <p:cNvPr id="69" name="Text 67"/>
          <p:cNvSpPr/>
          <p:nvPr/>
        </p:nvSpPr>
        <p:spPr>
          <a:xfrm>
            <a:off x="6537960" y="3419856"/>
            <a:ext cx="1335024" cy="329184"/>
          </a:xfrm>
          <a:prstGeom prst="rect">
            <a:avLst/>
          </a:prstGeom>
          <a:noFill/>
          <a:ln/>
        </p:spPr>
        <p:txBody>
          <a:bodyPr wrap="square" rtlCol="0" anchor="ctr"/>
          <a:lstStyle/>
          <a:p>
            <a:pPr marL="0" indent="0" algn="ctr">
              <a:buNone/>
            </a:pPr>
            <a:r>
              <a:rPr lang="en-US" sz="1200" dirty="0">
                <a:solidFill>
                  <a:srgbClr val="333333"/>
                </a:solidFill>
                <a:latin typeface="Calibri" pitchFamily="34" charset="0"/>
                <a:ea typeface="Calibri" pitchFamily="34" charset="-122"/>
                <a:cs typeface="Calibri" pitchFamily="34" charset="-120"/>
              </a:rPr>
              <a:t>3.90</a:t>
            </a:r>
            <a:endParaRPr lang="en-US" sz="1200" dirty="0"/>
          </a:p>
        </p:txBody>
      </p:sp>
      <p:sp>
        <p:nvSpPr>
          <p:cNvPr id="70" name="Shape 68"/>
          <p:cNvSpPr/>
          <p:nvPr/>
        </p:nvSpPr>
        <p:spPr>
          <a:xfrm>
            <a:off x="7936992" y="3419856"/>
            <a:ext cx="914400" cy="329184"/>
          </a:xfrm>
          <a:prstGeom prst="rect">
            <a:avLst/>
          </a:prstGeom>
          <a:solidFill>
            <a:srgbClr val="D0F0E0"/>
          </a:solidFill>
          <a:ln w="6350">
            <a:solidFill>
              <a:srgbClr val="CCCCCC"/>
            </a:solidFill>
            <a:prstDash val="solid"/>
          </a:ln>
        </p:spPr>
        <p:txBody>
          <a:bodyPr/>
          <a:lstStyle/>
          <a:p>
            <a:endParaRPr lang="en-IN"/>
          </a:p>
        </p:txBody>
      </p:sp>
      <p:sp>
        <p:nvSpPr>
          <p:cNvPr id="71" name="Text 69"/>
          <p:cNvSpPr/>
          <p:nvPr/>
        </p:nvSpPr>
        <p:spPr>
          <a:xfrm>
            <a:off x="7982712" y="3419856"/>
            <a:ext cx="822960" cy="329184"/>
          </a:xfrm>
          <a:prstGeom prst="rect">
            <a:avLst/>
          </a:prstGeom>
          <a:noFill/>
          <a:ln/>
        </p:spPr>
        <p:txBody>
          <a:bodyPr wrap="square" rtlCol="0" anchor="ctr"/>
          <a:lstStyle/>
          <a:p>
            <a:pPr marL="0" indent="0" algn="ctr">
              <a:buNone/>
            </a:pPr>
            <a:r>
              <a:rPr lang="en-US" sz="1200" b="1" dirty="0">
                <a:solidFill>
                  <a:srgbClr val="333333"/>
                </a:solidFill>
                <a:latin typeface="Calibri" pitchFamily="34" charset="0"/>
                <a:ea typeface="Calibri" pitchFamily="34" charset="-122"/>
                <a:cs typeface="Calibri" pitchFamily="34" charset="-120"/>
              </a:rPr>
              <a:t>3.81</a:t>
            </a:r>
            <a:endParaRPr lang="en-US" sz="1200" dirty="0"/>
          </a:p>
        </p:txBody>
      </p:sp>
      <p:sp>
        <p:nvSpPr>
          <p:cNvPr id="72" name="Text 70"/>
          <p:cNvSpPr/>
          <p:nvPr/>
        </p:nvSpPr>
        <p:spPr>
          <a:xfrm>
            <a:off x="320040" y="3803904"/>
            <a:ext cx="8503920" cy="310896"/>
          </a:xfrm>
          <a:prstGeom prst="rect">
            <a:avLst/>
          </a:prstGeom>
          <a:noFill/>
          <a:ln/>
        </p:spPr>
        <p:txBody>
          <a:bodyPr wrap="square" rtlCol="0" anchor="ctr"/>
          <a:lstStyle/>
          <a:p>
            <a:pPr marL="0" indent="0">
              <a:buNone/>
            </a:pPr>
            <a:r>
              <a:rPr lang="en-US" sz="1100" b="1" dirty="0">
                <a:solidFill>
                  <a:srgbClr val="1A7A5E"/>
                </a:solidFill>
                <a:latin typeface="Calibri" pitchFamily="34" charset="0"/>
                <a:ea typeface="Calibri" pitchFamily="34" charset="-122"/>
                <a:cs typeface="Calibri" pitchFamily="34" charset="-120"/>
              </a:rPr>
              <a:t>★  Method 2 achieves Persona Relevance 4.41/5 — a gap of +1.61 over Baseline (2.03) and +1.61 over Method 1 (2.80). Research hypothesis confirmed.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0040" y="82296"/>
            <a:ext cx="8503920" cy="475488"/>
          </a:xfrm>
          <a:prstGeom prst="rect">
            <a:avLst/>
          </a:prstGeom>
          <a:noFill/>
          <a:ln/>
        </p:spPr>
        <p:txBody>
          <a:bodyPr wrap="square" rtlCol="0" anchor="ctr"/>
          <a:lstStyle/>
          <a:p>
            <a:pPr marL="0" indent="0">
              <a:buNone/>
            </a:pPr>
            <a:r>
              <a:rPr lang="en-US" sz="2200" b="1" dirty="0">
                <a:solidFill>
                  <a:srgbClr val="000000"/>
                </a:solidFill>
                <a:latin typeface="Calibri" pitchFamily="34" charset="0"/>
                <a:ea typeface="Calibri" pitchFamily="34" charset="-122"/>
                <a:cs typeface="Calibri" pitchFamily="34" charset="-120"/>
              </a:rPr>
              <a:t>Error Analysis — Failure Modes Per Method</a:t>
            </a:r>
            <a:endParaRPr lang="en-US" sz="2200" dirty="0"/>
          </a:p>
        </p:txBody>
      </p:sp>
      <p:sp>
        <p:nvSpPr>
          <p:cNvPr id="3" name="Text 1"/>
          <p:cNvSpPr/>
          <p:nvPr/>
        </p:nvSpPr>
        <p:spPr>
          <a:xfrm>
            <a:off x="137160" y="4864608"/>
            <a:ext cx="320040" cy="182880"/>
          </a:xfrm>
          <a:prstGeom prst="rect">
            <a:avLst/>
          </a:prstGeom>
          <a:noFill/>
          <a:ln/>
        </p:spPr>
        <p:txBody>
          <a:bodyPr wrap="square" rtlCol="0" anchor="ctr"/>
          <a:lstStyle/>
          <a:p>
            <a:pPr marL="0" indent="0">
              <a:buNone/>
            </a:pPr>
            <a:r>
              <a:rPr lang="en-US" sz="1000" dirty="0">
                <a:solidFill>
                  <a:srgbClr val="666666"/>
                </a:solidFill>
                <a:latin typeface="Calibri" pitchFamily="34" charset="0"/>
                <a:ea typeface="Calibri" pitchFamily="34" charset="-122"/>
                <a:cs typeface="Calibri" pitchFamily="34" charset="-120"/>
              </a:rPr>
              <a:t>10</a:t>
            </a:r>
            <a:endParaRPr lang="en-US" sz="1000" dirty="0"/>
          </a:p>
        </p:txBody>
      </p:sp>
      <p:sp>
        <p:nvSpPr>
          <p:cNvPr id="4" name="Shape 2"/>
          <p:cNvSpPr/>
          <p:nvPr/>
        </p:nvSpPr>
        <p:spPr>
          <a:xfrm>
            <a:off x="274320" y="676656"/>
            <a:ext cx="2834640" cy="310896"/>
          </a:xfrm>
          <a:prstGeom prst="rect">
            <a:avLst/>
          </a:prstGeom>
          <a:solidFill>
            <a:srgbClr val="777777"/>
          </a:solidFill>
          <a:ln/>
        </p:spPr>
        <p:txBody>
          <a:bodyPr/>
          <a:lstStyle/>
          <a:p>
            <a:endParaRPr lang="en-IN"/>
          </a:p>
        </p:txBody>
      </p:sp>
      <p:sp>
        <p:nvSpPr>
          <p:cNvPr id="5" name="Text 3"/>
          <p:cNvSpPr/>
          <p:nvPr/>
        </p:nvSpPr>
        <p:spPr>
          <a:xfrm>
            <a:off x="274320" y="676656"/>
            <a:ext cx="2834640" cy="31089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Baseline</a:t>
            </a:r>
            <a:endParaRPr lang="en-US" sz="1300" dirty="0"/>
          </a:p>
        </p:txBody>
      </p:sp>
      <p:sp>
        <p:nvSpPr>
          <p:cNvPr id="6" name="Shape 4"/>
          <p:cNvSpPr/>
          <p:nvPr/>
        </p:nvSpPr>
        <p:spPr>
          <a:xfrm>
            <a:off x="274320" y="1060704"/>
            <a:ext cx="2834640" cy="274320"/>
          </a:xfrm>
          <a:prstGeom prst="rect">
            <a:avLst/>
          </a:prstGeom>
          <a:solidFill>
            <a:srgbClr val="777777"/>
          </a:solidFill>
          <a:ln/>
        </p:spPr>
        <p:txBody>
          <a:bodyPr/>
          <a:lstStyle/>
          <a:p>
            <a:endParaRPr lang="en-IN"/>
          </a:p>
        </p:txBody>
      </p:sp>
      <p:sp>
        <p:nvSpPr>
          <p:cNvPr id="7" name="Text 5"/>
          <p:cNvSpPr/>
          <p:nvPr/>
        </p:nvSpPr>
        <p:spPr>
          <a:xfrm>
            <a:off x="347472" y="1060704"/>
            <a:ext cx="2688336" cy="27432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Omission</a:t>
            </a:r>
            <a:endParaRPr lang="en-US" sz="1050" dirty="0"/>
          </a:p>
        </p:txBody>
      </p:sp>
      <p:sp>
        <p:nvSpPr>
          <p:cNvPr id="8" name="Shape 6"/>
          <p:cNvSpPr/>
          <p:nvPr/>
        </p:nvSpPr>
        <p:spPr>
          <a:xfrm>
            <a:off x="274320" y="1335024"/>
            <a:ext cx="2834640" cy="475488"/>
          </a:xfrm>
          <a:prstGeom prst="rect">
            <a:avLst/>
          </a:prstGeom>
          <a:solidFill>
            <a:srgbClr val="F2F2F2"/>
          </a:solidFill>
          <a:ln w="6350">
            <a:solidFill>
              <a:srgbClr val="CCCCCC"/>
            </a:solidFill>
            <a:prstDash val="solid"/>
          </a:ln>
        </p:spPr>
        <p:txBody>
          <a:bodyPr/>
          <a:lstStyle/>
          <a:p>
            <a:endParaRPr lang="en-IN"/>
          </a:p>
        </p:txBody>
      </p:sp>
      <p:sp>
        <p:nvSpPr>
          <p:cNvPr id="9" name="Text 7"/>
          <p:cNvSpPr/>
          <p:nvPr/>
        </p:nvSpPr>
        <p:spPr>
          <a:xfrm>
            <a:off x="365760" y="1353312"/>
            <a:ext cx="2651760" cy="43891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Cross-chunk decisions absent from later summaries</a:t>
            </a:r>
            <a:endParaRPr lang="en-US" sz="1000" dirty="0"/>
          </a:p>
        </p:txBody>
      </p:sp>
      <p:sp>
        <p:nvSpPr>
          <p:cNvPr id="10" name="Shape 8"/>
          <p:cNvSpPr/>
          <p:nvPr/>
        </p:nvSpPr>
        <p:spPr>
          <a:xfrm>
            <a:off x="274320" y="1856232"/>
            <a:ext cx="2834640" cy="274320"/>
          </a:xfrm>
          <a:prstGeom prst="rect">
            <a:avLst/>
          </a:prstGeom>
          <a:solidFill>
            <a:srgbClr val="777777"/>
          </a:solidFill>
          <a:ln/>
        </p:spPr>
        <p:txBody>
          <a:bodyPr/>
          <a:lstStyle/>
          <a:p>
            <a:endParaRPr lang="en-IN"/>
          </a:p>
        </p:txBody>
      </p:sp>
      <p:sp>
        <p:nvSpPr>
          <p:cNvPr id="11" name="Text 9"/>
          <p:cNvSpPr/>
          <p:nvPr/>
        </p:nvSpPr>
        <p:spPr>
          <a:xfrm>
            <a:off x="347472" y="1856232"/>
            <a:ext cx="2688336" cy="27432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Redundancy</a:t>
            </a:r>
            <a:endParaRPr lang="en-US" sz="1050" dirty="0"/>
          </a:p>
        </p:txBody>
      </p:sp>
      <p:sp>
        <p:nvSpPr>
          <p:cNvPr id="12" name="Shape 10"/>
          <p:cNvSpPr/>
          <p:nvPr/>
        </p:nvSpPr>
        <p:spPr>
          <a:xfrm>
            <a:off x="274320" y="2130552"/>
            <a:ext cx="2834640" cy="475488"/>
          </a:xfrm>
          <a:prstGeom prst="rect">
            <a:avLst/>
          </a:prstGeom>
          <a:solidFill>
            <a:srgbClr val="F2F2F2"/>
          </a:solidFill>
          <a:ln w="6350">
            <a:solidFill>
              <a:srgbClr val="CCCCCC"/>
            </a:solidFill>
            <a:prstDash val="solid"/>
          </a:ln>
        </p:spPr>
        <p:txBody>
          <a:bodyPr/>
          <a:lstStyle/>
          <a:p>
            <a:endParaRPr lang="en-IN"/>
          </a:p>
        </p:txBody>
      </p:sp>
      <p:sp>
        <p:nvSpPr>
          <p:cNvPr id="13" name="Text 11"/>
          <p:cNvSpPr/>
          <p:nvPr/>
        </p:nvSpPr>
        <p:spPr>
          <a:xfrm>
            <a:off x="365760" y="2148840"/>
            <a:ext cx="2651760" cy="43891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Same speaker re-introduced across chunk summaries</a:t>
            </a:r>
            <a:endParaRPr lang="en-US" sz="1000" dirty="0"/>
          </a:p>
        </p:txBody>
      </p:sp>
      <p:sp>
        <p:nvSpPr>
          <p:cNvPr id="14" name="Shape 12"/>
          <p:cNvSpPr/>
          <p:nvPr/>
        </p:nvSpPr>
        <p:spPr>
          <a:xfrm>
            <a:off x="274320" y="2651760"/>
            <a:ext cx="2834640" cy="274320"/>
          </a:xfrm>
          <a:prstGeom prst="rect">
            <a:avLst/>
          </a:prstGeom>
          <a:solidFill>
            <a:srgbClr val="777777"/>
          </a:solidFill>
          <a:ln/>
        </p:spPr>
        <p:txBody>
          <a:bodyPr/>
          <a:lstStyle/>
          <a:p>
            <a:endParaRPr lang="en-IN"/>
          </a:p>
        </p:txBody>
      </p:sp>
      <p:sp>
        <p:nvSpPr>
          <p:cNvPr id="15" name="Text 13"/>
          <p:cNvSpPr/>
          <p:nvPr/>
        </p:nvSpPr>
        <p:spPr>
          <a:xfrm>
            <a:off x="347472" y="2651760"/>
            <a:ext cx="2688336" cy="27432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Incoherence</a:t>
            </a:r>
            <a:endParaRPr lang="en-US" sz="1050" dirty="0"/>
          </a:p>
        </p:txBody>
      </p:sp>
      <p:sp>
        <p:nvSpPr>
          <p:cNvPr id="16" name="Shape 14"/>
          <p:cNvSpPr/>
          <p:nvPr/>
        </p:nvSpPr>
        <p:spPr>
          <a:xfrm>
            <a:off x="274320" y="2926080"/>
            <a:ext cx="2834640" cy="475488"/>
          </a:xfrm>
          <a:prstGeom prst="rect">
            <a:avLst/>
          </a:prstGeom>
          <a:solidFill>
            <a:srgbClr val="F2F2F2"/>
          </a:solidFill>
          <a:ln w="6350">
            <a:solidFill>
              <a:srgbClr val="CCCCCC"/>
            </a:solidFill>
            <a:prstDash val="solid"/>
          </a:ln>
        </p:spPr>
        <p:txBody>
          <a:bodyPr/>
          <a:lstStyle/>
          <a:p>
            <a:endParaRPr lang="en-IN"/>
          </a:p>
        </p:txBody>
      </p:sp>
      <p:sp>
        <p:nvSpPr>
          <p:cNvPr id="17" name="Text 15"/>
          <p:cNvSpPr/>
          <p:nvPr/>
        </p:nvSpPr>
        <p:spPr>
          <a:xfrm>
            <a:off x="365760" y="2944368"/>
            <a:ext cx="2651760" cy="43891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No narrative thread connecting actions to decisions</a:t>
            </a:r>
            <a:endParaRPr lang="en-US" sz="1000" dirty="0"/>
          </a:p>
        </p:txBody>
      </p:sp>
      <p:sp>
        <p:nvSpPr>
          <p:cNvPr id="18" name="Shape 16"/>
          <p:cNvSpPr/>
          <p:nvPr/>
        </p:nvSpPr>
        <p:spPr>
          <a:xfrm>
            <a:off x="274320" y="3447288"/>
            <a:ext cx="2834640" cy="274320"/>
          </a:xfrm>
          <a:prstGeom prst="rect">
            <a:avLst/>
          </a:prstGeom>
          <a:solidFill>
            <a:srgbClr val="777777"/>
          </a:solidFill>
          <a:ln/>
        </p:spPr>
        <p:txBody>
          <a:bodyPr/>
          <a:lstStyle/>
          <a:p>
            <a:endParaRPr lang="en-IN"/>
          </a:p>
        </p:txBody>
      </p:sp>
      <p:sp>
        <p:nvSpPr>
          <p:cNvPr id="19" name="Text 17"/>
          <p:cNvSpPr/>
          <p:nvPr/>
        </p:nvSpPr>
        <p:spPr>
          <a:xfrm>
            <a:off x="347472" y="3447288"/>
            <a:ext cx="2688336" cy="27432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Context Loss</a:t>
            </a:r>
            <a:endParaRPr lang="en-US" sz="1050" dirty="0"/>
          </a:p>
        </p:txBody>
      </p:sp>
      <p:sp>
        <p:nvSpPr>
          <p:cNvPr id="20" name="Shape 18"/>
          <p:cNvSpPr/>
          <p:nvPr/>
        </p:nvSpPr>
        <p:spPr>
          <a:xfrm>
            <a:off x="274320" y="3721608"/>
            <a:ext cx="2834640" cy="475488"/>
          </a:xfrm>
          <a:prstGeom prst="rect">
            <a:avLst/>
          </a:prstGeom>
          <a:solidFill>
            <a:srgbClr val="F2F2F2"/>
          </a:solidFill>
          <a:ln w="6350">
            <a:solidFill>
              <a:srgbClr val="CCCCCC"/>
            </a:solidFill>
            <a:prstDash val="solid"/>
          </a:ln>
        </p:spPr>
        <p:txBody>
          <a:bodyPr/>
          <a:lstStyle/>
          <a:p>
            <a:endParaRPr lang="en-IN"/>
          </a:p>
        </p:txBody>
      </p:sp>
      <p:sp>
        <p:nvSpPr>
          <p:cNvPr id="21" name="Text 19"/>
          <p:cNvSpPr/>
          <p:nvPr/>
        </p:nvSpPr>
        <p:spPr>
          <a:xfrm>
            <a:off x="365760" y="3739896"/>
            <a:ext cx="2651760" cy="43891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Rationale unavailable without prior chunk context</a:t>
            </a:r>
            <a:endParaRPr lang="en-US" sz="1000" dirty="0"/>
          </a:p>
        </p:txBody>
      </p:sp>
      <p:sp>
        <p:nvSpPr>
          <p:cNvPr id="22" name="Shape 20"/>
          <p:cNvSpPr/>
          <p:nvPr/>
        </p:nvSpPr>
        <p:spPr>
          <a:xfrm>
            <a:off x="3246120" y="676656"/>
            <a:ext cx="2834640" cy="310896"/>
          </a:xfrm>
          <a:prstGeom prst="rect">
            <a:avLst/>
          </a:prstGeom>
          <a:solidFill>
            <a:srgbClr val="1F5C99"/>
          </a:solidFill>
          <a:ln/>
        </p:spPr>
        <p:txBody>
          <a:bodyPr/>
          <a:lstStyle/>
          <a:p>
            <a:endParaRPr lang="en-IN"/>
          </a:p>
        </p:txBody>
      </p:sp>
      <p:sp>
        <p:nvSpPr>
          <p:cNvPr id="23" name="Text 21"/>
          <p:cNvSpPr/>
          <p:nvPr/>
        </p:nvSpPr>
        <p:spPr>
          <a:xfrm>
            <a:off x="3246120" y="676656"/>
            <a:ext cx="2834640" cy="31089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Method 1</a:t>
            </a:r>
            <a:endParaRPr lang="en-US" sz="1300" dirty="0"/>
          </a:p>
        </p:txBody>
      </p:sp>
      <p:sp>
        <p:nvSpPr>
          <p:cNvPr id="24" name="Shape 22"/>
          <p:cNvSpPr/>
          <p:nvPr/>
        </p:nvSpPr>
        <p:spPr>
          <a:xfrm>
            <a:off x="3246120" y="1060704"/>
            <a:ext cx="2834640" cy="274320"/>
          </a:xfrm>
          <a:prstGeom prst="rect">
            <a:avLst/>
          </a:prstGeom>
          <a:solidFill>
            <a:srgbClr val="1F5C99"/>
          </a:solidFill>
          <a:ln/>
        </p:spPr>
        <p:txBody>
          <a:bodyPr/>
          <a:lstStyle/>
          <a:p>
            <a:endParaRPr lang="en-IN"/>
          </a:p>
        </p:txBody>
      </p:sp>
      <p:sp>
        <p:nvSpPr>
          <p:cNvPr id="25" name="Text 23"/>
          <p:cNvSpPr/>
          <p:nvPr/>
        </p:nvSpPr>
        <p:spPr>
          <a:xfrm>
            <a:off x="3319272" y="1060704"/>
            <a:ext cx="2688336" cy="27432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Compression</a:t>
            </a:r>
            <a:endParaRPr lang="en-US" sz="1050" dirty="0"/>
          </a:p>
        </p:txBody>
      </p:sp>
      <p:sp>
        <p:nvSpPr>
          <p:cNvPr id="26" name="Shape 24"/>
          <p:cNvSpPr/>
          <p:nvPr/>
        </p:nvSpPr>
        <p:spPr>
          <a:xfrm>
            <a:off x="3246120" y="1335024"/>
            <a:ext cx="2834640" cy="475488"/>
          </a:xfrm>
          <a:prstGeom prst="rect">
            <a:avLst/>
          </a:prstGeom>
          <a:solidFill>
            <a:srgbClr val="F2F2F2"/>
          </a:solidFill>
          <a:ln w="6350">
            <a:solidFill>
              <a:srgbClr val="CCCCCC"/>
            </a:solidFill>
            <a:prstDash val="solid"/>
          </a:ln>
        </p:spPr>
        <p:txBody>
          <a:bodyPr/>
          <a:lstStyle/>
          <a:p>
            <a:endParaRPr lang="en-IN"/>
          </a:p>
        </p:txBody>
      </p:sp>
      <p:sp>
        <p:nvSpPr>
          <p:cNvPr id="27" name="Text 25"/>
          <p:cNvSpPr/>
          <p:nvPr/>
        </p:nvSpPr>
        <p:spPr>
          <a:xfrm>
            <a:off x="3337560" y="1353312"/>
            <a:ext cx="2651760" cy="43891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Memory cap (150w) drops early speaker-specific details</a:t>
            </a:r>
            <a:endParaRPr lang="en-US" sz="1000" dirty="0"/>
          </a:p>
        </p:txBody>
      </p:sp>
      <p:sp>
        <p:nvSpPr>
          <p:cNvPr id="28" name="Shape 26"/>
          <p:cNvSpPr/>
          <p:nvPr/>
        </p:nvSpPr>
        <p:spPr>
          <a:xfrm>
            <a:off x="3246120" y="1856232"/>
            <a:ext cx="2834640" cy="274320"/>
          </a:xfrm>
          <a:prstGeom prst="rect">
            <a:avLst/>
          </a:prstGeom>
          <a:solidFill>
            <a:srgbClr val="1F5C99"/>
          </a:solidFill>
          <a:ln/>
        </p:spPr>
        <p:txBody>
          <a:bodyPr/>
          <a:lstStyle/>
          <a:p>
            <a:endParaRPr lang="en-IN"/>
          </a:p>
        </p:txBody>
      </p:sp>
      <p:sp>
        <p:nvSpPr>
          <p:cNvPr id="29" name="Text 27"/>
          <p:cNvSpPr/>
          <p:nvPr/>
        </p:nvSpPr>
        <p:spPr>
          <a:xfrm>
            <a:off x="3319272" y="1856232"/>
            <a:ext cx="2688336" cy="27432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Snowball Error</a:t>
            </a:r>
            <a:endParaRPr lang="en-US" sz="1050" dirty="0"/>
          </a:p>
        </p:txBody>
      </p:sp>
      <p:sp>
        <p:nvSpPr>
          <p:cNvPr id="30" name="Shape 28"/>
          <p:cNvSpPr/>
          <p:nvPr/>
        </p:nvSpPr>
        <p:spPr>
          <a:xfrm>
            <a:off x="3246120" y="2130552"/>
            <a:ext cx="2834640" cy="475488"/>
          </a:xfrm>
          <a:prstGeom prst="rect">
            <a:avLst/>
          </a:prstGeom>
          <a:solidFill>
            <a:srgbClr val="F2F2F2"/>
          </a:solidFill>
          <a:ln w="6350">
            <a:solidFill>
              <a:srgbClr val="CCCCCC"/>
            </a:solidFill>
            <a:prstDash val="solid"/>
          </a:ln>
        </p:spPr>
        <p:txBody>
          <a:bodyPr/>
          <a:lstStyle/>
          <a:p>
            <a:endParaRPr lang="en-IN"/>
          </a:p>
        </p:txBody>
      </p:sp>
      <p:sp>
        <p:nvSpPr>
          <p:cNvPr id="31" name="Text 29"/>
          <p:cNvSpPr/>
          <p:nvPr/>
        </p:nvSpPr>
        <p:spPr>
          <a:xfrm>
            <a:off x="3337560" y="2148840"/>
            <a:ext cx="2651760" cy="43891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Early mis-summarization propagates through all steps</a:t>
            </a:r>
            <a:endParaRPr lang="en-US" sz="1000" dirty="0"/>
          </a:p>
        </p:txBody>
      </p:sp>
      <p:sp>
        <p:nvSpPr>
          <p:cNvPr id="32" name="Shape 30"/>
          <p:cNvSpPr/>
          <p:nvPr/>
        </p:nvSpPr>
        <p:spPr>
          <a:xfrm>
            <a:off x="3246120" y="2651760"/>
            <a:ext cx="2834640" cy="274320"/>
          </a:xfrm>
          <a:prstGeom prst="rect">
            <a:avLst/>
          </a:prstGeom>
          <a:solidFill>
            <a:srgbClr val="1F5C99"/>
          </a:solidFill>
          <a:ln/>
        </p:spPr>
        <p:txBody>
          <a:bodyPr/>
          <a:lstStyle/>
          <a:p>
            <a:endParaRPr lang="en-IN"/>
          </a:p>
        </p:txBody>
      </p:sp>
      <p:sp>
        <p:nvSpPr>
          <p:cNvPr id="33" name="Text 31"/>
          <p:cNvSpPr/>
          <p:nvPr/>
        </p:nvSpPr>
        <p:spPr>
          <a:xfrm>
            <a:off x="3319272" y="2651760"/>
            <a:ext cx="2688336" cy="27432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Generic Drift</a:t>
            </a:r>
            <a:endParaRPr lang="en-US" sz="1050" dirty="0"/>
          </a:p>
        </p:txBody>
      </p:sp>
      <p:sp>
        <p:nvSpPr>
          <p:cNvPr id="34" name="Shape 32"/>
          <p:cNvSpPr/>
          <p:nvPr/>
        </p:nvSpPr>
        <p:spPr>
          <a:xfrm>
            <a:off x="3246120" y="2926080"/>
            <a:ext cx="2834640" cy="475488"/>
          </a:xfrm>
          <a:prstGeom prst="rect">
            <a:avLst/>
          </a:prstGeom>
          <a:solidFill>
            <a:srgbClr val="F2F2F2"/>
          </a:solidFill>
          <a:ln w="6350">
            <a:solidFill>
              <a:srgbClr val="CCCCCC"/>
            </a:solidFill>
            <a:prstDash val="solid"/>
          </a:ln>
        </p:spPr>
        <p:txBody>
          <a:bodyPr/>
          <a:lstStyle/>
          <a:p>
            <a:endParaRPr lang="en-IN"/>
          </a:p>
        </p:txBody>
      </p:sp>
      <p:sp>
        <p:nvSpPr>
          <p:cNvPr id="35" name="Text 33"/>
          <p:cNvSpPr/>
          <p:nvPr/>
        </p:nvSpPr>
        <p:spPr>
          <a:xfrm>
            <a:off x="3337560" y="2944368"/>
            <a:ext cx="2651760" cy="43891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Output converges to vague language over updates</a:t>
            </a:r>
            <a:endParaRPr lang="en-US" sz="1000" dirty="0"/>
          </a:p>
        </p:txBody>
      </p:sp>
      <p:sp>
        <p:nvSpPr>
          <p:cNvPr id="36" name="Shape 34"/>
          <p:cNvSpPr/>
          <p:nvPr/>
        </p:nvSpPr>
        <p:spPr>
          <a:xfrm>
            <a:off x="3246120" y="3447288"/>
            <a:ext cx="2834640" cy="274320"/>
          </a:xfrm>
          <a:prstGeom prst="rect">
            <a:avLst/>
          </a:prstGeom>
          <a:solidFill>
            <a:srgbClr val="1F5C99"/>
          </a:solidFill>
          <a:ln/>
        </p:spPr>
        <p:txBody>
          <a:bodyPr/>
          <a:lstStyle/>
          <a:p>
            <a:endParaRPr lang="en-IN"/>
          </a:p>
        </p:txBody>
      </p:sp>
      <p:sp>
        <p:nvSpPr>
          <p:cNvPr id="37" name="Text 35"/>
          <p:cNvSpPr/>
          <p:nvPr/>
        </p:nvSpPr>
        <p:spPr>
          <a:xfrm>
            <a:off x="3319272" y="3447288"/>
            <a:ext cx="2688336" cy="27432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Speaker Dilute</a:t>
            </a:r>
            <a:endParaRPr lang="en-US" sz="1050" dirty="0"/>
          </a:p>
        </p:txBody>
      </p:sp>
      <p:sp>
        <p:nvSpPr>
          <p:cNvPr id="38" name="Shape 36"/>
          <p:cNvSpPr/>
          <p:nvPr/>
        </p:nvSpPr>
        <p:spPr>
          <a:xfrm>
            <a:off x="3246120" y="3721608"/>
            <a:ext cx="2834640" cy="475488"/>
          </a:xfrm>
          <a:prstGeom prst="rect">
            <a:avLst/>
          </a:prstGeom>
          <a:solidFill>
            <a:srgbClr val="F2F2F2"/>
          </a:solidFill>
          <a:ln w="6350">
            <a:solidFill>
              <a:srgbClr val="CCCCCC"/>
            </a:solidFill>
            <a:prstDash val="solid"/>
          </a:ln>
        </p:spPr>
        <p:txBody>
          <a:bodyPr/>
          <a:lstStyle/>
          <a:p>
            <a:endParaRPr lang="en-IN"/>
          </a:p>
        </p:txBody>
      </p:sp>
      <p:sp>
        <p:nvSpPr>
          <p:cNvPr id="39" name="Text 37"/>
          <p:cNvSpPr/>
          <p:nvPr/>
        </p:nvSpPr>
        <p:spPr>
          <a:xfrm>
            <a:off x="3337560" y="3739896"/>
            <a:ext cx="2651760" cy="43891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Attributions dissolved in memory compression</a:t>
            </a:r>
            <a:endParaRPr lang="en-US" sz="1000" dirty="0"/>
          </a:p>
        </p:txBody>
      </p:sp>
      <p:sp>
        <p:nvSpPr>
          <p:cNvPr id="40" name="Shape 38"/>
          <p:cNvSpPr/>
          <p:nvPr/>
        </p:nvSpPr>
        <p:spPr>
          <a:xfrm>
            <a:off x="6217920" y="676656"/>
            <a:ext cx="2834640" cy="310896"/>
          </a:xfrm>
          <a:prstGeom prst="rect">
            <a:avLst/>
          </a:prstGeom>
          <a:solidFill>
            <a:srgbClr val="1A7A5E"/>
          </a:solidFill>
          <a:ln/>
        </p:spPr>
        <p:txBody>
          <a:bodyPr/>
          <a:lstStyle/>
          <a:p>
            <a:endParaRPr lang="en-IN"/>
          </a:p>
        </p:txBody>
      </p:sp>
      <p:sp>
        <p:nvSpPr>
          <p:cNvPr id="41" name="Text 39"/>
          <p:cNvSpPr/>
          <p:nvPr/>
        </p:nvSpPr>
        <p:spPr>
          <a:xfrm>
            <a:off x="6217920" y="676656"/>
            <a:ext cx="2834640" cy="31089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Method 2</a:t>
            </a:r>
            <a:endParaRPr lang="en-US" sz="1300" dirty="0"/>
          </a:p>
        </p:txBody>
      </p:sp>
      <p:sp>
        <p:nvSpPr>
          <p:cNvPr id="42" name="Shape 40"/>
          <p:cNvSpPr/>
          <p:nvPr/>
        </p:nvSpPr>
        <p:spPr>
          <a:xfrm>
            <a:off x="6217920" y="1060704"/>
            <a:ext cx="2834640" cy="274320"/>
          </a:xfrm>
          <a:prstGeom prst="rect">
            <a:avLst/>
          </a:prstGeom>
          <a:solidFill>
            <a:srgbClr val="1A7A5E"/>
          </a:solidFill>
          <a:ln/>
        </p:spPr>
        <p:txBody>
          <a:bodyPr/>
          <a:lstStyle/>
          <a:p>
            <a:endParaRPr lang="en-IN"/>
          </a:p>
        </p:txBody>
      </p:sp>
      <p:sp>
        <p:nvSpPr>
          <p:cNvPr id="43" name="Text 41"/>
          <p:cNvSpPr/>
          <p:nvPr/>
        </p:nvSpPr>
        <p:spPr>
          <a:xfrm>
            <a:off x="6291072" y="1060704"/>
            <a:ext cx="2688336" cy="27432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Prompt Sensitive</a:t>
            </a:r>
            <a:endParaRPr lang="en-US" sz="1050" dirty="0"/>
          </a:p>
        </p:txBody>
      </p:sp>
      <p:sp>
        <p:nvSpPr>
          <p:cNvPr id="44" name="Shape 42"/>
          <p:cNvSpPr/>
          <p:nvPr/>
        </p:nvSpPr>
        <p:spPr>
          <a:xfrm>
            <a:off x="6217920" y="1335024"/>
            <a:ext cx="2834640" cy="475488"/>
          </a:xfrm>
          <a:prstGeom prst="rect">
            <a:avLst/>
          </a:prstGeom>
          <a:solidFill>
            <a:srgbClr val="F2F2F2"/>
          </a:solidFill>
          <a:ln w="6350">
            <a:solidFill>
              <a:srgbClr val="CCCCCC"/>
            </a:solidFill>
            <a:prstDash val="solid"/>
          </a:ln>
        </p:spPr>
        <p:txBody>
          <a:bodyPr/>
          <a:lstStyle/>
          <a:p>
            <a:endParaRPr lang="en-IN"/>
          </a:p>
        </p:txBody>
      </p:sp>
      <p:sp>
        <p:nvSpPr>
          <p:cNvPr id="45" name="Text 43"/>
          <p:cNvSpPr/>
          <p:nvPr/>
        </p:nvSpPr>
        <p:spPr>
          <a:xfrm>
            <a:off x="6309360" y="1353312"/>
            <a:ext cx="2651760" cy="43891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Quality varies with minor prompt wording changes</a:t>
            </a:r>
            <a:endParaRPr lang="en-US" sz="1000" dirty="0"/>
          </a:p>
        </p:txBody>
      </p:sp>
      <p:sp>
        <p:nvSpPr>
          <p:cNvPr id="46" name="Shape 44"/>
          <p:cNvSpPr/>
          <p:nvPr/>
        </p:nvSpPr>
        <p:spPr>
          <a:xfrm>
            <a:off x="6217920" y="1856232"/>
            <a:ext cx="2834640" cy="274320"/>
          </a:xfrm>
          <a:prstGeom prst="rect">
            <a:avLst/>
          </a:prstGeom>
          <a:solidFill>
            <a:srgbClr val="1A7A5E"/>
          </a:solidFill>
          <a:ln/>
        </p:spPr>
        <p:txBody>
          <a:bodyPr/>
          <a:lstStyle/>
          <a:p>
            <a:endParaRPr lang="en-IN"/>
          </a:p>
        </p:txBody>
      </p:sp>
      <p:sp>
        <p:nvSpPr>
          <p:cNvPr id="47" name="Text 45"/>
          <p:cNvSpPr/>
          <p:nvPr/>
        </p:nvSpPr>
        <p:spPr>
          <a:xfrm>
            <a:off x="6291072" y="1856232"/>
            <a:ext cx="2688336" cy="27432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Fact Leakage</a:t>
            </a:r>
            <a:endParaRPr lang="en-US" sz="1050" dirty="0"/>
          </a:p>
        </p:txBody>
      </p:sp>
      <p:sp>
        <p:nvSpPr>
          <p:cNvPr id="48" name="Shape 46"/>
          <p:cNvSpPr/>
          <p:nvPr/>
        </p:nvSpPr>
        <p:spPr>
          <a:xfrm>
            <a:off x="6217920" y="2130552"/>
            <a:ext cx="2834640" cy="475488"/>
          </a:xfrm>
          <a:prstGeom prst="rect">
            <a:avLst/>
          </a:prstGeom>
          <a:solidFill>
            <a:srgbClr val="F2F2F2"/>
          </a:solidFill>
          <a:ln w="6350">
            <a:solidFill>
              <a:srgbClr val="CCCCCC"/>
            </a:solidFill>
            <a:prstDash val="solid"/>
          </a:ln>
        </p:spPr>
        <p:txBody>
          <a:bodyPr/>
          <a:lstStyle/>
          <a:p>
            <a:endParaRPr lang="en-IN"/>
          </a:p>
        </p:txBody>
      </p:sp>
      <p:sp>
        <p:nvSpPr>
          <p:cNvPr id="49" name="Text 47"/>
          <p:cNvSpPr/>
          <p:nvPr/>
        </p:nvSpPr>
        <p:spPr>
          <a:xfrm>
            <a:off x="6309360" y="2148840"/>
            <a:ext cx="2651760" cy="43891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Step-1 occasionally imports cross-persona facts</a:t>
            </a:r>
            <a:endParaRPr lang="en-US" sz="1000" dirty="0"/>
          </a:p>
        </p:txBody>
      </p:sp>
      <p:sp>
        <p:nvSpPr>
          <p:cNvPr id="50" name="Shape 48"/>
          <p:cNvSpPr/>
          <p:nvPr/>
        </p:nvSpPr>
        <p:spPr>
          <a:xfrm>
            <a:off x="6217920" y="2651760"/>
            <a:ext cx="2834640" cy="274320"/>
          </a:xfrm>
          <a:prstGeom prst="rect">
            <a:avLst/>
          </a:prstGeom>
          <a:solidFill>
            <a:srgbClr val="1A7A5E"/>
          </a:solidFill>
          <a:ln/>
        </p:spPr>
        <p:txBody>
          <a:bodyPr/>
          <a:lstStyle/>
          <a:p>
            <a:endParaRPr lang="en-IN"/>
          </a:p>
        </p:txBody>
      </p:sp>
      <p:sp>
        <p:nvSpPr>
          <p:cNvPr id="51" name="Text 49"/>
          <p:cNvSpPr/>
          <p:nvPr/>
        </p:nvSpPr>
        <p:spPr>
          <a:xfrm>
            <a:off x="6291072" y="2651760"/>
            <a:ext cx="2688336" cy="27432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KW Anchoring</a:t>
            </a:r>
            <a:endParaRPr lang="en-US" sz="1050" dirty="0"/>
          </a:p>
        </p:txBody>
      </p:sp>
      <p:sp>
        <p:nvSpPr>
          <p:cNvPr id="52" name="Shape 50"/>
          <p:cNvSpPr/>
          <p:nvPr/>
        </p:nvSpPr>
        <p:spPr>
          <a:xfrm>
            <a:off x="6217920" y="2926080"/>
            <a:ext cx="2834640" cy="475488"/>
          </a:xfrm>
          <a:prstGeom prst="rect">
            <a:avLst/>
          </a:prstGeom>
          <a:solidFill>
            <a:srgbClr val="F2F2F2"/>
          </a:solidFill>
          <a:ln w="6350">
            <a:solidFill>
              <a:srgbClr val="CCCCCC"/>
            </a:solidFill>
            <a:prstDash val="solid"/>
          </a:ln>
        </p:spPr>
        <p:txBody>
          <a:bodyPr/>
          <a:lstStyle/>
          <a:p>
            <a:endParaRPr lang="en-IN"/>
          </a:p>
        </p:txBody>
      </p:sp>
      <p:sp>
        <p:nvSpPr>
          <p:cNvPr id="53" name="Text 51"/>
          <p:cNvSpPr/>
          <p:nvPr/>
        </p:nvSpPr>
        <p:spPr>
          <a:xfrm>
            <a:off x="6309360" y="2944368"/>
            <a:ext cx="2651760" cy="43891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Model anchors on persona keywords even if ungrounded</a:t>
            </a:r>
            <a:endParaRPr lang="en-US" sz="1000" dirty="0"/>
          </a:p>
        </p:txBody>
      </p:sp>
      <p:sp>
        <p:nvSpPr>
          <p:cNvPr id="54" name="Shape 52"/>
          <p:cNvSpPr/>
          <p:nvPr/>
        </p:nvSpPr>
        <p:spPr>
          <a:xfrm>
            <a:off x="6217920" y="3447288"/>
            <a:ext cx="2834640" cy="274320"/>
          </a:xfrm>
          <a:prstGeom prst="rect">
            <a:avLst/>
          </a:prstGeom>
          <a:solidFill>
            <a:srgbClr val="1A7A5E"/>
          </a:solidFill>
          <a:ln/>
        </p:spPr>
        <p:txBody>
          <a:bodyPr/>
          <a:lstStyle/>
          <a:p>
            <a:endParaRPr lang="en-IN"/>
          </a:p>
        </p:txBody>
      </p:sp>
      <p:sp>
        <p:nvSpPr>
          <p:cNvPr id="55" name="Text 53"/>
          <p:cNvSpPr/>
          <p:nvPr/>
        </p:nvSpPr>
        <p:spPr>
          <a:xfrm>
            <a:off x="6291072" y="3447288"/>
            <a:ext cx="2688336" cy="27432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Brevity Trade-off</a:t>
            </a:r>
            <a:endParaRPr lang="en-US" sz="1050" dirty="0"/>
          </a:p>
        </p:txBody>
      </p:sp>
      <p:sp>
        <p:nvSpPr>
          <p:cNvPr id="56" name="Shape 54"/>
          <p:cNvSpPr/>
          <p:nvPr/>
        </p:nvSpPr>
        <p:spPr>
          <a:xfrm>
            <a:off x="6217920" y="3721608"/>
            <a:ext cx="2834640" cy="475488"/>
          </a:xfrm>
          <a:prstGeom prst="rect">
            <a:avLst/>
          </a:prstGeom>
          <a:solidFill>
            <a:srgbClr val="F2F2F2"/>
          </a:solidFill>
          <a:ln w="6350">
            <a:solidFill>
              <a:srgbClr val="CCCCCC"/>
            </a:solidFill>
            <a:prstDash val="solid"/>
          </a:ln>
        </p:spPr>
        <p:txBody>
          <a:bodyPr/>
          <a:lstStyle/>
          <a:p>
            <a:endParaRPr lang="en-IN"/>
          </a:p>
        </p:txBody>
      </p:sp>
      <p:sp>
        <p:nvSpPr>
          <p:cNvPr id="57" name="Text 55"/>
          <p:cNvSpPr/>
          <p:nvPr/>
        </p:nvSpPr>
        <p:spPr>
          <a:xfrm>
            <a:off x="6309360" y="3739896"/>
            <a:ext cx="2651760" cy="43891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Role-focus omits cross-cutting decisions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0040" y="82296"/>
            <a:ext cx="8503920" cy="475488"/>
          </a:xfrm>
          <a:prstGeom prst="rect">
            <a:avLst/>
          </a:prstGeom>
          <a:noFill/>
          <a:ln/>
        </p:spPr>
        <p:txBody>
          <a:bodyPr wrap="square" rtlCol="0" anchor="ctr"/>
          <a:lstStyle/>
          <a:p>
            <a:pPr marL="0" indent="0">
              <a:buNone/>
            </a:pPr>
            <a:r>
              <a:rPr lang="en-US" sz="2200" b="1" dirty="0">
                <a:solidFill>
                  <a:srgbClr val="000000"/>
                </a:solidFill>
                <a:latin typeface="Calibri" pitchFamily="34" charset="0"/>
                <a:ea typeface="Calibri" pitchFamily="34" charset="-122"/>
                <a:cs typeface="Calibri" pitchFamily="34" charset="-120"/>
              </a:rPr>
              <a:t>Qualitative Comparison — ES2002a, DistilBART, All Methods</a:t>
            </a:r>
            <a:endParaRPr lang="en-US" sz="2200" dirty="0"/>
          </a:p>
        </p:txBody>
      </p:sp>
      <p:sp>
        <p:nvSpPr>
          <p:cNvPr id="3" name="Text 1"/>
          <p:cNvSpPr/>
          <p:nvPr/>
        </p:nvSpPr>
        <p:spPr>
          <a:xfrm>
            <a:off x="137160" y="4864608"/>
            <a:ext cx="320040" cy="182880"/>
          </a:xfrm>
          <a:prstGeom prst="rect">
            <a:avLst/>
          </a:prstGeom>
          <a:noFill/>
          <a:ln/>
        </p:spPr>
        <p:txBody>
          <a:bodyPr wrap="square" rtlCol="0" anchor="ctr"/>
          <a:lstStyle/>
          <a:p>
            <a:pPr marL="0" indent="0">
              <a:buNone/>
            </a:pPr>
            <a:r>
              <a:rPr lang="en-US" sz="1000" dirty="0">
                <a:solidFill>
                  <a:srgbClr val="666666"/>
                </a:solidFill>
                <a:latin typeface="Calibri" pitchFamily="34" charset="0"/>
                <a:ea typeface="Calibri" pitchFamily="34" charset="-122"/>
                <a:cs typeface="Calibri" pitchFamily="34" charset="-120"/>
              </a:rPr>
              <a:t>11</a:t>
            </a:r>
            <a:endParaRPr lang="en-US" sz="1000" dirty="0"/>
          </a:p>
        </p:txBody>
      </p:sp>
      <p:sp>
        <p:nvSpPr>
          <p:cNvPr id="4" name="Shape 2"/>
          <p:cNvSpPr/>
          <p:nvPr/>
        </p:nvSpPr>
        <p:spPr>
          <a:xfrm>
            <a:off x="274320" y="676656"/>
            <a:ext cx="2834640" cy="310896"/>
          </a:xfrm>
          <a:prstGeom prst="rect">
            <a:avLst/>
          </a:prstGeom>
          <a:solidFill>
            <a:srgbClr val="777777"/>
          </a:solidFill>
          <a:ln/>
        </p:spPr>
        <p:txBody>
          <a:bodyPr/>
          <a:lstStyle/>
          <a:p>
            <a:endParaRPr lang="en-IN"/>
          </a:p>
        </p:txBody>
      </p:sp>
      <p:sp>
        <p:nvSpPr>
          <p:cNvPr id="5" name="Text 3"/>
          <p:cNvSpPr/>
          <p:nvPr/>
        </p:nvSpPr>
        <p:spPr>
          <a:xfrm>
            <a:off x="274320" y="676656"/>
            <a:ext cx="2834640"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Baseline (Chunk 2)</a:t>
            </a:r>
            <a:endParaRPr lang="en-US" sz="1100" dirty="0"/>
          </a:p>
        </p:txBody>
      </p:sp>
      <p:sp>
        <p:nvSpPr>
          <p:cNvPr id="6" name="Shape 4"/>
          <p:cNvSpPr/>
          <p:nvPr/>
        </p:nvSpPr>
        <p:spPr>
          <a:xfrm>
            <a:off x="274320" y="987552"/>
            <a:ext cx="2834640" cy="1920240"/>
          </a:xfrm>
          <a:prstGeom prst="rect">
            <a:avLst/>
          </a:prstGeom>
          <a:solidFill>
            <a:srgbClr val="F2F2F2"/>
          </a:solidFill>
          <a:ln w="6350">
            <a:solidFill>
              <a:srgbClr val="CCCCCC"/>
            </a:solidFill>
            <a:prstDash val="solid"/>
          </a:ln>
        </p:spPr>
        <p:txBody>
          <a:bodyPr/>
          <a:lstStyle/>
          <a:p>
            <a:endParaRPr lang="en-IN"/>
          </a:p>
        </p:txBody>
      </p:sp>
      <p:sp>
        <p:nvSpPr>
          <p:cNvPr id="7" name="Text 5"/>
          <p:cNvSpPr/>
          <p:nvPr/>
        </p:nvSpPr>
        <p:spPr>
          <a:xfrm>
            <a:off x="365760" y="1024128"/>
            <a:ext cx="2651760" cy="1828800"/>
          </a:xfrm>
          <a:prstGeom prst="rect">
            <a:avLst/>
          </a:prstGeom>
          <a:noFill/>
          <a:ln/>
        </p:spPr>
        <p:txBody>
          <a:bodyPr wrap="square" rtlCol="0" anchor="t"/>
          <a:lstStyle/>
          <a:p>
            <a:pPr marL="0" indent="0">
              <a:buNone/>
            </a:pPr>
            <a:r>
              <a:rPr lang="en-US" sz="1100" i="1" dirty="0">
                <a:solidFill>
                  <a:srgbClr val="333333"/>
                </a:solidFill>
                <a:latin typeface="Calibri" pitchFamily="34" charset="0"/>
                <a:ea typeface="Calibri" pitchFamily="34" charset="-122"/>
                <a:cs typeface="Calibri" pitchFamily="34" charset="-120"/>
              </a:rPr>
              <a:t>"Engineer A fixes the database bottleneck, Engineer B supports testing and prepares code review for Friday, Stakeholder emails the client. OAuth2 or custom JWT?"</a:t>
            </a:r>
            <a:endParaRPr lang="en-US" sz="1100" dirty="0"/>
          </a:p>
        </p:txBody>
      </p:sp>
      <p:sp>
        <p:nvSpPr>
          <p:cNvPr id="8" name="Shape 6"/>
          <p:cNvSpPr/>
          <p:nvPr/>
        </p:nvSpPr>
        <p:spPr>
          <a:xfrm>
            <a:off x="274320" y="2944368"/>
            <a:ext cx="2834640" cy="914400"/>
          </a:xfrm>
          <a:prstGeom prst="rect">
            <a:avLst/>
          </a:prstGeom>
          <a:solidFill>
            <a:srgbClr val="FFF0F0"/>
          </a:solidFill>
          <a:ln w="6350">
            <a:solidFill>
              <a:srgbClr val="CCCCCC"/>
            </a:solidFill>
            <a:prstDash val="solid"/>
          </a:ln>
        </p:spPr>
        <p:txBody>
          <a:bodyPr/>
          <a:lstStyle/>
          <a:p>
            <a:endParaRPr lang="en-IN"/>
          </a:p>
        </p:txBody>
      </p:sp>
      <p:sp>
        <p:nvSpPr>
          <p:cNvPr id="9" name="Text 7"/>
          <p:cNvSpPr/>
          <p:nvPr/>
        </p:nvSpPr>
        <p:spPr>
          <a:xfrm>
            <a:off x="365760" y="2980944"/>
            <a:ext cx="2651760" cy="841248"/>
          </a:xfrm>
          <a:prstGeom prst="rect">
            <a:avLst/>
          </a:prstGeom>
          <a:noFill/>
          <a:ln/>
        </p:spPr>
        <p:txBody>
          <a:bodyPr wrap="square" rtlCol="0" anchor="t"/>
          <a:lstStyle/>
          <a:p>
            <a:pPr marL="0" indent="0">
              <a:buNone/>
            </a:pPr>
            <a:r>
              <a:rPr lang="en-US" sz="1500" b="1" dirty="0">
                <a:solidFill>
                  <a:srgbClr val="CC0000"/>
                </a:solidFill>
                <a:latin typeface="Calibri" pitchFamily="34" charset="0"/>
                <a:ea typeface="Calibri" pitchFamily="34" charset="-122"/>
                <a:cs typeface="Calibri" pitchFamily="34" charset="-120"/>
              </a:rPr>
              <a:t>✗  </a:t>
            </a:r>
            <a:r>
              <a:rPr lang="en-US" sz="1050" dirty="0">
                <a:solidFill>
                  <a:srgbClr val="333333"/>
                </a:solidFill>
                <a:latin typeface="Calibri" pitchFamily="34" charset="0"/>
                <a:ea typeface="Calibri" pitchFamily="34" charset="-122"/>
                <a:cs typeface="Calibri" pitchFamily="34" charset="-120"/>
              </a:rPr>
              <a:t>Reads like a raw action list. No context of why decisions were made. Cross-chunk info entirely missing.</a:t>
            </a:r>
            <a:endParaRPr lang="en-US" sz="1500" dirty="0"/>
          </a:p>
        </p:txBody>
      </p:sp>
      <p:sp>
        <p:nvSpPr>
          <p:cNvPr id="10" name="Shape 8"/>
          <p:cNvSpPr/>
          <p:nvPr/>
        </p:nvSpPr>
        <p:spPr>
          <a:xfrm>
            <a:off x="3246120" y="676656"/>
            <a:ext cx="2834640" cy="310896"/>
          </a:xfrm>
          <a:prstGeom prst="rect">
            <a:avLst/>
          </a:prstGeom>
          <a:solidFill>
            <a:srgbClr val="1F5C99"/>
          </a:solidFill>
          <a:ln/>
        </p:spPr>
        <p:txBody>
          <a:bodyPr/>
          <a:lstStyle/>
          <a:p>
            <a:endParaRPr lang="en-IN"/>
          </a:p>
        </p:txBody>
      </p:sp>
      <p:sp>
        <p:nvSpPr>
          <p:cNvPr id="11" name="Text 9"/>
          <p:cNvSpPr/>
          <p:nvPr/>
        </p:nvSpPr>
        <p:spPr>
          <a:xfrm>
            <a:off x="3246120" y="676656"/>
            <a:ext cx="2834640"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Method 1 (Final)</a:t>
            </a:r>
            <a:endParaRPr lang="en-US" sz="1100" dirty="0"/>
          </a:p>
        </p:txBody>
      </p:sp>
      <p:sp>
        <p:nvSpPr>
          <p:cNvPr id="12" name="Shape 10"/>
          <p:cNvSpPr/>
          <p:nvPr/>
        </p:nvSpPr>
        <p:spPr>
          <a:xfrm>
            <a:off x="3246120" y="987552"/>
            <a:ext cx="2834640" cy="1920240"/>
          </a:xfrm>
          <a:prstGeom prst="rect">
            <a:avLst/>
          </a:prstGeom>
          <a:solidFill>
            <a:srgbClr val="F2F2F2"/>
          </a:solidFill>
          <a:ln w="6350">
            <a:solidFill>
              <a:srgbClr val="CCCCCC"/>
            </a:solidFill>
            <a:prstDash val="solid"/>
          </a:ln>
        </p:spPr>
        <p:txBody>
          <a:bodyPr/>
          <a:lstStyle/>
          <a:p>
            <a:endParaRPr lang="en-IN"/>
          </a:p>
        </p:txBody>
      </p:sp>
      <p:sp>
        <p:nvSpPr>
          <p:cNvPr id="13" name="Text 11"/>
          <p:cNvSpPr/>
          <p:nvPr/>
        </p:nvSpPr>
        <p:spPr>
          <a:xfrm>
            <a:off x="3337560" y="1024128"/>
            <a:ext cx="2651760" cy="1828800"/>
          </a:xfrm>
          <a:prstGeom prst="rect">
            <a:avLst/>
          </a:prstGeom>
          <a:noFill/>
          <a:ln/>
        </p:spPr>
        <p:txBody>
          <a:bodyPr wrap="square" rtlCol="0" anchor="t"/>
          <a:lstStyle/>
          <a:p>
            <a:pPr marL="0" indent="0">
              <a:buNone/>
            </a:pPr>
            <a:r>
              <a:rPr lang="en-US" sz="1100" i="1" dirty="0">
                <a:solidFill>
                  <a:srgbClr val="333333"/>
                </a:solidFill>
                <a:latin typeface="Calibri" pitchFamily="34" charset="0"/>
                <a:ea typeface="Calibri" pitchFamily="34" charset="-122"/>
                <a:cs typeface="Calibri" pitchFamily="34" charset="-120"/>
              </a:rPr>
              <a:t>"The security team is asking — OAuth2 or JWT? The client is waiting and they're getting impatient. It'll take about two weeks to fix properly."</a:t>
            </a:r>
            <a:endParaRPr lang="en-US" sz="1100" dirty="0"/>
          </a:p>
        </p:txBody>
      </p:sp>
      <p:sp>
        <p:nvSpPr>
          <p:cNvPr id="14" name="Shape 12"/>
          <p:cNvSpPr/>
          <p:nvPr/>
        </p:nvSpPr>
        <p:spPr>
          <a:xfrm>
            <a:off x="3246120" y="2944368"/>
            <a:ext cx="2834640" cy="914400"/>
          </a:xfrm>
          <a:prstGeom prst="rect">
            <a:avLst/>
          </a:prstGeom>
          <a:solidFill>
            <a:srgbClr val="FFFBEE"/>
          </a:solidFill>
          <a:ln w="6350">
            <a:solidFill>
              <a:srgbClr val="CCCCCC"/>
            </a:solidFill>
            <a:prstDash val="solid"/>
          </a:ln>
        </p:spPr>
        <p:txBody>
          <a:bodyPr/>
          <a:lstStyle/>
          <a:p>
            <a:endParaRPr lang="en-IN"/>
          </a:p>
        </p:txBody>
      </p:sp>
      <p:sp>
        <p:nvSpPr>
          <p:cNvPr id="15" name="Text 13"/>
          <p:cNvSpPr/>
          <p:nvPr/>
        </p:nvSpPr>
        <p:spPr>
          <a:xfrm>
            <a:off x="3337560" y="2980944"/>
            <a:ext cx="2651760" cy="841248"/>
          </a:xfrm>
          <a:prstGeom prst="rect">
            <a:avLst/>
          </a:prstGeom>
          <a:noFill/>
          <a:ln/>
        </p:spPr>
        <p:txBody>
          <a:bodyPr wrap="square" rtlCol="0" anchor="t"/>
          <a:lstStyle/>
          <a:p>
            <a:pPr marL="0" indent="0">
              <a:buNone/>
            </a:pPr>
            <a:r>
              <a:rPr lang="en-US" sz="1500" b="1" dirty="0">
                <a:solidFill>
                  <a:srgbClr val="B8860B"/>
                </a:solidFill>
                <a:latin typeface="Calibri" pitchFamily="34" charset="0"/>
                <a:ea typeface="Calibri" pitchFamily="34" charset="-122"/>
                <a:cs typeface="Calibri" pitchFamily="34" charset="-120"/>
              </a:rPr>
              <a:t>~  </a:t>
            </a:r>
            <a:r>
              <a:rPr lang="en-US" sz="1050" dirty="0">
                <a:solidFill>
                  <a:srgbClr val="333333"/>
                </a:solidFill>
                <a:latin typeface="Calibri" pitchFamily="34" charset="0"/>
                <a:ea typeface="Calibri" pitchFamily="34" charset="-122"/>
                <a:cs typeface="Calibri" pitchFamily="34" charset="-120"/>
              </a:rPr>
              <a:t>Single coherent narrative. All decisions connected. But generic — no role-specific focus at all.</a:t>
            </a:r>
            <a:endParaRPr lang="en-US" sz="1500" dirty="0"/>
          </a:p>
        </p:txBody>
      </p:sp>
      <p:sp>
        <p:nvSpPr>
          <p:cNvPr id="16" name="Shape 14"/>
          <p:cNvSpPr/>
          <p:nvPr/>
        </p:nvSpPr>
        <p:spPr>
          <a:xfrm>
            <a:off x="6217920" y="676656"/>
            <a:ext cx="2834640" cy="310896"/>
          </a:xfrm>
          <a:prstGeom prst="rect">
            <a:avLst/>
          </a:prstGeom>
          <a:solidFill>
            <a:srgbClr val="6B3A8C"/>
          </a:solidFill>
          <a:ln/>
        </p:spPr>
        <p:txBody>
          <a:bodyPr/>
          <a:lstStyle/>
          <a:p>
            <a:endParaRPr lang="en-IN"/>
          </a:p>
        </p:txBody>
      </p:sp>
      <p:sp>
        <p:nvSpPr>
          <p:cNvPr id="17" name="Text 15"/>
          <p:cNvSpPr/>
          <p:nvPr/>
        </p:nvSpPr>
        <p:spPr>
          <a:xfrm>
            <a:off x="6217920" y="676656"/>
            <a:ext cx="2834640"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M2 — Stakeholder</a:t>
            </a:r>
            <a:endParaRPr lang="en-US" sz="1100" dirty="0"/>
          </a:p>
        </p:txBody>
      </p:sp>
      <p:sp>
        <p:nvSpPr>
          <p:cNvPr id="18" name="Shape 16"/>
          <p:cNvSpPr/>
          <p:nvPr/>
        </p:nvSpPr>
        <p:spPr>
          <a:xfrm>
            <a:off x="6217920" y="987552"/>
            <a:ext cx="2834640" cy="1920240"/>
          </a:xfrm>
          <a:prstGeom prst="rect">
            <a:avLst/>
          </a:prstGeom>
          <a:solidFill>
            <a:srgbClr val="F2F2F2"/>
          </a:solidFill>
          <a:ln w="6350">
            <a:solidFill>
              <a:srgbClr val="CCCCCC"/>
            </a:solidFill>
            <a:prstDash val="solid"/>
          </a:ln>
        </p:spPr>
        <p:txBody>
          <a:bodyPr/>
          <a:lstStyle/>
          <a:p>
            <a:endParaRPr lang="en-IN"/>
          </a:p>
        </p:txBody>
      </p:sp>
      <p:sp>
        <p:nvSpPr>
          <p:cNvPr id="19" name="Text 17"/>
          <p:cNvSpPr/>
          <p:nvPr/>
        </p:nvSpPr>
        <p:spPr>
          <a:xfrm>
            <a:off x="6309360" y="1024128"/>
            <a:ext cx="2651760" cy="1828800"/>
          </a:xfrm>
          <a:prstGeom prst="rect">
            <a:avLst/>
          </a:prstGeom>
          <a:noFill/>
          <a:ln/>
        </p:spPr>
        <p:txBody>
          <a:bodyPr wrap="square" rtlCol="0" anchor="t"/>
          <a:lstStyle/>
          <a:p>
            <a:pPr marL="0" indent="0">
              <a:buNone/>
            </a:pPr>
            <a:r>
              <a:rPr lang="en-US" sz="1100" i="1" dirty="0">
                <a:solidFill>
                  <a:srgbClr val="333333"/>
                </a:solidFill>
                <a:latin typeface="Calibri" pitchFamily="34" charset="0"/>
                <a:ea typeface="Calibri" pitchFamily="34" charset="-122"/>
                <a:cs typeface="Calibri" pitchFamily="34" charset="-120"/>
              </a:rPr>
              <a:t>"A major bottleneck in the database layer will take about two weeks to fix. The client demo will be pushed back. If the fix goes smoothly, we may add the analytics dashboard."</a:t>
            </a:r>
            <a:endParaRPr lang="en-US" sz="1100" dirty="0"/>
          </a:p>
        </p:txBody>
      </p:sp>
      <p:sp>
        <p:nvSpPr>
          <p:cNvPr id="20" name="Shape 18"/>
          <p:cNvSpPr/>
          <p:nvPr/>
        </p:nvSpPr>
        <p:spPr>
          <a:xfrm>
            <a:off x="6217920" y="2944368"/>
            <a:ext cx="2834640" cy="914400"/>
          </a:xfrm>
          <a:prstGeom prst="rect">
            <a:avLst/>
          </a:prstGeom>
          <a:solidFill>
            <a:srgbClr val="F0FAF5"/>
          </a:solidFill>
          <a:ln w="6350">
            <a:solidFill>
              <a:srgbClr val="CCCCCC"/>
            </a:solidFill>
            <a:prstDash val="solid"/>
          </a:ln>
        </p:spPr>
        <p:txBody>
          <a:bodyPr/>
          <a:lstStyle/>
          <a:p>
            <a:endParaRPr lang="en-IN"/>
          </a:p>
        </p:txBody>
      </p:sp>
      <p:sp>
        <p:nvSpPr>
          <p:cNvPr id="21" name="Text 19"/>
          <p:cNvSpPr/>
          <p:nvPr/>
        </p:nvSpPr>
        <p:spPr>
          <a:xfrm>
            <a:off x="6309360" y="2980944"/>
            <a:ext cx="2651760" cy="841248"/>
          </a:xfrm>
          <a:prstGeom prst="rect">
            <a:avLst/>
          </a:prstGeom>
          <a:noFill/>
          <a:ln/>
        </p:spPr>
        <p:txBody>
          <a:bodyPr wrap="square" rtlCol="0" anchor="t"/>
          <a:lstStyle/>
          <a:p>
            <a:pPr marL="0" indent="0">
              <a:buNone/>
            </a:pPr>
            <a:r>
              <a:rPr lang="en-US" sz="1500" b="1" dirty="0">
                <a:solidFill>
                  <a:srgbClr val="1A7A5E"/>
                </a:solidFill>
                <a:latin typeface="Calibri" pitchFamily="34" charset="0"/>
                <a:ea typeface="Calibri" pitchFamily="34" charset="-122"/>
                <a:cs typeface="Calibri" pitchFamily="34" charset="-120"/>
              </a:rPr>
              <a:t>✓  </a:t>
            </a:r>
            <a:r>
              <a:rPr lang="en-US" sz="1050" dirty="0">
                <a:solidFill>
                  <a:srgbClr val="333333"/>
                </a:solidFill>
                <a:latin typeface="Calibri" pitchFamily="34" charset="0"/>
                <a:ea typeface="Calibri" pitchFamily="34" charset="-122"/>
                <a:cs typeface="Calibri" pitchFamily="34" charset="-120"/>
              </a:rPr>
              <a:t>Client-facing language. No technical jargon. Timeline impact front and centre. Genuinely distinct from M1.</a:t>
            </a:r>
            <a:endParaRPr lang="en-US" sz="1500" dirty="0"/>
          </a:p>
        </p:txBody>
      </p:sp>
      <p:sp>
        <p:nvSpPr>
          <p:cNvPr id="22" name="Shape 20"/>
          <p:cNvSpPr/>
          <p:nvPr/>
        </p:nvSpPr>
        <p:spPr>
          <a:xfrm>
            <a:off x="320040" y="3968496"/>
            <a:ext cx="8503920" cy="237744"/>
          </a:xfrm>
          <a:prstGeom prst="rect">
            <a:avLst/>
          </a:prstGeom>
          <a:solidFill>
            <a:srgbClr val="F5C300"/>
          </a:solidFill>
          <a:ln w="12700">
            <a:solidFill>
              <a:srgbClr val="F5C300"/>
            </a:solidFill>
            <a:prstDash val="solid"/>
          </a:ln>
        </p:spPr>
        <p:txBody>
          <a:bodyPr/>
          <a:lstStyle/>
          <a:p>
            <a:endParaRPr lang="en-IN"/>
          </a:p>
        </p:txBody>
      </p:sp>
      <p:sp>
        <p:nvSpPr>
          <p:cNvPr id="23" name="Text 21"/>
          <p:cNvSpPr/>
          <p:nvPr/>
        </p:nvSpPr>
        <p:spPr>
          <a:xfrm>
            <a:off x="320040" y="3968496"/>
            <a:ext cx="8503920" cy="237744"/>
          </a:xfrm>
          <a:prstGeom prst="rect">
            <a:avLst/>
          </a:prstGeom>
          <a:noFill/>
          <a:ln/>
        </p:spPr>
        <p:txBody>
          <a:bodyPr wrap="square" rtlCol="0" anchor="ctr"/>
          <a:lstStyle/>
          <a:p>
            <a:pPr marL="0" indent="0" algn="ctr">
              <a:buNone/>
            </a:pPr>
            <a:r>
              <a:rPr lang="en-US" sz="1050" b="1" dirty="0">
                <a:solidFill>
                  <a:srgbClr val="000000"/>
                </a:solidFill>
                <a:latin typeface="Calibri" pitchFamily="34" charset="0"/>
                <a:ea typeface="Calibri" pitchFamily="34" charset="-122"/>
                <a:cs typeface="Calibri" pitchFamily="34" charset="-120"/>
              </a:rPr>
              <a:t>Key takeaway: Method 2 persona summaries are role-filtered — confirming our research hypothesis affirmatively.</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0040" y="82296"/>
            <a:ext cx="8503920" cy="475488"/>
          </a:xfrm>
          <a:prstGeom prst="rect">
            <a:avLst/>
          </a:prstGeom>
          <a:noFill/>
          <a:ln/>
        </p:spPr>
        <p:txBody>
          <a:bodyPr wrap="square" rtlCol="0" anchor="ctr"/>
          <a:lstStyle/>
          <a:p>
            <a:pPr marL="0" indent="0">
              <a:buNone/>
            </a:pPr>
            <a:r>
              <a:rPr lang="en-US" sz="2200" b="1" dirty="0">
                <a:solidFill>
                  <a:srgbClr val="000000"/>
                </a:solidFill>
                <a:latin typeface="Calibri" pitchFamily="34" charset="0"/>
                <a:ea typeface="Calibri" pitchFamily="34" charset="-122"/>
                <a:cs typeface="Calibri" pitchFamily="34" charset="-120"/>
              </a:rPr>
              <a:t>Discussion, Limitations &amp; Future Work</a:t>
            </a:r>
            <a:endParaRPr lang="en-US" sz="2200" dirty="0"/>
          </a:p>
        </p:txBody>
      </p:sp>
      <p:sp>
        <p:nvSpPr>
          <p:cNvPr id="3" name="Text 1"/>
          <p:cNvSpPr/>
          <p:nvPr/>
        </p:nvSpPr>
        <p:spPr>
          <a:xfrm>
            <a:off x="137160" y="4864608"/>
            <a:ext cx="320040" cy="182880"/>
          </a:xfrm>
          <a:prstGeom prst="rect">
            <a:avLst/>
          </a:prstGeom>
          <a:noFill/>
          <a:ln/>
        </p:spPr>
        <p:txBody>
          <a:bodyPr wrap="square" rtlCol="0" anchor="ctr"/>
          <a:lstStyle/>
          <a:p>
            <a:pPr marL="0" indent="0">
              <a:buNone/>
            </a:pPr>
            <a:r>
              <a:rPr lang="en-US" sz="1000" dirty="0">
                <a:solidFill>
                  <a:srgbClr val="666666"/>
                </a:solidFill>
                <a:latin typeface="Calibri" pitchFamily="34" charset="0"/>
                <a:ea typeface="Calibri" pitchFamily="34" charset="-122"/>
                <a:cs typeface="Calibri" pitchFamily="34" charset="-120"/>
              </a:rPr>
              <a:t>12</a:t>
            </a:r>
            <a:endParaRPr lang="en-US" sz="1000" dirty="0"/>
          </a:p>
        </p:txBody>
      </p:sp>
      <p:sp>
        <p:nvSpPr>
          <p:cNvPr id="4" name="Shape 2"/>
          <p:cNvSpPr/>
          <p:nvPr/>
        </p:nvSpPr>
        <p:spPr>
          <a:xfrm>
            <a:off x="320040" y="676656"/>
            <a:ext cx="8503920" cy="256032"/>
          </a:xfrm>
          <a:prstGeom prst="rect">
            <a:avLst/>
          </a:prstGeom>
          <a:solidFill>
            <a:srgbClr val="F5C300"/>
          </a:solidFill>
          <a:ln w="12700">
            <a:solidFill>
              <a:srgbClr val="F5C300"/>
            </a:solidFill>
            <a:prstDash val="solid"/>
          </a:ln>
        </p:spPr>
        <p:txBody>
          <a:bodyPr/>
          <a:lstStyle/>
          <a:p>
            <a:endParaRPr lang="en-IN"/>
          </a:p>
        </p:txBody>
      </p:sp>
      <p:sp>
        <p:nvSpPr>
          <p:cNvPr id="5" name="Text 3"/>
          <p:cNvSpPr/>
          <p:nvPr/>
        </p:nvSpPr>
        <p:spPr>
          <a:xfrm>
            <a:off x="320040" y="676656"/>
            <a:ext cx="8503920" cy="256032"/>
          </a:xfrm>
          <a:prstGeom prst="rect">
            <a:avLst/>
          </a:prstGeom>
          <a:noFill/>
          <a:ln/>
        </p:spPr>
        <p:txBody>
          <a:bodyPr wrap="square" rtlCol="0" anchor="ctr"/>
          <a:lstStyle/>
          <a:p>
            <a:pPr marL="0" indent="0" algn="ctr">
              <a:buNone/>
            </a:pPr>
            <a:r>
              <a:rPr lang="en-US" sz="1100" b="1" dirty="0">
                <a:solidFill>
                  <a:srgbClr val="000000"/>
                </a:solidFill>
                <a:latin typeface="Calibri" pitchFamily="34" charset="0"/>
                <a:ea typeface="Calibri" pitchFamily="34" charset="-122"/>
                <a:cs typeface="Calibri" pitchFamily="34" charset="-120"/>
              </a:rPr>
              <a:t>What We Found</a:t>
            </a:r>
            <a:endParaRPr lang="en-US" sz="1100" dirty="0"/>
          </a:p>
        </p:txBody>
      </p:sp>
      <p:sp>
        <p:nvSpPr>
          <p:cNvPr id="6" name="Text 4"/>
          <p:cNvSpPr/>
          <p:nvPr/>
        </p:nvSpPr>
        <p:spPr>
          <a:xfrm>
            <a:off x="411480" y="987552"/>
            <a:ext cx="8321040" cy="292608"/>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  Persona conditioning: +1.61 Persona Relevance over Baseline and Method 1 on 1–5 human rubric</a:t>
            </a:r>
            <a:endParaRPr lang="en-US" sz="1100" dirty="0"/>
          </a:p>
        </p:txBody>
      </p:sp>
      <p:sp>
        <p:nvSpPr>
          <p:cNvPr id="7" name="Text 5"/>
          <p:cNvSpPr/>
          <p:nvPr/>
        </p:nvSpPr>
        <p:spPr>
          <a:xfrm>
            <a:off x="411480" y="1335024"/>
            <a:ext cx="8321040" cy="292608"/>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  BERTScore F1 is a better discriminator than ROUGE-L for abstractive summarization quality</a:t>
            </a:r>
            <a:endParaRPr lang="en-US" sz="1100" dirty="0"/>
          </a:p>
        </p:txBody>
      </p:sp>
      <p:sp>
        <p:nvSpPr>
          <p:cNvPr id="8" name="Text 6"/>
          <p:cNvSpPr/>
          <p:nvPr/>
        </p:nvSpPr>
        <p:spPr>
          <a:xfrm>
            <a:off x="411480" y="1682496"/>
            <a:ext cx="8321040" cy="292608"/>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  Two-step extraction from raw transcript is critical — filtering compressed summary collapses personas</a:t>
            </a:r>
            <a:endParaRPr lang="en-US" sz="1100" dirty="0"/>
          </a:p>
        </p:txBody>
      </p:sp>
      <p:sp>
        <p:nvSpPr>
          <p:cNvPr id="9" name="Text 7"/>
          <p:cNvSpPr/>
          <p:nvPr/>
        </p:nvSpPr>
        <p:spPr>
          <a:xfrm>
            <a:off x="411480" y="2029968"/>
            <a:ext cx="8321040" cy="292608"/>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  DistilBART best ROUGE + BERTScore; Flan-T5 most prompt-controllable; PEGASUS too brief for meetings</a:t>
            </a:r>
            <a:endParaRPr lang="en-US" sz="1100" dirty="0"/>
          </a:p>
        </p:txBody>
      </p:sp>
      <p:sp>
        <p:nvSpPr>
          <p:cNvPr id="10" name="Text 8"/>
          <p:cNvSpPr/>
          <p:nvPr/>
        </p:nvSpPr>
        <p:spPr>
          <a:xfrm>
            <a:off x="411480" y="2377440"/>
            <a:ext cx="8321040" cy="292608"/>
          </a:xfrm>
          <a:prstGeom prst="rect">
            <a:avLst/>
          </a:prstGeom>
          <a:noFill/>
          <a:ln/>
        </p:spPr>
        <p:txBody>
          <a:bodyPr wrap="square" rtlCol="0" anchor="ctr"/>
          <a:lstStyle/>
          <a:p>
            <a:pPr marL="0" indent="0">
              <a:buNone/>
            </a:pPr>
            <a:r>
              <a:rPr lang="en-US" sz="1100" dirty="0">
                <a:solidFill>
                  <a:srgbClr val="B8860B"/>
                </a:solidFill>
                <a:latin typeface="Calibri" pitchFamily="34" charset="0"/>
                <a:ea typeface="Calibri" pitchFamily="34" charset="-122"/>
                <a:cs typeface="Calibri" pitchFamily="34" charset="-120"/>
              </a:rPr>
              <a:t>~  ROUGE paradox: Baseline wins ROUGE-1/L despite producing fragmented, incoherent text</a:t>
            </a:r>
            <a:endParaRPr lang="en-US" sz="1100" dirty="0"/>
          </a:p>
        </p:txBody>
      </p:sp>
      <p:sp>
        <p:nvSpPr>
          <p:cNvPr id="11" name="Shape 9"/>
          <p:cNvSpPr/>
          <p:nvPr/>
        </p:nvSpPr>
        <p:spPr>
          <a:xfrm>
            <a:off x="320040" y="2779776"/>
            <a:ext cx="4114800" cy="237744"/>
          </a:xfrm>
          <a:prstGeom prst="rect">
            <a:avLst/>
          </a:prstGeom>
          <a:solidFill>
            <a:srgbClr val="F5C300"/>
          </a:solidFill>
          <a:ln w="12700">
            <a:solidFill>
              <a:srgbClr val="F5C300"/>
            </a:solidFill>
            <a:prstDash val="solid"/>
          </a:ln>
        </p:spPr>
        <p:txBody>
          <a:bodyPr/>
          <a:lstStyle/>
          <a:p>
            <a:endParaRPr lang="en-IN"/>
          </a:p>
        </p:txBody>
      </p:sp>
      <p:sp>
        <p:nvSpPr>
          <p:cNvPr id="12" name="Text 10"/>
          <p:cNvSpPr/>
          <p:nvPr/>
        </p:nvSpPr>
        <p:spPr>
          <a:xfrm>
            <a:off x="320040" y="2779776"/>
            <a:ext cx="4114800" cy="237744"/>
          </a:xfrm>
          <a:prstGeom prst="rect">
            <a:avLst/>
          </a:prstGeom>
          <a:noFill/>
          <a:ln/>
        </p:spPr>
        <p:txBody>
          <a:bodyPr wrap="square" rtlCol="0" anchor="ctr"/>
          <a:lstStyle/>
          <a:p>
            <a:pPr marL="0" indent="0" algn="ctr">
              <a:buNone/>
            </a:pPr>
            <a:r>
              <a:rPr lang="en-US" sz="1000" b="1" dirty="0">
                <a:solidFill>
                  <a:srgbClr val="000000"/>
                </a:solidFill>
                <a:latin typeface="Calibri" pitchFamily="34" charset="0"/>
                <a:ea typeface="Calibri" pitchFamily="34" charset="-122"/>
                <a:cs typeface="Calibri" pitchFamily="34" charset="-120"/>
              </a:rPr>
              <a:t>Limitations</a:t>
            </a:r>
            <a:endParaRPr lang="en-US" sz="1000" dirty="0"/>
          </a:p>
        </p:txBody>
      </p:sp>
      <p:sp>
        <p:nvSpPr>
          <p:cNvPr id="13" name="Text 11"/>
          <p:cNvSpPr/>
          <p:nvPr/>
        </p:nvSpPr>
        <p:spPr>
          <a:xfrm>
            <a:off x="411480" y="3054096"/>
            <a:ext cx="3840480" cy="237744"/>
          </a:xfrm>
          <a:prstGeom prst="rect">
            <a:avLst/>
          </a:prstGeom>
          <a:noFill/>
          <a:ln/>
        </p:spPr>
        <p:txBody>
          <a:bodyPr wrap="square" rtlCol="0" anchor="ctr"/>
          <a:lstStyle/>
          <a:p>
            <a:pPr marL="0" indent="0">
              <a:buNone/>
            </a:pPr>
            <a:r>
              <a:rPr lang="en-US" sz="1050" dirty="0">
                <a:solidFill>
                  <a:srgbClr val="666666"/>
                </a:solidFill>
                <a:latin typeface="Calibri" pitchFamily="34" charset="0"/>
                <a:ea typeface="Calibri" pitchFamily="34" charset="-122"/>
                <a:cs typeface="Calibri" pitchFamily="34" charset="-120"/>
              </a:rPr>
              <a:t>• Reference summaries constructed for this study (not AMI gold)</a:t>
            </a:r>
            <a:endParaRPr lang="en-US" sz="1050" dirty="0"/>
          </a:p>
        </p:txBody>
      </p:sp>
      <p:sp>
        <p:nvSpPr>
          <p:cNvPr id="14" name="Text 12"/>
          <p:cNvSpPr/>
          <p:nvPr/>
        </p:nvSpPr>
        <p:spPr>
          <a:xfrm>
            <a:off x="411480" y="3319272"/>
            <a:ext cx="3840480" cy="237744"/>
          </a:xfrm>
          <a:prstGeom prst="rect">
            <a:avLst/>
          </a:prstGeom>
          <a:noFill/>
          <a:ln/>
        </p:spPr>
        <p:txBody>
          <a:bodyPr wrap="square" rtlCol="0" anchor="ctr"/>
          <a:lstStyle/>
          <a:p>
            <a:pPr marL="0" indent="0">
              <a:buNone/>
            </a:pPr>
            <a:r>
              <a:rPr lang="en-US" sz="1050" dirty="0">
                <a:solidFill>
                  <a:srgbClr val="666666"/>
                </a:solidFill>
                <a:latin typeface="Calibri" pitchFamily="34" charset="0"/>
                <a:ea typeface="Calibri" pitchFamily="34" charset="-122"/>
                <a:cs typeface="Calibri" pitchFamily="34" charset="-120"/>
              </a:rPr>
              <a:t>• Human rubric used simulated inter-rater agreement</a:t>
            </a:r>
            <a:endParaRPr lang="en-US" sz="1050" dirty="0"/>
          </a:p>
        </p:txBody>
      </p:sp>
      <p:sp>
        <p:nvSpPr>
          <p:cNvPr id="15" name="Text 13"/>
          <p:cNvSpPr/>
          <p:nvPr/>
        </p:nvSpPr>
        <p:spPr>
          <a:xfrm>
            <a:off x="411480" y="3584448"/>
            <a:ext cx="3840480" cy="237744"/>
          </a:xfrm>
          <a:prstGeom prst="rect">
            <a:avLst/>
          </a:prstGeom>
          <a:noFill/>
          <a:ln/>
        </p:spPr>
        <p:txBody>
          <a:bodyPr wrap="square" rtlCol="0" anchor="ctr"/>
          <a:lstStyle/>
          <a:p>
            <a:pPr marL="0" indent="0">
              <a:buNone/>
            </a:pPr>
            <a:r>
              <a:rPr lang="en-US" sz="1050" dirty="0">
                <a:solidFill>
                  <a:srgbClr val="666666"/>
                </a:solidFill>
                <a:latin typeface="Calibri" pitchFamily="34" charset="0"/>
                <a:ea typeface="Calibri" pitchFamily="34" charset="-122"/>
                <a:cs typeface="Calibri" pitchFamily="34" charset="-120"/>
              </a:rPr>
              <a:t>• Small models (max 2.3 GB) — larger LLMs may be more controllable</a:t>
            </a:r>
            <a:endParaRPr lang="en-US" sz="1050" dirty="0"/>
          </a:p>
        </p:txBody>
      </p:sp>
      <p:sp>
        <p:nvSpPr>
          <p:cNvPr id="16" name="Text 14"/>
          <p:cNvSpPr/>
          <p:nvPr/>
        </p:nvSpPr>
        <p:spPr>
          <a:xfrm>
            <a:off x="411480" y="3849624"/>
            <a:ext cx="3840480" cy="237744"/>
          </a:xfrm>
          <a:prstGeom prst="rect">
            <a:avLst/>
          </a:prstGeom>
          <a:noFill/>
          <a:ln/>
        </p:spPr>
        <p:txBody>
          <a:bodyPr wrap="square" rtlCol="0" anchor="ctr"/>
          <a:lstStyle/>
          <a:p>
            <a:pPr marL="0" indent="0">
              <a:buNone/>
            </a:pPr>
            <a:r>
              <a:rPr lang="en-US" sz="1050" dirty="0">
                <a:solidFill>
                  <a:srgbClr val="666666"/>
                </a:solidFill>
                <a:latin typeface="Calibri" pitchFamily="34" charset="0"/>
                <a:ea typeface="Calibri" pitchFamily="34" charset="-122"/>
                <a:cs typeface="Calibri" pitchFamily="34" charset="-120"/>
              </a:rPr>
              <a:t>• CPU-only — limited ability to test fine-tuned models</a:t>
            </a:r>
            <a:endParaRPr lang="en-US" sz="1050" dirty="0"/>
          </a:p>
        </p:txBody>
      </p:sp>
      <p:sp>
        <p:nvSpPr>
          <p:cNvPr id="17" name="Shape 15"/>
          <p:cNvSpPr/>
          <p:nvPr/>
        </p:nvSpPr>
        <p:spPr>
          <a:xfrm>
            <a:off x="4709160" y="2779776"/>
            <a:ext cx="4114800" cy="237744"/>
          </a:xfrm>
          <a:prstGeom prst="rect">
            <a:avLst/>
          </a:prstGeom>
          <a:solidFill>
            <a:srgbClr val="F5C300"/>
          </a:solidFill>
          <a:ln w="12700">
            <a:solidFill>
              <a:srgbClr val="F5C300"/>
            </a:solidFill>
            <a:prstDash val="solid"/>
          </a:ln>
        </p:spPr>
        <p:txBody>
          <a:bodyPr/>
          <a:lstStyle/>
          <a:p>
            <a:endParaRPr lang="en-IN"/>
          </a:p>
        </p:txBody>
      </p:sp>
      <p:sp>
        <p:nvSpPr>
          <p:cNvPr id="18" name="Text 16"/>
          <p:cNvSpPr/>
          <p:nvPr/>
        </p:nvSpPr>
        <p:spPr>
          <a:xfrm>
            <a:off x="4709160" y="2779776"/>
            <a:ext cx="4114800" cy="237744"/>
          </a:xfrm>
          <a:prstGeom prst="rect">
            <a:avLst/>
          </a:prstGeom>
          <a:noFill/>
          <a:ln/>
        </p:spPr>
        <p:txBody>
          <a:bodyPr wrap="square" rtlCol="0" anchor="ctr"/>
          <a:lstStyle/>
          <a:p>
            <a:pPr marL="0" indent="0" algn="ctr">
              <a:buNone/>
            </a:pPr>
            <a:r>
              <a:rPr lang="en-US" sz="1000" b="1" dirty="0">
                <a:solidFill>
                  <a:srgbClr val="000000"/>
                </a:solidFill>
                <a:latin typeface="Calibri" pitchFamily="34" charset="0"/>
                <a:ea typeface="Calibri" pitchFamily="34" charset="-122"/>
                <a:cs typeface="Calibri" pitchFamily="34" charset="-120"/>
              </a:rPr>
              <a:t>Future Work</a:t>
            </a:r>
            <a:endParaRPr lang="en-US" sz="1000" dirty="0"/>
          </a:p>
        </p:txBody>
      </p:sp>
      <p:sp>
        <p:nvSpPr>
          <p:cNvPr id="19" name="Text 17"/>
          <p:cNvSpPr/>
          <p:nvPr/>
        </p:nvSpPr>
        <p:spPr>
          <a:xfrm>
            <a:off x="4800600" y="3054096"/>
            <a:ext cx="3840480" cy="237744"/>
          </a:xfrm>
          <a:prstGeom prst="rect">
            <a:avLst/>
          </a:prstGeom>
          <a:noFill/>
          <a:ln/>
        </p:spPr>
        <p:txBody>
          <a:bodyPr wrap="square" rtlCol="0" anchor="ctr"/>
          <a:lstStyle/>
          <a:p>
            <a:pPr marL="0" indent="0">
              <a:buNone/>
            </a:pPr>
            <a:r>
              <a:rPr lang="en-US" sz="1050" dirty="0">
                <a:solidFill>
                  <a:srgbClr val="1F5C99"/>
                </a:solidFill>
                <a:latin typeface="Calibri" pitchFamily="34" charset="0"/>
                <a:ea typeface="Calibri" pitchFamily="34" charset="-122"/>
                <a:cs typeface="Calibri" pitchFamily="34" charset="-120"/>
              </a:rPr>
              <a:t>→ Fine-tune on AMI gold abstractive summaries per persona</a:t>
            </a:r>
            <a:endParaRPr lang="en-US" sz="1050" dirty="0"/>
          </a:p>
        </p:txBody>
      </p:sp>
      <p:sp>
        <p:nvSpPr>
          <p:cNvPr id="20" name="Text 18"/>
          <p:cNvSpPr/>
          <p:nvPr/>
        </p:nvSpPr>
        <p:spPr>
          <a:xfrm>
            <a:off x="4800600" y="3319272"/>
            <a:ext cx="3840480" cy="237744"/>
          </a:xfrm>
          <a:prstGeom prst="rect">
            <a:avLst/>
          </a:prstGeom>
          <a:noFill/>
          <a:ln/>
        </p:spPr>
        <p:txBody>
          <a:bodyPr wrap="square" rtlCol="0" anchor="ctr"/>
          <a:lstStyle/>
          <a:p>
            <a:pPr marL="0" indent="0">
              <a:buNone/>
            </a:pPr>
            <a:r>
              <a:rPr lang="en-US" sz="1050" dirty="0">
                <a:solidFill>
                  <a:srgbClr val="1F5C99"/>
                </a:solidFill>
                <a:latin typeface="Calibri" pitchFamily="34" charset="0"/>
                <a:ea typeface="Calibri" pitchFamily="34" charset="-122"/>
                <a:cs typeface="Calibri" pitchFamily="34" charset="-120"/>
              </a:rPr>
              <a:t>→ Evaluate LLaMA-3 / Mistral-7B for persona prompting</a:t>
            </a:r>
            <a:endParaRPr lang="en-US" sz="1050" dirty="0"/>
          </a:p>
        </p:txBody>
      </p:sp>
      <p:sp>
        <p:nvSpPr>
          <p:cNvPr id="21" name="Text 19"/>
          <p:cNvSpPr/>
          <p:nvPr/>
        </p:nvSpPr>
        <p:spPr>
          <a:xfrm>
            <a:off x="4800600" y="3584448"/>
            <a:ext cx="3840480" cy="237744"/>
          </a:xfrm>
          <a:prstGeom prst="rect">
            <a:avLst/>
          </a:prstGeom>
          <a:noFill/>
          <a:ln/>
        </p:spPr>
        <p:txBody>
          <a:bodyPr wrap="square" rtlCol="0" anchor="ctr"/>
          <a:lstStyle/>
          <a:p>
            <a:pPr marL="0" indent="0">
              <a:buNone/>
            </a:pPr>
            <a:r>
              <a:rPr lang="en-US" sz="1050" dirty="0">
                <a:solidFill>
                  <a:srgbClr val="1F5C99"/>
                </a:solidFill>
                <a:latin typeface="Calibri" pitchFamily="34" charset="0"/>
                <a:ea typeface="Calibri" pitchFamily="34" charset="-122"/>
                <a:cs typeface="Calibri" pitchFamily="34" charset="-120"/>
              </a:rPr>
              <a:t>→ Multi-session meeting chains across time</a:t>
            </a:r>
            <a:endParaRPr lang="en-US" sz="1050" dirty="0"/>
          </a:p>
        </p:txBody>
      </p:sp>
      <p:sp>
        <p:nvSpPr>
          <p:cNvPr id="22" name="Text 20"/>
          <p:cNvSpPr/>
          <p:nvPr/>
        </p:nvSpPr>
        <p:spPr>
          <a:xfrm>
            <a:off x="4800600" y="3849624"/>
            <a:ext cx="3840480" cy="237744"/>
          </a:xfrm>
          <a:prstGeom prst="rect">
            <a:avLst/>
          </a:prstGeom>
          <a:noFill/>
          <a:ln/>
        </p:spPr>
        <p:txBody>
          <a:bodyPr wrap="square" rtlCol="0" anchor="ctr"/>
          <a:lstStyle/>
          <a:p>
            <a:pPr marL="0" indent="0">
              <a:buNone/>
            </a:pPr>
            <a:r>
              <a:rPr lang="en-US" sz="1050" dirty="0">
                <a:solidFill>
                  <a:srgbClr val="1F5C99"/>
                </a:solidFill>
                <a:latin typeface="Calibri" pitchFamily="34" charset="0"/>
                <a:ea typeface="Calibri" pitchFamily="34" charset="-122"/>
                <a:cs typeface="Calibri" pitchFamily="34" charset="-120"/>
              </a:rPr>
              <a:t>→ Real crowdsourced human evaluation (MTurk / Prolific)</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C300"/>
        </a:solidFill>
        <a:effectLst/>
      </p:bgPr>
    </p:bg>
    <p:spTree>
      <p:nvGrpSpPr>
        <p:cNvPr id="1" name=""/>
        <p:cNvGrpSpPr/>
        <p:nvPr/>
      </p:nvGrpSpPr>
      <p:grpSpPr>
        <a:xfrm>
          <a:off x="0" y="0"/>
          <a:ext cx="0" cy="0"/>
          <a:chOff x="0" y="0"/>
          <a:chExt cx="0" cy="0"/>
        </a:xfrm>
      </p:grpSpPr>
      <p:sp>
        <p:nvSpPr>
          <p:cNvPr id="2" name="Text 0"/>
          <p:cNvSpPr/>
          <p:nvPr/>
        </p:nvSpPr>
        <p:spPr>
          <a:xfrm>
            <a:off x="457200" y="1280160"/>
            <a:ext cx="8229600" cy="822960"/>
          </a:xfrm>
          <a:prstGeom prst="rect">
            <a:avLst/>
          </a:prstGeom>
          <a:noFill/>
          <a:ln/>
        </p:spPr>
        <p:txBody>
          <a:bodyPr wrap="square" rtlCol="0" anchor="ctr"/>
          <a:lstStyle/>
          <a:p>
            <a:pPr marL="0" indent="0" algn="ctr">
              <a:buNone/>
            </a:pPr>
            <a:r>
              <a:rPr lang="en-US" sz="4400" b="1" dirty="0">
                <a:solidFill>
                  <a:srgbClr val="000000"/>
                </a:solidFill>
                <a:latin typeface="Calibri" pitchFamily="34" charset="0"/>
                <a:ea typeface="Calibri" pitchFamily="34" charset="-122"/>
                <a:cs typeface="Calibri" pitchFamily="34" charset="-120"/>
              </a:rPr>
              <a:t>Thank You</a:t>
            </a:r>
            <a:endParaRPr lang="en-US" sz="4400" dirty="0"/>
          </a:p>
        </p:txBody>
      </p:sp>
      <p:sp>
        <p:nvSpPr>
          <p:cNvPr id="3" name="Text 1"/>
          <p:cNvSpPr/>
          <p:nvPr/>
        </p:nvSpPr>
        <p:spPr>
          <a:xfrm>
            <a:off x="457200" y="2176272"/>
            <a:ext cx="8229600" cy="45720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Questions &amp; Discussion</a:t>
            </a:r>
            <a:endParaRPr lang="en-US" sz="2400" dirty="0"/>
          </a:p>
        </p:txBody>
      </p:sp>
      <p:sp>
        <p:nvSpPr>
          <p:cNvPr id="4" name="Shape 2"/>
          <p:cNvSpPr/>
          <p:nvPr/>
        </p:nvSpPr>
        <p:spPr>
          <a:xfrm>
            <a:off x="2377440" y="2761488"/>
            <a:ext cx="4389120" cy="36576"/>
          </a:xfrm>
          <a:prstGeom prst="rect">
            <a:avLst/>
          </a:prstGeom>
          <a:solidFill>
            <a:srgbClr val="000000"/>
          </a:solidFill>
          <a:ln/>
        </p:spPr>
        <p:txBody>
          <a:bodyPr/>
          <a:lstStyle/>
          <a:p>
            <a:endParaRPr lang="en-IN"/>
          </a:p>
        </p:txBody>
      </p:sp>
      <p:sp>
        <p:nvSpPr>
          <p:cNvPr id="5" name="Text 3"/>
          <p:cNvSpPr/>
          <p:nvPr/>
        </p:nvSpPr>
        <p:spPr>
          <a:xfrm>
            <a:off x="1097280" y="2907792"/>
            <a:ext cx="6949440" cy="310896"/>
          </a:xfrm>
          <a:prstGeom prst="rect">
            <a:avLst/>
          </a:prstGeom>
          <a:noFill/>
          <a:ln/>
        </p:spPr>
        <p:txBody>
          <a:bodyPr wrap="square" rtlCol="0" anchor="ctr"/>
          <a:lstStyle/>
          <a:p>
            <a:pPr marL="0" indent="0" algn="ctr">
              <a:buNone/>
            </a:pPr>
            <a:r>
              <a:rPr lang="en-US" sz="1200" b="1" dirty="0">
                <a:solidFill>
                  <a:srgbClr val="000000"/>
                </a:solidFill>
                <a:latin typeface="Calibri" pitchFamily="34" charset="0"/>
                <a:ea typeface="Calibri" pitchFamily="34" charset="-122"/>
                <a:cs typeface="Calibri" pitchFamily="34" charset="-120"/>
              </a:rPr>
              <a:t>Dataset: </a:t>
            </a:r>
            <a:r>
              <a:rPr lang="en-US" sz="1200" dirty="0">
                <a:solidFill>
                  <a:srgbClr val="000000"/>
                </a:solidFill>
                <a:latin typeface="Calibri" pitchFamily="34" charset="0"/>
                <a:ea typeface="Calibri" pitchFamily="34" charset="-122"/>
                <a:cs typeface="Calibri" pitchFamily="34" charset="-120"/>
              </a:rPr>
              <a:t>15 AMI meetings · ES2002, IS1003, IS1006, TS3003 series</a:t>
            </a:r>
            <a:endParaRPr lang="en-US" sz="1200" dirty="0"/>
          </a:p>
        </p:txBody>
      </p:sp>
      <p:sp>
        <p:nvSpPr>
          <p:cNvPr id="6" name="Text 4"/>
          <p:cNvSpPr/>
          <p:nvPr/>
        </p:nvSpPr>
        <p:spPr>
          <a:xfrm>
            <a:off x="1097280" y="3255264"/>
            <a:ext cx="6949440" cy="310896"/>
          </a:xfrm>
          <a:prstGeom prst="rect">
            <a:avLst/>
          </a:prstGeom>
          <a:noFill/>
          <a:ln/>
        </p:spPr>
        <p:txBody>
          <a:bodyPr wrap="square" rtlCol="0" anchor="ctr"/>
          <a:lstStyle/>
          <a:p>
            <a:pPr marL="0" indent="0" algn="ctr">
              <a:buNone/>
            </a:pPr>
            <a:r>
              <a:rPr lang="en-US" sz="1200" b="1" dirty="0">
                <a:solidFill>
                  <a:srgbClr val="000000"/>
                </a:solidFill>
                <a:latin typeface="Calibri" pitchFamily="34" charset="0"/>
                <a:ea typeface="Calibri" pitchFamily="34" charset="-122"/>
                <a:cs typeface="Calibri" pitchFamily="34" charset="-120"/>
              </a:rPr>
              <a:t>3 Models: </a:t>
            </a:r>
            <a:r>
              <a:rPr lang="en-US" sz="1200" dirty="0">
                <a:solidFill>
                  <a:srgbClr val="000000"/>
                </a:solidFill>
                <a:latin typeface="Calibri" pitchFamily="34" charset="0"/>
                <a:ea typeface="Calibri" pitchFamily="34" charset="-122"/>
                <a:cs typeface="Calibri" pitchFamily="34" charset="-120"/>
              </a:rPr>
              <a:t>Flan-T5-base · DistilBART-CNN · PEGASUS-XSum</a:t>
            </a:r>
            <a:endParaRPr lang="en-US" sz="1200" dirty="0"/>
          </a:p>
        </p:txBody>
      </p:sp>
      <p:sp>
        <p:nvSpPr>
          <p:cNvPr id="7" name="Text 5"/>
          <p:cNvSpPr/>
          <p:nvPr/>
        </p:nvSpPr>
        <p:spPr>
          <a:xfrm>
            <a:off x="1097280" y="3602736"/>
            <a:ext cx="6949440" cy="310896"/>
          </a:xfrm>
          <a:prstGeom prst="rect">
            <a:avLst/>
          </a:prstGeom>
          <a:noFill/>
          <a:ln/>
        </p:spPr>
        <p:txBody>
          <a:bodyPr wrap="square" rtlCol="0" anchor="ctr"/>
          <a:lstStyle/>
          <a:p>
            <a:pPr marL="0" indent="0" algn="ctr">
              <a:buNone/>
            </a:pPr>
            <a:r>
              <a:rPr lang="en-US" sz="1200" b="1" dirty="0">
                <a:solidFill>
                  <a:srgbClr val="000000"/>
                </a:solidFill>
                <a:latin typeface="Calibri" pitchFamily="34" charset="0"/>
                <a:ea typeface="Calibri" pitchFamily="34" charset="-122"/>
                <a:cs typeface="Calibri" pitchFamily="34" charset="-120"/>
              </a:rPr>
              <a:t>3 Methods: </a:t>
            </a:r>
            <a:r>
              <a:rPr lang="en-US" sz="1200" dirty="0">
                <a:solidFill>
                  <a:srgbClr val="000000"/>
                </a:solidFill>
                <a:latin typeface="Calibri" pitchFamily="34" charset="0"/>
                <a:ea typeface="Calibri" pitchFamily="34" charset="-122"/>
                <a:cs typeface="Calibri" pitchFamily="34" charset="-120"/>
              </a:rPr>
              <a:t>Baseline · Recursive Memory · Persona-Conditioned (Novel)</a:t>
            </a:r>
            <a:endParaRPr lang="en-US" sz="1200" dirty="0"/>
          </a:p>
        </p:txBody>
      </p:sp>
      <p:sp>
        <p:nvSpPr>
          <p:cNvPr id="8" name="Text 6"/>
          <p:cNvSpPr/>
          <p:nvPr/>
        </p:nvSpPr>
        <p:spPr>
          <a:xfrm>
            <a:off x="1097280" y="3950208"/>
            <a:ext cx="6949440" cy="310896"/>
          </a:xfrm>
          <a:prstGeom prst="rect">
            <a:avLst/>
          </a:prstGeom>
          <a:noFill/>
          <a:ln/>
        </p:spPr>
        <p:txBody>
          <a:bodyPr wrap="square" rtlCol="0" anchor="ctr"/>
          <a:lstStyle/>
          <a:p>
            <a:pPr marL="0" indent="0" algn="ctr">
              <a:buNone/>
            </a:pPr>
            <a:r>
              <a:rPr lang="en-US" sz="1200" b="1" dirty="0">
                <a:solidFill>
                  <a:srgbClr val="000000"/>
                </a:solidFill>
                <a:latin typeface="Calibri" pitchFamily="34" charset="0"/>
                <a:ea typeface="Calibri" pitchFamily="34" charset="-122"/>
                <a:cs typeface="Calibri" pitchFamily="34" charset="-120"/>
              </a:rPr>
              <a:t>Best Result: </a:t>
            </a:r>
            <a:r>
              <a:rPr lang="en-US" sz="1200" dirty="0">
                <a:solidFill>
                  <a:srgbClr val="000000"/>
                </a:solidFill>
                <a:latin typeface="Calibri" pitchFamily="34" charset="0"/>
                <a:ea typeface="Calibri" pitchFamily="34" charset="-122"/>
                <a:cs typeface="Calibri" pitchFamily="34" charset="-120"/>
              </a:rPr>
              <a:t>Method 2 Persona Relevance: 4.41/5  (+1.61 vs Baseline)</a:t>
            </a:r>
            <a:endParaRPr lang="en-US" sz="1200" dirty="0"/>
          </a:p>
        </p:txBody>
      </p:sp>
      <p:sp>
        <p:nvSpPr>
          <p:cNvPr id="9" name="Text 7"/>
          <p:cNvSpPr/>
          <p:nvPr/>
        </p:nvSpPr>
        <p:spPr>
          <a:xfrm>
            <a:off x="1097280" y="4297680"/>
            <a:ext cx="6949440" cy="310896"/>
          </a:xfrm>
          <a:prstGeom prst="rect">
            <a:avLst/>
          </a:prstGeom>
          <a:noFill/>
          <a:ln/>
        </p:spPr>
        <p:txBody>
          <a:bodyPr wrap="square" rtlCol="0" anchor="ctr"/>
          <a:lstStyle/>
          <a:p>
            <a:pPr marL="0" indent="0" algn="ctr">
              <a:buNone/>
            </a:pPr>
            <a:r>
              <a:rPr lang="en-US" sz="1200" b="1" dirty="0">
                <a:solidFill>
                  <a:srgbClr val="000000"/>
                </a:solidFill>
                <a:latin typeface="Calibri" pitchFamily="34" charset="0"/>
                <a:ea typeface="Calibri" pitchFamily="34" charset="-122"/>
                <a:cs typeface="Calibri" pitchFamily="34" charset="-120"/>
              </a:rPr>
              <a:t>Key Insight: </a:t>
            </a:r>
            <a:r>
              <a:rPr lang="en-US" sz="1200" dirty="0">
                <a:solidFill>
                  <a:srgbClr val="000000"/>
                </a:solidFill>
                <a:latin typeface="Calibri" pitchFamily="34" charset="0"/>
                <a:ea typeface="Calibri" pitchFamily="34" charset="-122"/>
                <a:cs typeface="Calibri" pitchFamily="34" charset="-120"/>
              </a:rPr>
              <a:t>ROUGE underfits quality — BERTScore + human rubric are essential</a:t>
            </a:r>
            <a:endParaRPr lang="en-US" sz="1200" dirty="0"/>
          </a:p>
        </p:txBody>
      </p:sp>
      <p:sp>
        <p:nvSpPr>
          <p:cNvPr id="10" name="Text 8"/>
          <p:cNvSpPr/>
          <p:nvPr/>
        </p:nvSpPr>
        <p:spPr>
          <a:xfrm>
            <a:off x="137160" y="4864608"/>
            <a:ext cx="320040" cy="182880"/>
          </a:xfrm>
          <a:prstGeom prst="rect">
            <a:avLst/>
          </a:prstGeom>
          <a:noFill/>
          <a:ln/>
        </p:spPr>
        <p:txBody>
          <a:bodyPr wrap="square" rtlCol="0" anchor="ctr"/>
          <a:lstStyle/>
          <a:p>
            <a:pPr marL="0" indent="0">
              <a:buNone/>
            </a:pPr>
            <a:r>
              <a:rPr lang="en-US" sz="1000" dirty="0">
                <a:solidFill>
                  <a:srgbClr val="666666"/>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1941</Words>
  <Application>Microsoft Office PowerPoint</Application>
  <PresentationFormat>On-screen Show (16:9)</PresentationFormat>
  <Paragraphs>275</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Sri Teja Muthangi</dc:creator>
  <cp:lastModifiedBy>MUTHANGI SRI TEJA</cp:lastModifiedBy>
  <cp:revision>2</cp:revision>
  <dcterms:created xsi:type="dcterms:W3CDTF">2026-05-10T01:32:20Z</dcterms:created>
  <dcterms:modified xsi:type="dcterms:W3CDTF">2026-05-10T01:48:24Z</dcterms:modified>
</cp:coreProperties>
</file>